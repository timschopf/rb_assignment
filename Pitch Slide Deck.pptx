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70" r:id="rId5"/>
    <p:sldId id="256" r:id="rId6"/>
    <p:sldId id="278" r:id="rId7"/>
    <p:sldId id="314" r:id="rId8"/>
    <p:sldId id="316" r:id="rId9"/>
    <p:sldId id="317" r:id="rId10"/>
    <p:sldId id="318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5E8114D-1534-460D-BACB-01425C040C09}">
          <p14:sldIdLst>
            <p14:sldId id="270"/>
          </p14:sldIdLst>
        </p14:section>
        <p14:section name="Problem" id="{B3722385-FBB2-468F-965A-7B63E17B98FE}">
          <p14:sldIdLst>
            <p14:sldId id="256"/>
            <p14:sldId id="278"/>
          </p14:sldIdLst>
        </p14:section>
        <p14:section name="Solution" id="{6F810BF0-EDC2-41F7-95E5-BBAB83EAF059}">
          <p14:sldIdLst>
            <p14:sldId id="314"/>
            <p14:sldId id="316"/>
            <p14:sldId id="317"/>
            <p14:sldId id="318"/>
          </p14:sldIdLst>
        </p14:section>
        <p14:section name="Market" id="{C48C19BF-9578-4868-9537-E16713293419}">
          <p14:sldIdLst/>
        </p14:section>
        <p14:section name="Data" id="{A6AA84DB-BB6C-4422-AD76-071ED167E871}">
          <p14:sldIdLst/>
        </p14:section>
        <p14:section name="Team" id="{6B5E1466-F08A-478B-99C7-9FF5F0CE64D6}">
          <p14:sldIdLst/>
        </p14:section>
        <p14:section name="Plan" id="{6D3F5E76-E530-496F-B9CA-420499884FC3}">
          <p14:sldIdLst/>
        </p14:section>
        <p14:section name="Icons" id="{D384BBCD-9DDB-42FE-9637-D10B70F87CE1}">
          <p14:sldIdLst/>
        </p14:section>
        <p14:section name="Colors" id="{9CCC1D76-F96D-4946-9BAC-43758E17D942}">
          <p14:sldIdLst/>
        </p14:section>
        <p14:section name="Extra Slides" id="{B66D28B3-FC7A-459D-9A0A-07F7429E300F}">
          <p14:sldIdLst/>
        </p14:section>
        <p14:section name="Thank you :)" id="{9711DD4E-2C7C-4731-884F-6603BC75517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71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rome BESTEL" initials="JB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B1B"/>
    <a:srgbClr val="FE1359"/>
    <a:srgbClr val="F7F7F7"/>
    <a:srgbClr val="FAF8F9"/>
    <a:srgbClr val="F9E5D7"/>
    <a:srgbClr val="FAFAFA"/>
    <a:srgbClr val="2B2B2B"/>
    <a:srgbClr val="F05C6A"/>
    <a:srgbClr val="2A2A2A"/>
    <a:srgbClr val="4D2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94" autoAdjust="0"/>
    <p:restoredTop sz="94674" autoAdjust="0"/>
  </p:normalViewPr>
  <p:slideViewPr>
    <p:cSldViewPr snapToGrid="0">
      <p:cViewPr varScale="1">
        <p:scale>
          <a:sx n="124" d="100"/>
          <a:sy n="124" d="100"/>
        </p:scale>
        <p:origin x="352" y="168"/>
      </p:cViewPr>
      <p:guideLst>
        <p:guide orient="horz" pos="2137"/>
        <p:guide pos="3817"/>
        <p:guide pos="529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A8190-0A1A-E644-B72D-D027F6538E77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4E694-4681-CE4A-A8CF-155323877C39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117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4E694-4681-CE4A-A8CF-155323877C3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74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or.fr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10"/>
          <p:cNvSpPr/>
          <p:nvPr userDrawn="1"/>
        </p:nvSpPr>
        <p:spPr>
          <a:xfrm>
            <a:off x="9420352" y="4468648"/>
            <a:ext cx="2771648" cy="2389352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0" name="Isosceles Triangle 9"/>
          <p:cNvSpPr/>
          <p:nvPr userDrawn="1"/>
        </p:nvSpPr>
        <p:spPr>
          <a:xfrm>
            <a:off x="10188448" y="5130800"/>
            <a:ext cx="2003552" cy="17272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HelveticaNeue-UltraLight" panose="02000206000000020004" pitchFamily="50"/>
            </a:endParaRPr>
          </a:p>
        </p:txBody>
      </p:sp>
    </p:spTree>
    <p:extLst>
      <p:ext uri="{BB962C8B-B14F-4D97-AF65-F5344CB8AC3E}">
        <p14:creationId xmlns:p14="http://schemas.microsoft.com/office/powerpoint/2010/main" val="196996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hone6 Plus and Tex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>
            <a:spLocks/>
          </p:cNvSpPr>
          <p:nvPr/>
        </p:nvSpPr>
        <p:spPr bwMode="auto">
          <a:xfrm>
            <a:off x="10301108" y="2201802"/>
            <a:ext cx="49393" cy="554717"/>
          </a:xfrm>
          <a:custGeom>
            <a:avLst/>
            <a:gdLst>
              <a:gd name="T0" fmla="*/ 0 w 11"/>
              <a:gd name="T1" fmla="*/ 4 h 126"/>
              <a:gd name="T2" fmla="*/ 0 w 11"/>
              <a:gd name="T3" fmla="*/ 123 h 126"/>
              <a:gd name="T4" fmla="*/ 3 w 11"/>
              <a:gd name="T5" fmla="*/ 126 h 126"/>
              <a:gd name="T6" fmla="*/ 8 w 11"/>
              <a:gd name="T7" fmla="*/ 126 h 126"/>
              <a:gd name="T8" fmla="*/ 11 w 11"/>
              <a:gd name="T9" fmla="*/ 123 h 126"/>
              <a:gd name="T10" fmla="*/ 11 w 11"/>
              <a:gd name="T11" fmla="*/ 4 h 126"/>
              <a:gd name="T12" fmla="*/ 8 w 11"/>
              <a:gd name="T13" fmla="*/ 0 h 126"/>
              <a:gd name="T14" fmla="*/ 3 w 11"/>
              <a:gd name="T15" fmla="*/ 0 h 126"/>
              <a:gd name="T16" fmla="*/ 0 w 11"/>
              <a:gd name="T17" fmla="*/ 4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" h="126">
                <a:moveTo>
                  <a:pt x="0" y="4"/>
                </a:moveTo>
                <a:cubicBezTo>
                  <a:pt x="0" y="123"/>
                  <a:pt x="0" y="123"/>
                  <a:pt x="0" y="123"/>
                </a:cubicBezTo>
                <a:cubicBezTo>
                  <a:pt x="0" y="125"/>
                  <a:pt x="1" y="126"/>
                  <a:pt x="3" y="126"/>
                </a:cubicBezTo>
                <a:cubicBezTo>
                  <a:pt x="8" y="126"/>
                  <a:pt x="8" y="126"/>
                  <a:pt x="8" y="126"/>
                </a:cubicBezTo>
                <a:cubicBezTo>
                  <a:pt x="9" y="126"/>
                  <a:pt x="11" y="125"/>
                  <a:pt x="11" y="123"/>
                </a:cubicBezTo>
                <a:cubicBezTo>
                  <a:pt x="11" y="4"/>
                  <a:pt x="11" y="4"/>
                  <a:pt x="11" y="4"/>
                </a:cubicBezTo>
                <a:cubicBezTo>
                  <a:pt x="11" y="2"/>
                  <a:pt x="9" y="0"/>
                  <a:pt x="8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2"/>
                  <a:pt x="0" y="4"/>
                </a:cubicBezTo>
                <a:close/>
              </a:path>
            </a:pathLst>
          </a:custGeom>
          <a:solidFill>
            <a:srgbClr val="F9E5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0263114" y="7684386"/>
            <a:ext cx="53192" cy="136780"/>
          </a:xfrm>
          <a:prstGeom prst="rect">
            <a:avLst/>
          </a:prstGeom>
          <a:solidFill>
            <a:srgbClr val="BCBC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0263114" y="1111364"/>
            <a:ext cx="53192" cy="136780"/>
          </a:xfrm>
          <a:prstGeom prst="rect">
            <a:avLst/>
          </a:prstGeom>
          <a:solidFill>
            <a:srgbClr val="BCBC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6" name="Freeform 8"/>
          <p:cNvSpPr>
            <a:spLocks noEditPoints="1"/>
          </p:cNvSpPr>
          <p:nvPr/>
        </p:nvSpPr>
        <p:spPr bwMode="auto">
          <a:xfrm>
            <a:off x="6486474" y="549048"/>
            <a:ext cx="3829832" cy="7868629"/>
          </a:xfrm>
          <a:custGeom>
            <a:avLst/>
            <a:gdLst>
              <a:gd name="T0" fmla="*/ 738 w 868"/>
              <a:gd name="T1" fmla="*/ 0 h 1791"/>
              <a:gd name="T2" fmla="*/ 127 w 868"/>
              <a:gd name="T3" fmla="*/ 0 h 1791"/>
              <a:gd name="T4" fmla="*/ 0 w 868"/>
              <a:gd name="T5" fmla="*/ 128 h 1791"/>
              <a:gd name="T6" fmla="*/ 0 w 868"/>
              <a:gd name="T7" fmla="*/ 1664 h 1791"/>
              <a:gd name="T8" fmla="*/ 127 w 868"/>
              <a:gd name="T9" fmla="*/ 1791 h 1791"/>
              <a:gd name="T10" fmla="*/ 738 w 868"/>
              <a:gd name="T11" fmla="*/ 1791 h 1791"/>
              <a:gd name="T12" fmla="*/ 868 w 868"/>
              <a:gd name="T13" fmla="*/ 1664 h 1791"/>
              <a:gd name="T14" fmla="*/ 868 w 868"/>
              <a:gd name="T15" fmla="*/ 128 h 1791"/>
              <a:gd name="T16" fmla="*/ 738 w 868"/>
              <a:gd name="T17" fmla="*/ 0 h 1791"/>
              <a:gd name="T18" fmla="*/ 847 w 868"/>
              <a:gd name="T19" fmla="*/ 1654 h 1791"/>
              <a:gd name="T20" fmla="*/ 732 w 868"/>
              <a:gd name="T21" fmla="*/ 1769 h 1791"/>
              <a:gd name="T22" fmla="*/ 134 w 868"/>
              <a:gd name="T23" fmla="*/ 1769 h 1791"/>
              <a:gd name="T24" fmla="*/ 19 w 868"/>
              <a:gd name="T25" fmla="*/ 1654 h 1791"/>
              <a:gd name="T26" fmla="*/ 19 w 868"/>
              <a:gd name="T27" fmla="*/ 131 h 1791"/>
              <a:gd name="T28" fmla="*/ 134 w 868"/>
              <a:gd name="T29" fmla="*/ 16 h 1791"/>
              <a:gd name="T30" fmla="*/ 732 w 868"/>
              <a:gd name="T31" fmla="*/ 16 h 1791"/>
              <a:gd name="T32" fmla="*/ 847 w 868"/>
              <a:gd name="T33" fmla="*/ 131 h 1791"/>
              <a:gd name="T34" fmla="*/ 847 w 868"/>
              <a:gd name="T35" fmla="*/ 1654 h 1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68" h="1791">
                <a:moveTo>
                  <a:pt x="738" y="0"/>
                </a:moveTo>
                <a:cubicBezTo>
                  <a:pt x="127" y="0"/>
                  <a:pt x="127" y="0"/>
                  <a:pt x="127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1664"/>
                  <a:pt x="0" y="1664"/>
                  <a:pt x="0" y="1664"/>
                </a:cubicBezTo>
                <a:cubicBezTo>
                  <a:pt x="0" y="1734"/>
                  <a:pt x="57" y="1791"/>
                  <a:pt x="127" y="1791"/>
                </a:cubicBezTo>
                <a:cubicBezTo>
                  <a:pt x="738" y="1791"/>
                  <a:pt x="738" y="1791"/>
                  <a:pt x="738" y="1791"/>
                </a:cubicBezTo>
                <a:cubicBezTo>
                  <a:pt x="809" y="1791"/>
                  <a:pt x="866" y="1734"/>
                  <a:pt x="868" y="1664"/>
                </a:cubicBezTo>
                <a:cubicBezTo>
                  <a:pt x="868" y="128"/>
                  <a:pt x="868" y="128"/>
                  <a:pt x="868" y="128"/>
                </a:cubicBezTo>
                <a:cubicBezTo>
                  <a:pt x="866" y="57"/>
                  <a:pt x="809" y="0"/>
                  <a:pt x="738" y="0"/>
                </a:cubicBezTo>
                <a:close/>
                <a:moveTo>
                  <a:pt x="847" y="1654"/>
                </a:moveTo>
                <a:cubicBezTo>
                  <a:pt x="847" y="1718"/>
                  <a:pt x="796" y="1769"/>
                  <a:pt x="732" y="1769"/>
                </a:cubicBezTo>
                <a:cubicBezTo>
                  <a:pt x="134" y="1769"/>
                  <a:pt x="134" y="1769"/>
                  <a:pt x="134" y="1769"/>
                </a:cubicBezTo>
                <a:cubicBezTo>
                  <a:pt x="71" y="1769"/>
                  <a:pt x="19" y="1718"/>
                  <a:pt x="19" y="1654"/>
                </a:cubicBezTo>
                <a:cubicBezTo>
                  <a:pt x="19" y="131"/>
                  <a:pt x="19" y="131"/>
                  <a:pt x="19" y="131"/>
                </a:cubicBezTo>
                <a:cubicBezTo>
                  <a:pt x="19" y="68"/>
                  <a:pt x="71" y="16"/>
                  <a:pt x="134" y="16"/>
                </a:cubicBezTo>
                <a:cubicBezTo>
                  <a:pt x="732" y="16"/>
                  <a:pt x="732" y="16"/>
                  <a:pt x="732" y="16"/>
                </a:cubicBezTo>
                <a:cubicBezTo>
                  <a:pt x="796" y="16"/>
                  <a:pt x="847" y="68"/>
                  <a:pt x="847" y="131"/>
                </a:cubicBezTo>
                <a:lnTo>
                  <a:pt x="847" y="1654"/>
                </a:lnTo>
                <a:close/>
              </a:path>
            </a:pathLst>
          </a:custGeom>
          <a:solidFill>
            <a:srgbClr val="F9E5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6543466" y="602240"/>
            <a:ext cx="3719648" cy="7766044"/>
          </a:xfrm>
          <a:custGeom>
            <a:avLst/>
            <a:gdLst>
              <a:gd name="T0" fmla="*/ 718 w 843"/>
              <a:gd name="T1" fmla="*/ 1768 h 1768"/>
              <a:gd name="T2" fmla="*/ 120 w 843"/>
              <a:gd name="T3" fmla="*/ 1768 h 1768"/>
              <a:gd name="T4" fmla="*/ 0 w 843"/>
              <a:gd name="T5" fmla="*/ 1648 h 1768"/>
              <a:gd name="T6" fmla="*/ 0 w 843"/>
              <a:gd name="T7" fmla="*/ 120 h 1768"/>
              <a:gd name="T8" fmla="*/ 120 w 843"/>
              <a:gd name="T9" fmla="*/ 0 h 1768"/>
              <a:gd name="T10" fmla="*/ 718 w 843"/>
              <a:gd name="T11" fmla="*/ 0 h 1768"/>
              <a:gd name="T12" fmla="*/ 843 w 843"/>
              <a:gd name="T13" fmla="*/ 125 h 1768"/>
              <a:gd name="T14" fmla="*/ 843 w 843"/>
              <a:gd name="T15" fmla="*/ 1643 h 1768"/>
              <a:gd name="T16" fmla="*/ 718 w 843"/>
              <a:gd name="T17" fmla="*/ 1768 h 1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768">
                <a:moveTo>
                  <a:pt x="718" y="1768"/>
                </a:moveTo>
                <a:cubicBezTo>
                  <a:pt x="120" y="1768"/>
                  <a:pt x="120" y="1768"/>
                  <a:pt x="120" y="1768"/>
                </a:cubicBezTo>
                <a:cubicBezTo>
                  <a:pt x="54" y="1768"/>
                  <a:pt x="0" y="1714"/>
                  <a:pt x="0" y="16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54"/>
                  <a:pt x="54" y="0"/>
                  <a:pt x="120" y="0"/>
                </a:cubicBezTo>
                <a:cubicBezTo>
                  <a:pt x="718" y="0"/>
                  <a:pt x="718" y="0"/>
                  <a:pt x="718" y="0"/>
                </a:cubicBezTo>
                <a:cubicBezTo>
                  <a:pt x="787" y="0"/>
                  <a:pt x="843" y="56"/>
                  <a:pt x="843" y="125"/>
                </a:cubicBezTo>
                <a:cubicBezTo>
                  <a:pt x="843" y="1643"/>
                  <a:pt x="843" y="1643"/>
                  <a:pt x="843" y="1643"/>
                </a:cubicBezTo>
                <a:cubicBezTo>
                  <a:pt x="843" y="1712"/>
                  <a:pt x="787" y="1768"/>
                  <a:pt x="718" y="1768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703042" y="1517904"/>
            <a:ext cx="3400495" cy="59005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638" y="7581801"/>
            <a:ext cx="649703" cy="64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8127831" y="7631194"/>
            <a:ext cx="547119" cy="547118"/>
          </a:xfrm>
          <a:prstGeom prst="ellipse">
            <a:avLst/>
          </a:prstGeom>
          <a:solidFill>
            <a:srgbClr val="F7F7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8340599" y="761816"/>
            <a:ext cx="102585" cy="102585"/>
          </a:xfrm>
          <a:prstGeom prst="ellipse">
            <a:avLst/>
          </a:prstGeom>
          <a:solidFill>
            <a:srgbClr val="3C3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8089836" y="993582"/>
            <a:ext cx="615509" cy="83588"/>
          </a:xfrm>
          <a:custGeom>
            <a:avLst/>
            <a:gdLst>
              <a:gd name="T0" fmla="*/ 130 w 139"/>
              <a:gd name="T1" fmla="*/ 19 h 19"/>
              <a:gd name="T2" fmla="*/ 10 w 139"/>
              <a:gd name="T3" fmla="*/ 19 h 19"/>
              <a:gd name="T4" fmla="*/ 0 w 139"/>
              <a:gd name="T5" fmla="*/ 9 h 19"/>
              <a:gd name="T6" fmla="*/ 0 w 139"/>
              <a:gd name="T7" fmla="*/ 9 h 19"/>
              <a:gd name="T8" fmla="*/ 10 w 139"/>
              <a:gd name="T9" fmla="*/ 0 h 19"/>
              <a:gd name="T10" fmla="*/ 130 w 139"/>
              <a:gd name="T11" fmla="*/ 0 h 19"/>
              <a:gd name="T12" fmla="*/ 139 w 139"/>
              <a:gd name="T13" fmla="*/ 9 h 19"/>
              <a:gd name="T14" fmla="*/ 139 w 139"/>
              <a:gd name="T15" fmla="*/ 9 h 19"/>
              <a:gd name="T16" fmla="*/ 130 w 139"/>
              <a:gd name="T17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9" h="19">
                <a:moveTo>
                  <a:pt x="130" y="19"/>
                </a:moveTo>
                <a:cubicBezTo>
                  <a:pt x="10" y="19"/>
                  <a:pt x="10" y="19"/>
                  <a:pt x="10" y="19"/>
                </a:cubicBezTo>
                <a:cubicBezTo>
                  <a:pt x="5" y="19"/>
                  <a:pt x="0" y="15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5" y="0"/>
                  <a:pt x="10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35" y="0"/>
                  <a:pt x="139" y="4"/>
                  <a:pt x="139" y="9"/>
                </a:cubicBezTo>
                <a:cubicBezTo>
                  <a:pt x="139" y="9"/>
                  <a:pt x="139" y="9"/>
                  <a:pt x="139" y="9"/>
                </a:cubicBezTo>
                <a:cubicBezTo>
                  <a:pt x="139" y="15"/>
                  <a:pt x="135" y="19"/>
                  <a:pt x="130" y="19"/>
                </a:cubicBezTo>
                <a:close/>
              </a:path>
            </a:pathLst>
          </a:custGeom>
          <a:solidFill>
            <a:srgbClr val="3C3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6467477" y="1536901"/>
            <a:ext cx="56992" cy="338150"/>
          </a:xfrm>
          <a:custGeom>
            <a:avLst/>
            <a:gdLst>
              <a:gd name="T0" fmla="*/ 0 w 13"/>
              <a:gd name="T1" fmla="*/ 4 h 77"/>
              <a:gd name="T2" fmla="*/ 0 w 13"/>
              <a:gd name="T3" fmla="*/ 73 h 77"/>
              <a:gd name="T4" fmla="*/ 4 w 13"/>
              <a:gd name="T5" fmla="*/ 77 h 77"/>
              <a:gd name="T6" fmla="*/ 9 w 13"/>
              <a:gd name="T7" fmla="*/ 77 h 77"/>
              <a:gd name="T8" fmla="*/ 13 w 13"/>
              <a:gd name="T9" fmla="*/ 73 h 77"/>
              <a:gd name="T10" fmla="*/ 13 w 13"/>
              <a:gd name="T11" fmla="*/ 4 h 77"/>
              <a:gd name="T12" fmla="*/ 9 w 13"/>
              <a:gd name="T13" fmla="*/ 0 h 77"/>
              <a:gd name="T14" fmla="*/ 4 w 13"/>
              <a:gd name="T15" fmla="*/ 0 h 77"/>
              <a:gd name="T16" fmla="*/ 0 w 13"/>
              <a:gd name="T17" fmla="*/ 4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" h="77">
                <a:moveTo>
                  <a:pt x="0" y="4"/>
                </a:moveTo>
                <a:cubicBezTo>
                  <a:pt x="0" y="73"/>
                  <a:pt x="0" y="73"/>
                  <a:pt x="0" y="73"/>
                </a:cubicBezTo>
                <a:cubicBezTo>
                  <a:pt x="0" y="75"/>
                  <a:pt x="2" y="77"/>
                  <a:pt x="4" y="77"/>
                </a:cubicBezTo>
                <a:cubicBezTo>
                  <a:pt x="9" y="77"/>
                  <a:pt x="9" y="77"/>
                  <a:pt x="9" y="77"/>
                </a:cubicBezTo>
                <a:cubicBezTo>
                  <a:pt x="11" y="77"/>
                  <a:pt x="13" y="75"/>
                  <a:pt x="13" y="73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2"/>
                  <a:pt x="11" y="0"/>
                  <a:pt x="9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lose/>
              </a:path>
            </a:pathLst>
          </a:custGeom>
          <a:solidFill>
            <a:srgbClr val="F9E5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467477" y="2232197"/>
            <a:ext cx="56992" cy="577514"/>
          </a:xfrm>
          <a:custGeom>
            <a:avLst/>
            <a:gdLst>
              <a:gd name="T0" fmla="*/ 0 w 13"/>
              <a:gd name="T1" fmla="*/ 4 h 131"/>
              <a:gd name="T2" fmla="*/ 0 w 13"/>
              <a:gd name="T3" fmla="*/ 127 h 131"/>
              <a:gd name="T4" fmla="*/ 4 w 13"/>
              <a:gd name="T5" fmla="*/ 131 h 131"/>
              <a:gd name="T6" fmla="*/ 9 w 13"/>
              <a:gd name="T7" fmla="*/ 131 h 131"/>
              <a:gd name="T8" fmla="*/ 13 w 13"/>
              <a:gd name="T9" fmla="*/ 127 h 131"/>
              <a:gd name="T10" fmla="*/ 13 w 13"/>
              <a:gd name="T11" fmla="*/ 4 h 131"/>
              <a:gd name="T12" fmla="*/ 9 w 13"/>
              <a:gd name="T13" fmla="*/ 0 h 131"/>
              <a:gd name="T14" fmla="*/ 4 w 13"/>
              <a:gd name="T15" fmla="*/ 0 h 131"/>
              <a:gd name="T16" fmla="*/ 0 w 13"/>
              <a:gd name="T17" fmla="*/ 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" h="131">
                <a:moveTo>
                  <a:pt x="0" y="4"/>
                </a:moveTo>
                <a:cubicBezTo>
                  <a:pt x="0" y="127"/>
                  <a:pt x="0" y="127"/>
                  <a:pt x="0" y="127"/>
                </a:cubicBezTo>
                <a:cubicBezTo>
                  <a:pt x="0" y="129"/>
                  <a:pt x="2" y="131"/>
                  <a:pt x="4" y="131"/>
                </a:cubicBezTo>
                <a:cubicBezTo>
                  <a:pt x="9" y="131"/>
                  <a:pt x="9" y="131"/>
                  <a:pt x="9" y="131"/>
                </a:cubicBezTo>
                <a:cubicBezTo>
                  <a:pt x="11" y="131"/>
                  <a:pt x="13" y="129"/>
                  <a:pt x="13" y="127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2"/>
                  <a:pt x="11" y="0"/>
                  <a:pt x="9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lose/>
              </a:path>
            </a:pathLst>
          </a:custGeom>
          <a:solidFill>
            <a:srgbClr val="F9E5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467477" y="2950291"/>
            <a:ext cx="56992" cy="569915"/>
          </a:xfrm>
          <a:custGeom>
            <a:avLst/>
            <a:gdLst>
              <a:gd name="T0" fmla="*/ 0 w 13"/>
              <a:gd name="T1" fmla="*/ 3 h 130"/>
              <a:gd name="T2" fmla="*/ 0 w 13"/>
              <a:gd name="T3" fmla="*/ 127 h 130"/>
              <a:gd name="T4" fmla="*/ 4 w 13"/>
              <a:gd name="T5" fmla="*/ 130 h 130"/>
              <a:gd name="T6" fmla="*/ 9 w 13"/>
              <a:gd name="T7" fmla="*/ 130 h 130"/>
              <a:gd name="T8" fmla="*/ 13 w 13"/>
              <a:gd name="T9" fmla="*/ 127 h 130"/>
              <a:gd name="T10" fmla="*/ 13 w 13"/>
              <a:gd name="T11" fmla="*/ 3 h 130"/>
              <a:gd name="T12" fmla="*/ 9 w 13"/>
              <a:gd name="T13" fmla="*/ 0 h 130"/>
              <a:gd name="T14" fmla="*/ 4 w 13"/>
              <a:gd name="T15" fmla="*/ 0 h 130"/>
              <a:gd name="T16" fmla="*/ 0 w 13"/>
              <a:gd name="T17" fmla="*/ 3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" h="130">
                <a:moveTo>
                  <a:pt x="0" y="3"/>
                </a:moveTo>
                <a:cubicBezTo>
                  <a:pt x="0" y="127"/>
                  <a:pt x="0" y="127"/>
                  <a:pt x="0" y="127"/>
                </a:cubicBezTo>
                <a:cubicBezTo>
                  <a:pt x="0" y="129"/>
                  <a:pt x="2" y="130"/>
                  <a:pt x="4" y="130"/>
                </a:cubicBezTo>
                <a:cubicBezTo>
                  <a:pt x="9" y="130"/>
                  <a:pt x="9" y="130"/>
                  <a:pt x="9" y="130"/>
                </a:cubicBezTo>
                <a:cubicBezTo>
                  <a:pt x="11" y="130"/>
                  <a:pt x="13" y="129"/>
                  <a:pt x="13" y="127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1"/>
                  <a:pt x="11" y="0"/>
                  <a:pt x="9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1"/>
                  <a:pt x="0" y="3"/>
                </a:cubicBezTo>
                <a:close/>
              </a:path>
            </a:pathLst>
          </a:custGeom>
          <a:solidFill>
            <a:srgbClr val="F9E5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486474" y="7718581"/>
            <a:ext cx="53192" cy="136780"/>
          </a:xfrm>
          <a:prstGeom prst="rect">
            <a:avLst/>
          </a:prstGeom>
          <a:solidFill>
            <a:srgbClr val="F7F7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0263114" y="7718581"/>
            <a:ext cx="53192" cy="136780"/>
          </a:xfrm>
          <a:prstGeom prst="rect">
            <a:avLst/>
          </a:prstGeom>
          <a:solidFill>
            <a:srgbClr val="F7F7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486474" y="1145559"/>
            <a:ext cx="53192" cy="136780"/>
          </a:xfrm>
          <a:prstGeom prst="rect">
            <a:avLst/>
          </a:prstGeom>
          <a:solidFill>
            <a:srgbClr val="F7F7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0263114" y="1145559"/>
            <a:ext cx="53192" cy="136780"/>
          </a:xfrm>
          <a:prstGeom prst="rect">
            <a:avLst/>
          </a:prstGeom>
          <a:solidFill>
            <a:srgbClr val="F7F7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7740288" y="970785"/>
            <a:ext cx="140579" cy="140579"/>
          </a:xfrm>
          <a:prstGeom prst="ellipse">
            <a:avLst/>
          </a:prstGeom>
          <a:solidFill>
            <a:srgbClr val="3C3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6703041" y="1517904"/>
            <a:ext cx="3400495" cy="59005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00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hone 6 Plus - 3 mockups view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650015" y="731462"/>
            <a:ext cx="2662371" cy="5395077"/>
            <a:chOff x="6467477" y="549048"/>
            <a:chExt cx="3883024" cy="7868629"/>
          </a:xfrm>
        </p:grpSpPr>
        <p:sp>
          <p:nvSpPr>
            <p:cNvPr id="2" name="Freeform 5"/>
            <p:cNvSpPr>
              <a:spLocks/>
            </p:cNvSpPr>
            <p:nvPr userDrawn="1"/>
          </p:nvSpPr>
          <p:spPr bwMode="auto">
            <a:xfrm>
              <a:off x="10301108" y="2201802"/>
              <a:ext cx="49393" cy="554717"/>
            </a:xfrm>
            <a:custGeom>
              <a:avLst/>
              <a:gdLst>
                <a:gd name="T0" fmla="*/ 0 w 11"/>
                <a:gd name="T1" fmla="*/ 4 h 126"/>
                <a:gd name="T2" fmla="*/ 0 w 11"/>
                <a:gd name="T3" fmla="*/ 123 h 126"/>
                <a:gd name="T4" fmla="*/ 3 w 11"/>
                <a:gd name="T5" fmla="*/ 126 h 126"/>
                <a:gd name="T6" fmla="*/ 8 w 11"/>
                <a:gd name="T7" fmla="*/ 126 h 126"/>
                <a:gd name="T8" fmla="*/ 11 w 11"/>
                <a:gd name="T9" fmla="*/ 123 h 126"/>
                <a:gd name="T10" fmla="*/ 11 w 11"/>
                <a:gd name="T11" fmla="*/ 4 h 126"/>
                <a:gd name="T12" fmla="*/ 8 w 11"/>
                <a:gd name="T13" fmla="*/ 0 h 126"/>
                <a:gd name="T14" fmla="*/ 3 w 11"/>
                <a:gd name="T15" fmla="*/ 0 h 126"/>
                <a:gd name="T16" fmla="*/ 0 w 11"/>
                <a:gd name="T17" fmla="*/ 4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26">
                  <a:moveTo>
                    <a:pt x="0" y="4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5"/>
                    <a:pt x="1" y="126"/>
                    <a:pt x="3" y="126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9" y="126"/>
                    <a:pt x="11" y="125"/>
                    <a:pt x="11" y="12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2"/>
                    <a:pt x="9" y="0"/>
                    <a:pt x="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" name="Rectangle 6"/>
            <p:cNvSpPr>
              <a:spLocks noChangeArrowheads="1"/>
            </p:cNvSpPr>
            <p:nvPr userDrawn="1"/>
          </p:nvSpPr>
          <p:spPr bwMode="auto">
            <a:xfrm>
              <a:off x="10263114" y="7684386"/>
              <a:ext cx="53192" cy="13678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" name="Rectangle 7"/>
            <p:cNvSpPr>
              <a:spLocks noChangeArrowheads="1"/>
            </p:cNvSpPr>
            <p:nvPr userDrawn="1"/>
          </p:nvSpPr>
          <p:spPr bwMode="auto">
            <a:xfrm>
              <a:off x="10263114" y="1111364"/>
              <a:ext cx="53192" cy="13678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" name="Freeform 8"/>
            <p:cNvSpPr>
              <a:spLocks noEditPoints="1"/>
            </p:cNvSpPr>
            <p:nvPr userDrawn="1"/>
          </p:nvSpPr>
          <p:spPr bwMode="auto">
            <a:xfrm>
              <a:off x="6486474" y="549048"/>
              <a:ext cx="3829832" cy="7868629"/>
            </a:xfrm>
            <a:custGeom>
              <a:avLst/>
              <a:gdLst>
                <a:gd name="T0" fmla="*/ 738 w 868"/>
                <a:gd name="T1" fmla="*/ 0 h 1791"/>
                <a:gd name="T2" fmla="*/ 127 w 868"/>
                <a:gd name="T3" fmla="*/ 0 h 1791"/>
                <a:gd name="T4" fmla="*/ 0 w 868"/>
                <a:gd name="T5" fmla="*/ 128 h 1791"/>
                <a:gd name="T6" fmla="*/ 0 w 868"/>
                <a:gd name="T7" fmla="*/ 1664 h 1791"/>
                <a:gd name="T8" fmla="*/ 127 w 868"/>
                <a:gd name="T9" fmla="*/ 1791 h 1791"/>
                <a:gd name="T10" fmla="*/ 738 w 868"/>
                <a:gd name="T11" fmla="*/ 1791 h 1791"/>
                <a:gd name="T12" fmla="*/ 868 w 868"/>
                <a:gd name="T13" fmla="*/ 1664 h 1791"/>
                <a:gd name="T14" fmla="*/ 868 w 868"/>
                <a:gd name="T15" fmla="*/ 128 h 1791"/>
                <a:gd name="T16" fmla="*/ 738 w 868"/>
                <a:gd name="T17" fmla="*/ 0 h 1791"/>
                <a:gd name="T18" fmla="*/ 847 w 868"/>
                <a:gd name="T19" fmla="*/ 1654 h 1791"/>
                <a:gd name="T20" fmla="*/ 732 w 868"/>
                <a:gd name="T21" fmla="*/ 1769 h 1791"/>
                <a:gd name="T22" fmla="*/ 134 w 868"/>
                <a:gd name="T23" fmla="*/ 1769 h 1791"/>
                <a:gd name="T24" fmla="*/ 19 w 868"/>
                <a:gd name="T25" fmla="*/ 1654 h 1791"/>
                <a:gd name="T26" fmla="*/ 19 w 868"/>
                <a:gd name="T27" fmla="*/ 131 h 1791"/>
                <a:gd name="T28" fmla="*/ 134 w 868"/>
                <a:gd name="T29" fmla="*/ 16 h 1791"/>
                <a:gd name="T30" fmla="*/ 732 w 868"/>
                <a:gd name="T31" fmla="*/ 16 h 1791"/>
                <a:gd name="T32" fmla="*/ 847 w 868"/>
                <a:gd name="T33" fmla="*/ 131 h 1791"/>
                <a:gd name="T34" fmla="*/ 847 w 868"/>
                <a:gd name="T35" fmla="*/ 1654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8" h="1791">
                  <a:moveTo>
                    <a:pt x="738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57" y="0"/>
                    <a:pt x="0" y="57"/>
                    <a:pt x="0" y="128"/>
                  </a:cubicBezTo>
                  <a:cubicBezTo>
                    <a:pt x="0" y="1664"/>
                    <a:pt x="0" y="1664"/>
                    <a:pt x="0" y="1664"/>
                  </a:cubicBezTo>
                  <a:cubicBezTo>
                    <a:pt x="0" y="1734"/>
                    <a:pt x="57" y="1791"/>
                    <a:pt x="127" y="1791"/>
                  </a:cubicBezTo>
                  <a:cubicBezTo>
                    <a:pt x="738" y="1791"/>
                    <a:pt x="738" y="1791"/>
                    <a:pt x="738" y="1791"/>
                  </a:cubicBezTo>
                  <a:cubicBezTo>
                    <a:pt x="809" y="1791"/>
                    <a:pt x="866" y="1734"/>
                    <a:pt x="868" y="1664"/>
                  </a:cubicBezTo>
                  <a:cubicBezTo>
                    <a:pt x="868" y="128"/>
                    <a:pt x="868" y="128"/>
                    <a:pt x="868" y="128"/>
                  </a:cubicBezTo>
                  <a:cubicBezTo>
                    <a:pt x="866" y="57"/>
                    <a:pt x="809" y="0"/>
                    <a:pt x="738" y="0"/>
                  </a:cubicBezTo>
                  <a:close/>
                  <a:moveTo>
                    <a:pt x="847" y="1654"/>
                  </a:moveTo>
                  <a:cubicBezTo>
                    <a:pt x="847" y="1718"/>
                    <a:pt x="796" y="1769"/>
                    <a:pt x="732" y="1769"/>
                  </a:cubicBezTo>
                  <a:cubicBezTo>
                    <a:pt x="134" y="1769"/>
                    <a:pt x="134" y="1769"/>
                    <a:pt x="134" y="1769"/>
                  </a:cubicBezTo>
                  <a:cubicBezTo>
                    <a:pt x="71" y="1769"/>
                    <a:pt x="19" y="1718"/>
                    <a:pt x="19" y="165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19" y="68"/>
                    <a:pt x="71" y="16"/>
                    <a:pt x="134" y="16"/>
                  </a:cubicBezTo>
                  <a:cubicBezTo>
                    <a:pt x="732" y="16"/>
                    <a:pt x="732" y="16"/>
                    <a:pt x="732" y="16"/>
                  </a:cubicBezTo>
                  <a:cubicBezTo>
                    <a:pt x="796" y="16"/>
                    <a:pt x="847" y="68"/>
                    <a:pt x="847" y="131"/>
                  </a:cubicBezTo>
                  <a:lnTo>
                    <a:pt x="847" y="1654"/>
                  </a:ln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6" name="Freeform 9"/>
            <p:cNvSpPr>
              <a:spLocks/>
            </p:cNvSpPr>
            <p:nvPr userDrawn="1"/>
          </p:nvSpPr>
          <p:spPr bwMode="auto">
            <a:xfrm>
              <a:off x="6543466" y="602240"/>
              <a:ext cx="3719648" cy="7766044"/>
            </a:xfrm>
            <a:custGeom>
              <a:avLst/>
              <a:gdLst>
                <a:gd name="T0" fmla="*/ 718 w 843"/>
                <a:gd name="T1" fmla="*/ 1768 h 1768"/>
                <a:gd name="T2" fmla="*/ 120 w 843"/>
                <a:gd name="T3" fmla="*/ 1768 h 1768"/>
                <a:gd name="T4" fmla="*/ 0 w 843"/>
                <a:gd name="T5" fmla="*/ 1648 h 1768"/>
                <a:gd name="T6" fmla="*/ 0 w 843"/>
                <a:gd name="T7" fmla="*/ 120 h 1768"/>
                <a:gd name="T8" fmla="*/ 120 w 843"/>
                <a:gd name="T9" fmla="*/ 0 h 1768"/>
                <a:gd name="T10" fmla="*/ 718 w 843"/>
                <a:gd name="T11" fmla="*/ 0 h 1768"/>
                <a:gd name="T12" fmla="*/ 843 w 843"/>
                <a:gd name="T13" fmla="*/ 125 h 1768"/>
                <a:gd name="T14" fmla="*/ 843 w 843"/>
                <a:gd name="T15" fmla="*/ 1643 h 1768"/>
                <a:gd name="T16" fmla="*/ 718 w 843"/>
                <a:gd name="T17" fmla="*/ 1768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3" h="1768">
                  <a:moveTo>
                    <a:pt x="718" y="1768"/>
                  </a:moveTo>
                  <a:cubicBezTo>
                    <a:pt x="120" y="1768"/>
                    <a:pt x="120" y="1768"/>
                    <a:pt x="120" y="1768"/>
                  </a:cubicBezTo>
                  <a:cubicBezTo>
                    <a:pt x="54" y="1768"/>
                    <a:pt x="0" y="1714"/>
                    <a:pt x="0" y="16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54"/>
                    <a:pt x="54" y="0"/>
                    <a:pt x="120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87" y="0"/>
                    <a:pt x="843" y="56"/>
                    <a:pt x="843" y="125"/>
                  </a:cubicBezTo>
                  <a:cubicBezTo>
                    <a:pt x="843" y="1643"/>
                    <a:pt x="843" y="1643"/>
                    <a:pt x="843" y="1643"/>
                  </a:cubicBezTo>
                  <a:cubicBezTo>
                    <a:pt x="843" y="1712"/>
                    <a:pt x="787" y="1768"/>
                    <a:pt x="718" y="176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6703042" y="1517904"/>
              <a:ext cx="3400495" cy="5900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pic>
          <p:nvPicPr>
            <p:cNvPr id="8" name="Picture 1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4638" y="7581801"/>
              <a:ext cx="649703" cy="645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Oval 8"/>
            <p:cNvSpPr>
              <a:spLocks noChangeArrowheads="1"/>
            </p:cNvSpPr>
            <p:nvPr userDrawn="1"/>
          </p:nvSpPr>
          <p:spPr bwMode="auto">
            <a:xfrm>
              <a:off x="8127831" y="7631194"/>
              <a:ext cx="547119" cy="547118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0" name="Oval 9"/>
            <p:cNvSpPr>
              <a:spLocks noChangeArrowheads="1"/>
            </p:cNvSpPr>
            <p:nvPr userDrawn="1"/>
          </p:nvSpPr>
          <p:spPr bwMode="auto">
            <a:xfrm>
              <a:off x="8340599" y="761816"/>
              <a:ext cx="102585" cy="102585"/>
            </a:xfrm>
            <a:prstGeom prst="ellipse">
              <a:avLst/>
            </a:pr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8089836" y="993582"/>
              <a:ext cx="615509" cy="83588"/>
            </a:xfrm>
            <a:custGeom>
              <a:avLst/>
              <a:gdLst>
                <a:gd name="T0" fmla="*/ 130 w 139"/>
                <a:gd name="T1" fmla="*/ 19 h 19"/>
                <a:gd name="T2" fmla="*/ 10 w 139"/>
                <a:gd name="T3" fmla="*/ 19 h 19"/>
                <a:gd name="T4" fmla="*/ 0 w 139"/>
                <a:gd name="T5" fmla="*/ 9 h 19"/>
                <a:gd name="T6" fmla="*/ 0 w 139"/>
                <a:gd name="T7" fmla="*/ 9 h 19"/>
                <a:gd name="T8" fmla="*/ 10 w 139"/>
                <a:gd name="T9" fmla="*/ 0 h 19"/>
                <a:gd name="T10" fmla="*/ 130 w 139"/>
                <a:gd name="T11" fmla="*/ 0 h 19"/>
                <a:gd name="T12" fmla="*/ 139 w 139"/>
                <a:gd name="T13" fmla="*/ 9 h 19"/>
                <a:gd name="T14" fmla="*/ 139 w 139"/>
                <a:gd name="T15" fmla="*/ 9 h 19"/>
                <a:gd name="T16" fmla="*/ 130 w 139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9">
                  <a:moveTo>
                    <a:pt x="130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19"/>
                    <a:pt x="0" y="15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5" y="0"/>
                    <a:pt x="139" y="4"/>
                    <a:pt x="139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9" y="15"/>
                    <a:pt x="135" y="19"/>
                    <a:pt x="130" y="19"/>
                  </a:cubicBezTo>
                  <a:close/>
                </a:path>
              </a:pathLst>
            </a:cu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6467477" y="1536901"/>
              <a:ext cx="56992" cy="338150"/>
            </a:xfrm>
            <a:custGeom>
              <a:avLst/>
              <a:gdLst>
                <a:gd name="T0" fmla="*/ 0 w 13"/>
                <a:gd name="T1" fmla="*/ 4 h 77"/>
                <a:gd name="T2" fmla="*/ 0 w 13"/>
                <a:gd name="T3" fmla="*/ 73 h 77"/>
                <a:gd name="T4" fmla="*/ 4 w 13"/>
                <a:gd name="T5" fmla="*/ 77 h 77"/>
                <a:gd name="T6" fmla="*/ 9 w 13"/>
                <a:gd name="T7" fmla="*/ 77 h 77"/>
                <a:gd name="T8" fmla="*/ 13 w 13"/>
                <a:gd name="T9" fmla="*/ 73 h 77"/>
                <a:gd name="T10" fmla="*/ 13 w 13"/>
                <a:gd name="T11" fmla="*/ 4 h 77"/>
                <a:gd name="T12" fmla="*/ 9 w 13"/>
                <a:gd name="T13" fmla="*/ 0 h 77"/>
                <a:gd name="T14" fmla="*/ 4 w 13"/>
                <a:gd name="T15" fmla="*/ 0 h 77"/>
                <a:gd name="T16" fmla="*/ 0 w 13"/>
                <a:gd name="T17" fmla="*/ 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7">
                  <a:moveTo>
                    <a:pt x="0" y="4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2" y="77"/>
                    <a:pt x="4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11" y="77"/>
                    <a:pt x="13" y="75"/>
                    <a:pt x="13" y="7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6467477" y="2232197"/>
              <a:ext cx="56992" cy="577514"/>
            </a:xfrm>
            <a:custGeom>
              <a:avLst/>
              <a:gdLst>
                <a:gd name="T0" fmla="*/ 0 w 13"/>
                <a:gd name="T1" fmla="*/ 4 h 131"/>
                <a:gd name="T2" fmla="*/ 0 w 13"/>
                <a:gd name="T3" fmla="*/ 127 h 131"/>
                <a:gd name="T4" fmla="*/ 4 w 13"/>
                <a:gd name="T5" fmla="*/ 131 h 131"/>
                <a:gd name="T6" fmla="*/ 9 w 13"/>
                <a:gd name="T7" fmla="*/ 131 h 131"/>
                <a:gd name="T8" fmla="*/ 13 w 13"/>
                <a:gd name="T9" fmla="*/ 127 h 131"/>
                <a:gd name="T10" fmla="*/ 13 w 13"/>
                <a:gd name="T11" fmla="*/ 4 h 131"/>
                <a:gd name="T12" fmla="*/ 9 w 13"/>
                <a:gd name="T13" fmla="*/ 0 h 131"/>
                <a:gd name="T14" fmla="*/ 4 w 13"/>
                <a:gd name="T15" fmla="*/ 0 h 131"/>
                <a:gd name="T16" fmla="*/ 0 w 13"/>
                <a:gd name="T17" fmla="*/ 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31">
                  <a:moveTo>
                    <a:pt x="0" y="4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0" y="129"/>
                    <a:pt x="2" y="131"/>
                    <a:pt x="4" y="131"/>
                  </a:cubicBezTo>
                  <a:cubicBezTo>
                    <a:pt x="9" y="131"/>
                    <a:pt x="9" y="131"/>
                    <a:pt x="9" y="131"/>
                  </a:cubicBezTo>
                  <a:cubicBezTo>
                    <a:pt x="11" y="131"/>
                    <a:pt x="13" y="129"/>
                    <a:pt x="13" y="12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4" name="Freeform 13"/>
            <p:cNvSpPr>
              <a:spLocks/>
            </p:cNvSpPr>
            <p:nvPr userDrawn="1"/>
          </p:nvSpPr>
          <p:spPr bwMode="auto">
            <a:xfrm>
              <a:off x="6467477" y="2950291"/>
              <a:ext cx="56992" cy="569915"/>
            </a:xfrm>
            <a:custGeom>
              <a:avLst/>
              <a:gdLst>
                <a:gd name="T0" fmla="*/ 0 w 13"/>
                <a:gd name="T1" fmla="*/ 3 h 130"/>
                <a:gd name="T2" fmla="*/ 0 w 13"/>
                <a:gd name="T3" fmla="*/ 127 h 130"/>
                <a:gd name="T4" fmla="*/ 4 w 13"/>
                <a:gd name="T5" fmla="*/ 130 h 130"/>
                <a:gd name="T6" fmla="*/ 9 w 13"/>
                <a:gd name="T7" fmla="*/ 130 h 130"/>
                <a:gd name="T8" fmla="*/ 13 w 13"/>
                <a:gd name="T9" fmla="*/ 127 h 130"/>
                <a:gd name="T10" fmla="*/ 13 w 13"/>
                <a:gd name="T11" fmla="*/ 3 h 130"/>
                <a:gd name="T12" fmla="*/ 9 w 13"/>
                <a:gd name="T13" fmla="*/ 0 h 130"/>
                <a:gd name="T14" fmla="*/ 4 w 13"/>
                <a:gd name="T15" fmla="*/ 0 h 130"/>
                <a:gd name="T16" fmla="*/ 0 w 13"/>
                <a:gd name="T17" fmla="*/ 3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30">
                  <a:moveTo>
                    <a:pt x="0" y="3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0" y="129"/>
                    <a:pt x="2" y="130"/>
                    <a:pt x="4" y="130"/>
                  </a:cubicBezTo>
                  <a:cubicBezTo>
                    <a:pt x="9" y="130"/>
                    <a:pt x="9" y="130"/>
                    <a:pt x="9" y="130"/>
                  </a:cubicBezTo>
                  <a:cubicBezTo>
                    <a:pt x="11" y="130"/>
                    <a:pt x="13" y="129"/>
                    <a:pt x="13" y="127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6486474" y="7718581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auto">
            <a:xfrm>
              <a:off x="10263114" y="7718581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 userDrawn="1"/>
          </p:nvSpPr>
          <p:spPr bwMode="auto">
            <a:xfrm>
              <a:off x="6486474" y="1145559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 userDrawn="1"/>
          </p:nvSpPr>
          <p:spPr bwMode="auto">
            <a:xfrm>
              <a:off x="10263114" y="1145559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9" name="Oval 18"/>
            <p:cNvSpPr>
              <a:spLocks noChangeArrowheads="1"/>
            </p:cNvSpPr>
            <p:nvPr userDrawn="1"/>
          </p:nvSpPr>
          <p:spPr bwMode="auto">
            <a:xfrm>
              <a:off x="7740288" y="970785"/>
              <a:ext cx="140579" cy="140579"/>
            </a:xfrm>
            <a:prstGeom prst="ellipse">
              <a:avLst/>
            </a:pr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sp>
        <p:nvSpPr>
          <p:cNvPr id="20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811527" y="1385332"/>
            <a:ext cx="2331529" cy="40560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4764815" y="731462"/>
            <a:ext cx="2662371" cy="5395077"/>
            <a:chOff x="6467477" y="549048"/>
            <a:chExt cx="3883024" cy="7868629"/>
          </a:xfrm>
        </p:grpSpPr>
        <p:sp>
          <p:nvSpPr>
            <p:cNvPr id="23" name="Freeform 5"/>
            <p:cNvSpPr>
              <a:spLocks/>
            </p:cNvSpPr>
            <p:nvPr userDrawn="1"/>
          </p:nvSpPr>
          <p:spPr bwMode="auto">
            <a:xfrm>
              <a:off x="10301108" y="2201802"/>
              <a:ext cx="49393" cy="554717"/>
            </a:xfrm>
            <a:custGeom>
              <a:avLst/>
              <a:gdLst>
                <a:gd name="T0" fmla="*/ 0 w 11"/>
                <a:gd name="T1" fmla="*/ 4 h 126"/>
                <a:gd name="T2" fmla="*/ 0 w 11"/>
                <a:gd name="T3" fmla="*/ 123 h 126"/>
                <a:gd name="T4" fmla="*/ 3 w 11"/>
                <a:gd name="T5" fmla="*/ 126 h 126"/>
                <a:gd name="T6" fmla="*/ 8 w 11"/>
                <a:gd name="T7" fmla="*/ 126 h 126"/>
                <a:gd name="T8" fmla="*/ 11 w 11"/>
                <a:gd name="T9" fmla="*/ 123 h 126"/>
                <a:gd name="T10" fmla="*/ 11 w 11"/>
                <a:gd name="T11" fmla="*/ 4 h 126"/>
                <a:gd name="T12" fmla="*/ 8 w 11"/>
                <a:gd name="T13" fmla="*/ 0 h 126"/>
                <a:gd name="T14" fmla="*/ 3 w 11"/>
                <a:gd name="T15" fmla="*/ 0 h 126"/>
                <a:gd name="T16" fmla="*/ 0 w 11"/>
                <a:gd name="T17" fmla="*/ 4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26">
                  <a:moveTo>
                    <a:pt x="0" y="4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5"/>
                    <a:pt x="1" y="126"/>
                    <a:pt x="3" y="126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9" y="126"/>
                    <a:pt x="11" y="125"/>
                    <a:pt x="11" y="12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2"/>
                    <a:pt x="9" y="0"/>
                    <a:pt x="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4" name="Rectangle 6"/>
            <p:cNvSpPr>
              <a:spLocks noChangeArrowheads="1"/>
            </p:cNvSpPr>
            <p:nvPr userDrawn="1"/>
          </p:nvSpPr>
          <p:spPr bwMode="auto">
            <a:xfrm>
              <a:off x="10263114" y="7684386"/>
              <a:ext cx="53192" cy="13678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10263114" y="1111364"/>
              <a:ext cx="53192" cy="13678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6486474" y="549048"/>
              <a:ext cx="3829832" cy="7868629"/>
            </a:xfrm>
            <a:custGeom>
              <a:avLst/>
              <a:gdLst>
                <a:gd name="T0" fmla="*/ 738 w 868"/>
                <a:gd name="T1" fmla="*/ 0 h 1791"/>
                <a:gd name="T2" fmla="*/ 127 w 868"/>
                <a:gd name="T3" fmla="*/ 0 h 1791"/>
                <a:gd name="T4" fmla="*/ 0 w 868"/>
                <a:gd name="T5" fmla="*/ 128 h 1791"/>
                <a:gd name="T6" fmla="*/ 0 w 868"/>
                <a:gd name="T7" fmla="*/ 1664 h 1791"/>
                <a:gd name="T8" fmla="*/ 127 w 868"/>
                <a:gd name="T9" fmla="*/ 1791 h 1791"/>
                <a:gd name="T10" fmla="*/ 738 w 868"/>
                <a:gd name="T11" fmla="*/ 1791 h 1791"/>
                <a:gd name="T12" fmla="*/ 868 w 868"/>
                <a:gd name="T13" fmla="*/ 1664 h 1791"/>
                <a:gd name="T14" fmla="*/ 868 w 868"/>
                <a:gd name="T15" fmla="*/ 128 h 1791"/>
                <a:gd name="T16" fmla="*/ 738 w 868"/>
                <a:gd name="T17" fmla="*/ 0 h 1791"/>
                <a:gd name="T18" fmla="*/ 847 w 868"/>
                <a:gd name="T19" fmla="*/ 1654 h 1791"/>
                <a:gd name="T20" fmla="*/ 732 w 868"/>
                <a:gd name="T21" fmla="*/ 1769 h 1791"/>
                <a:gd name="T22" fmla="*/ 134 w 868"/>
                <a:gd name="T23" fmla="*/ 1769 h 1791"/>
                <a:gd name="T24" fmla="*/ 19 w 868"/>
                <a:gd name="T25" fmla="*/ 1654 h 1791"/>
                <a:gd name="T26" fmla="*/ 19 w 868"/>
                <a:gd name="T27" fmla="*/ 131 h 1791"/>
                <a:gd name="T28" fmla="*/ 134 w 868"/>
                <a:gd name="T29" fmla="*/ 16 h 1791"/>
                <a:gd name="T30" fmla="*/ 732 w 868"/>
                <a:gd name="T31" fmla="*/ 16 h 1791"/>
                <a:gd name="T32" fmla="*/ 847 w 868"/>
                <a:gd name="T33" fmla="*/ 131 h 1791"/>
                <a:gd name="T34" fmla="*/ 847 w 868"/>
                <a:gd name="T35" fmla="*/ 1654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8" h="1791">
                  <a:moveTo>
                    <a:pt x="738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57" y="0"/>
                    <a:pt x="0" y="57"/>
                    <a:pt x="0" y="128"/>
                  </a:cubicBezTo>
                  <a:cubicBezTo>
                    <a:pt x="0" y="1664"/>
                    <a:pt x="0" y="1664"/>
                    <a:pt x="0" y="1664"/>
                  </a:cubicBezTo>
                  <a:cubicBezTo>
                    <a:pt x="0" y="1734"/>
                    <a:pt x="57" y="1791"/>
                    <a:pt x="127" y="1791"/>
                  </a:cubicBezTo>
                  <a:cubicBezTo>
                    <a:pt x="738" y="1791"/>
                    <a:pt x="738" y="1791"/>
                    <a:pt x="738" y="1791"/>
                  </a:cubicBezTo>
                  <a:cubicBezTo>
                    <a:pt x="809" y="1791"/>
                    <a:pt x="866" y="1734"/>
                    <a:pt x="868" y="1664"/>
                  </a:cubicBezTo>
                  <a:cubicBezTo>
                    <a:pt x="868" y="128"/>
                    <a:pt x="868" y="128"/>
                    <a:pt x="868" y="128"/>
                  </a:cubicBezTo>
                  <a:cubicBezTo>
                    <a:pt x="866" y="57"/>
                    <a:pt x="809" y="0"/>
                    <a:pt x="738" y="0"/>
                  </a:cubicBezTo>
                  <a:close/>
                  <a:moveTo>
                    <a:pt x="847" y="1654"/>
                  </a:moveTo>
                  <a:cubicBezTo>
                    <a:pt x="847" y="1718"/>
                    <a:pt x="796" y="1769"/>
                    <a:pt x="732" y="1769"/>
                  </a:cubicBezTo>
                  <a:cubicBezTo>
                    <a:pt x="134" y="1769"/>
                    <a:pt x="134" y="1769"/>
                    <a:pt x="134" y="1769"/>
                  </a:cubicBezTo>
                  <a:cubicBezTo>
                    <a:pt x="71" y="1769"/>
                    <a:pt x="19" y="1718"/>
                    <a:pt x="19" y="165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19" y="68"/>
                    <a:pt x="71" y="16"/>
                    <a:pt x="134" y="16"/>
                  </a:cubicBezTo>
                  <a:cubicBezTo>
                    <a:pt x="732" y="16"/>
                    <a:pt x="732" y="16"/>
                    <a:pt x="732" y="16"/>
                  </a:cubicBezTo>
                  <a:cubicBezTo>
                    <a:pt x="796" y="16"/>
                    <a:pt x="847" y="68"/>
                    <a:pt x="847" y="131"/>
                  </a:cubicBezTo>
                  <a:lnTo>
                    <a:pt x="847" y="1654"/>
                  </a:ln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7" name="Freeform 9"/>
            <p:cNvSpPr>
              <a:spLocks/>
            </p:cNvSpPr>
            <p:nvPr userDrawn="1"/>
          </p:nvSpPr>
          <p:spPr bwMode="auto">
            <a:xfrm>
              <a:off x="6543466" y="602240"/>
              <a:ext cx="3719648" cy="7766044"/>
            </a:xfrm>
            <a:custGeom>
              <a:avLst/>
              <a:gdLst>
                <a:gd name="T0" fmla="*/ 718 w 843"/>
                <a:gd name="T1" fmla="*/ 1768 h 1768"/>
                <a:gd name="T2" fmla="*/ 120 w 843"/>
                <a:gd name="T3" fmla="*/ 1768 h 1768"/>
                <a:gd name="T4" fmla="*/ 0 w 843"/>
                <a:gd name="T5" fmla="*/ 1648 h 1768"/>
                <a:gd name="T6" fmla="*/ 0 w 843"/>
                <a:gd name="T7" fmla="*/ 120 h 1768"/>
                <a:gd name="T8" fmla="*/ 120 w 843"/>
                <a:gd name="T9" fmla="*/ 0 h 1768"/>
                <a:gd name="T10" fmla="*/ 718 w 843"/>
                <a:gd name="T11" fmla="*/ 0 h 1768"/>
                <a:gd name="T12" fmla="*/ 843 w 843"/>
                <a:gd name="T13" fmla="*/ 125 h 1768"/>
                <a:gd name="T14" fmla="*/ 843 w 843"/>
                <a:gd name="T15" fmla="*/ 1643 h 1768"/>
                <a:gd name="T16" fmla="*/ 718 w 843"/>
                <a:gd name="T17" fmla="*/ 1768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3" h="1768">
                  <a:moveTo>
                    <a:pt x="718" y="1768"/>
                  </a:moveTo>
                  <a:cubicBezTo>
                    <a:pt x="120" y="1768"/>
                    <a:pt x="120" y="1768"/>
                    <a:pt x="120" y="1768"/>
                  </a:cubicBezTo>
                  <a:cubicBezTo>
                    <a:pt x="54" y="1768"/>
                    <a:pt x="0" y="1714"/>
                    <a:pt x="0" y="16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54"/>
                    <a:pt x="54" y="0"/>
                    <a:pt x="120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87" y="0"/>
                    <a:pt x="843" y="56"/>
                    <a:pt x="843" y="125"/>
                  </a:cubicBezTo>
                  <a:cubicBezTo>
                    <a:pt x="843" y="1643"/>
                    <a:pt x="843" y="1643"/>
                    <a:pt x="843" y="1643"/>
                  </a:cubicBezTo>
                  <a:cubicBezTo>
                    <a:pt x="843" y="1712"/>
                    <a:pt x="787" y="1768"/>
                    <a:pt x="718" y="176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6703042" y="1517904"/>
              <a:ext cx="3400495" cy="5900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pic>
          <p:nvPicPr>
            <p:cNvPr id="29" name="Picture 1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4638" y="7581801"/>
              <a:ext cx="649703" cy="645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Oval 29"/>
            <p:cNvSpPr>
              <a:spLocks noChangeArrowheads="1"/>
            </p:cNvSpPr>
            <p:nvPr userDrawn="1"/>
          </p:nvSpPr>
          <p:spPr bwMode="auto">
            <a:xfrm>
              <a:off x="8127831" y="7631194"/>
              <a:ext cx="547119" cy="547118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1" name="Oval 30"/>
            <p:cNvSpPr>
              <a:spLocks noChangeArrowheads="1"/>
            </p:cNvSpPr>
            <p:nvPr userDrawn="1"/>
          </p:nvSpPr>
          <p:spPr bwMode="auto">
            <a:xfrm>
              <a:off x="8340599" y="761816"/>
              <a:ext cx="102585" cy="102585"/>
            </a:xfrm>
            <a:prstGeom prst="ellipse">
              <a:avLst/>
            </a:pr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8089836" y="993582"/>
              <a:ext cx="615509" cy="83588"/>
            </a:xfrm>
            <a:custGeom>
              <a:avLst/>
              <a:gdLst>
                <a:gd name="T0" fmla="*/ 130 w 139"/>
                <a:gd name="T1" fmla="*/ 19 h 19"/>
                <a:gd name="T2" fmla="*/ 10 w 139"/>
                <a:gd name="T3" fmla="*/ 19 h 19"/>
                <a:gd name="T4" fmla="*/ 0 w 139"/>
                <a:gd name="T5" fmla="*/ 9 h 19"/>
                <a:gd name="T6" fmla="*/ 0 w 139"/>
                <a:gd name="T7" fmla="*/ 9 h 19"/>
                <a:gd name="T8" fmla="*/ 10 w 139"/>
                <a:gd name="T9" fmla="*/ 0 h 19"/>
                <a:gd name="T10" fmla="*/ 130 w 139"/>
                <a:gd name="T11" fmla="*/ 0 h 19"/>
                <a:gd name="T12" fmla="*/ 139 w 139"/>
                <a:gd name="T13" fmla="*/ 9 h 19"/>
                <a:gd name="T14" fmla="*/ 139 w 139"/>
                <a:gd name="T15" fmla="*/ 9 h 19"/>
                <a:gd name="T16" fmla="*/ 130 w 139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9">
                  <a:moveTo>
                    <a:pt x="130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19"/>
                    <a:pt x="0" y="15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5" y="0"/>
                    <a:pt x="139" y="4"/>
                    <a:pt x="139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9" y="15"/>
                    <a:pt x="135" y="19"/>
                    <a:pt x="130" y="19"/>
                  </a:cubicBezTo>
                  <a:close/>
                </a:path>
              </a:pathLst>
            </a:cu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3" name="Freeform 32"/>
            <p:cNvSpPr>
              <a:spLocks/>
            </p:cNvSpPr>
            <p:nvPr userDrawn="1"/>
          </p:nvSpPr>
          <p:spPr bwMode="auto">
            <a:xfrm>
              <a:off x="6467477" y="1536901"/>
              <a:ext cx="56992" cy="338150"/>
            </a:xfrm>
            <a:custGeom>
              <a:avLst/>
              <a:gdLst>
                <a:gd name="T0" fmla="*/ 0 w 13"/>
                <a:gd name="T1" fmla="*/ 4 h 77"/>
                <a:gd name="T2" fmla="*/ 0 w 13"/>
                <a:gd name="T3" fmla="*/ 73 h 77"/>
                <a:gd name="T4" fmla="*/ 4 w 13"/>
                <a:gd name="T5" fmla="*/ 77 h 77"/>
                <a:gd name="T6" fmla="*/ 9 w 13"/>
                <a:gd name="T7" fmla="*/ 77 h 77"/>
                <a:gd name="T8" fmla="*/ 13 w 13"/>
                <a:gd name="T9" fmla="*/ 73 h 77"/>
                <a:gd name="T10" fmla="*/ 13 w 13"/>
                <a:gd name="T11" fmla="*/ 4 h 77"/>
                <a:gd name="T12" fmla="*/ 9 w 13"/>
                <a:gd name="T13" fmla="*/ 0 h 77"/>
                <a:gd name="T14" fmla="*/ 4 w 13"/>
                <a:gd name="T15" fmla="*/ 0 h 77"/>
                <a:gd name="T16" fmla="*/ 0 w 13"/>
                <a:gd name="T17" fmla="*/ 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7">
                  <a:moveTo>
                    <a:pt x="0" y="4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2" y="77"/>
                    <a:pt x="4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11" y="77"/>
                    <a:pt x="13" y="75"/>
                    <a:pt x="13" y="7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4" name="Freeform 33"/>
            <p:cNvSpPr>
              <a:spLocks/>
            </p:cNvSpPr>
            <p:nvPr userDrawn="1"/>
          </p:nvSpPr>
          <p:spPr bwMode="auto">
            <a:xfrm>
              <a:off x="6467477" y="2232197"/>
              <a:ext cx="56992" cy="577514"/>
            </a:xfrm>
            <a:custGeom>
              <a:avLst/>
              <a:gdLst>
                <a:gd name="T0" fmla="*/ 0 w 13"/>
                <a:gd name="T1" fmla="*/ 4 h 131"/>
                <a:gd name="T2" fmla="*/ 0 w 13"/>
                <a:gd name="T3" fmla="*/ 127 h 131"/>
                <a:gd name="T4" fmla="*/ 4 w 13"/>
                <a:gd name="T5" fmla="*/ 131 h 131"/>
                <a:gd name="T6" fmla="*/ 9 w 13"/>
                <a:gd name="T7" fmla="*/ 131 h 131"/>
                <a:gd name="T8" fmla="*/ 13 w 13"/>
                <a:gd name="T9" fmla="*/ 127 h 131"/>
                <a:gd name="T10" fmla="*/ 13 w 13"/>
                <a:gd name="T11" fmla="*/ 4 h 131"/>
                <a:gd name="T12" fmla="*/ 9 w 13"/>
                <a:gd name="T13" fmla="*/ 0 h 131"/>
                <a:gd name="T14" fmla="*/ 4 w 13"/>
                <a:gd name="T15" fmla="*/ 0 h 131"/>
                <a:gd name="T16" fmla="*/ 0 w 13"/>
                <a:gd name="T17" fmla="*/ 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31">
                  <a:moveTo>
                    <a:pt x="0" y="4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0" y="129"/>
                    <a:pt x="2" y="131"/>
                    <a:pt x="4" y="131"/>
                  </a:cubicBezTo>
                  <a:cubicBezTo>
                    <a:pt x="9" y="131"/>
                    <a:pt x="9" y="131"/>
                    <a:pt x="9" y="131"/>
                  </a:cubicBezTo>
                  <a:cubicBezTo>
                    <a:pt x="11" y="131"/>
                    <a:pt x="13" y="129"/>
                    <a:pt x="13" y="12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5" name="Freeform 34"/>
            <p:cNvSpPr>
              <a:spLocks/>
            </p:cNvSpPr>
            <p:nvPr userDrawn="1"/>
          </p:nvSpPr>
          <p:spPr bwMode="auto">
            <a:xfrm>
              <a:off x="6467477" y="2950291"/>
              <a:ext cx="56992" cy="569915"/>
            </a:xfrm>
            <a:custGeom>
              <a:avLst/>
              <a:gdLst>
                <a:gd name="T0" fmla="*/ 0 w 13"/>
                <a:gd name="T1" fmla="*/ 3 h 130"/>
                <a:gd name="T2" fmla="*/ 0 w 13"/>
                <a:gd name="T3" fmla="*/ 127 h 130"/>
                <a:gd name="T4" fmla="*/ 4 w 13"/>
                <a:gd name="T5" fmla="*/ 130 h 130"/>
                <a:gd name="T6" fmla="*/ 9 w 13"/>
                <a:gd name="T7" fmla="*/ 130 h 130"/>
                <a:gd name="T8" fmla="*/ 13 w 13"/>
                <a:gd name="T9" fmla="*/ 127 h 130"/>
                <a:gd name="T10" fmla="*/ 13 w 13"/>
                <a:gd name="T11" fmla="*/ 3 h 130"/>
                <a:gd name="T12" fmla="*/ 9 w 13"/>
                <a:gd name="T13" fmla="*/ 0 h 130"/>
                <a:gd name="T14" fmla="*/ 4 w 13"/>
                <a:gd name="T15" fmla="*/ 0 h 130"/>
                <a:gd name="T16" fmla="*/ 0 w 13"/>
                <a:gd name="T17" fmla="*/ 3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30">
                  <a:moveTo>
                    <a:pt x="0" y="3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0" y="129"/>
                    <a:pt x="2" y="130"/>
                    <a:pt x="4" y="130"/>
                  </a:cubicBezTo>
                  <a:cubicBezTo>
                    <a:pt x="9" y="130"/>
                    <a:pt x="9" y="130"/>
                    <a:pt x="9" y="130"/>
                  </a:cubicBezTo>
                  <a:cubicBezTo>
                    <a:pt x="11" y="130"/>
                    <a:pt x="13" y="129"/>
                    <a:pt x="13" y="127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 userDrawn="1"/>
          </p:nvSpPr>
          <p:spPr bwMode="auto">
            <a:xfrm>
              <a:off x="6486474" y="7718581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 userDrawn="1"/>
          </p:nvSpPr>
          <p:spPr bwMode="auto">
            <a:xfrm>
              <a:off x="10263114" y="7718581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 userDrawn="1"/>
          </p:nvSpPr>
          <p:spPr bwMode="auto">
            <a:xfrm>
              <a:off x="6486474" y="1145559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9" name="Rectangle 38"/>
            <p:cNvSpPr>
              <a:spLocks noChangeArrowheads="1"/>
            </p:cNvSpPr>
            <p:nvPr userDrawn="1"/>
          </p:nvSpPr>
          <p:spPr bwMode="auto">
            <a:xfrm>
              <a:off x="10263114" y="1145559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0" name="Oval 39"/>
            <p:cNvSpPr>
              <a:spLocks noChangeArrowheads="1"/>
            </p:cNvSpPr>
            <p:nvPr userDrawn="1"/>
          </p:nvSpPr>
          <p:spPr bwMode="auto">
            <a:xfrm>
              <a:off x="7740288" y="970785"/>
              <a:ext cx="140579" cy="140579"/>
            </a:xfrm>
            <a:prstGeom prst="ellipse">
              <a:avLst/>
            </a:pr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grpSp>
        <p:nvGrpSpPr>
          <p:cNvPr id="41" name="Group 40"/>
          <p:cNvGrpSpPr/>
          <p:nvPr userDrawn="1"/>
        </p:nvGrpSpPr>
        <p:grpSpPr>
          <a:xfrm>
            <a:off x="8879615" y="731462"/>
            <a:ext cx="2662371" cy="5395077"/>
            <a:chOff x="6467477" y="549048"/>
            <a:chExt cx="3883024" cy="7868629"/>
          </a:xfrm>
        </p:grpSpPr>
        <p:sp>
          <p:nvSpPr>
            <p:cNvPr id="42" name="Freeform 5"/>
            <p:cNvSpPr>
              <a:spLocks/>
            </p:cNvSpPr>
            <p:nvPr userDrawn="1"/>
          </p:nvSpPr>
          <p:spPr bwMode="auto">
            <a:xfrm>
              <a:off x="10301108" y="2201802"/>
              <a:ext cx="49393" cy="554717"/>
            </a:xfrm>
            <a:custGeom>
              <a:avLst/>
              <a:gdLst>
                <a:gd name="T0" fmla="*/ 0 w 11"/>
                <a:gd name="T1" fmla="*/ 4 h 126"/>
                <a:gd name="T2" fmla="*/ 0 w 11"/>
                <a:gd name="T3" fmla="*/ 123 h 126"/>
                <a:gd name="T4" fmla="*/ 3 w 11"/>
                <a:gd name="T5" fmla="*/ 126 h 126"/>
                <a:gd name="T6" fmla="*/ 8 w 11"/>
                <a:gd name="T7" fmla="*/ 126 h 126"/>
                <a:gd name="T8" fmla="*/ 11 w 11"/>
                <a:gd name="T9" fmla="*/ 123 h 126"/>
                <a:gd name="T10" fmla="*/ 11 w 11"/>
                <a:gd name="T11" fmla="*/ 4 h 126"/>
                <a:gd name="T12" fmla="*/ 8 w 11"/>
                <a:gd name="T13" fmla="*/ 0 h 126"/>
                <a:gd name="T14" fmla="*/ 3 w 11"/>
                <a:gd name="T15" fmla="*/ 0 h 126"/>
                <a:gd name="T16" fmla="*/ 0 w 11"/>
                <a:gd name="T17" fmla="*/ 4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26">
                  <a:moveTo>
                    <a:pt x="0" y="4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5"/>
                    <a:pt x="1" y="126"/>
                    <a:pt x="3" y="126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9" y="126"/>
                    <a:pt x="11" y="125"/>
                    <a:pt x="11" y="12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2"/>
                    <a:pt x="9" y="0"/>
                    <a:pt x="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3" name="Rectangle 6"/>
            <p:cNvSpPr>
              <a:spLocks noChangeArrowheads="1"/>
            </p:cNvSpPr>
            <p:nvPr userDrawn="1"/>
          </p:nvSpPr>
          <p:spPr bwMode="auto">
            <a:xfrm>
              <a:off x="10263114" y="7684386"/>
              <a:ext cx="53192" cy="13678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4" name="Rectangle 7"/>
            <p:cNvSpPr>
              <a:spLocks noChangeArrowheads="1"/>
            </p:cNvSpPr>
            <p:nvPr userDrawn="1"/>
          </p:nvSpPr>
          <p:spPr bwMode="auto">
            <a:xfrm>
              <a:off x="10263114" y="1111364"/>
              <a:ext cx="53192" cy="13678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5" name="Freeform 8"/>
            <p:cNvSpPr>
              <a:spLocks noEditPoints="1"/>
            </p:cNvSpPr>
            <p:nvPr userDrawn="1"/>
          </p:nvSpPr>
          <p:spPr bwMode="auto">
            <a:xfrm>
              <a:off x="6486474" y="549048"/>
              <a:ext cx="3829832" cy="7868629"/>
            </a:xfrm>
            <a:custGeom>
              <a:avLst/>
              <a:gdLst>
                <a:gd name="T0" fmla="*/ 738 w 868"/>
                <a:gd name="T1" fmla="*/ 0 h 1791"/>
                <a:gd name="T2" fmla="*/ 127 w 868"/>
                <a:gd name="T3" fmla="*/ 0 h 1791"/>
                <a:gd name="T4" fmla="*/ 0 w 868"/>
                <a:gd name="T5" fmla="*/ 128 h 1791"/>
                <a:gd name="T6" fmla="*/ 0 w 868"/>
                <a:gd name="T7" fmla="*/ 1664 h 1791"/>
                <a:gd name="T8" fmla="*/ 127 w 868"/>
                <a:gd name="T9" fmla="*/ 1791 h 1791"/>
                <a:gd name="T10" fmla="*/ 738 w 868"/>
                <a:gd name="T11" fmla="*/ 1791 h 1791"/>
                <a:gd name="T12" fmla="*/ 868 w 868"/>
                <a:gd name="T13" fmla="*/ 1664 h 1791"/>
                <a:gd name="T14" fmla="*/ 868 w 868"/>
                <a:gd name="T15" fmla="*/ 128 h 1791"/>
                <a:gd name="T16" fmla="*/ 738 w 868"/>
                <a:gd name="T17" fmla="*/ 0 h 1791"/>
                <a:gd name="T18" fmla="*/ 847 w 868"/>
                <a:gd name="T19" fmla="*/ 1654 h 1791"/>
                <a:gd name="T20" fmla="*/ 732 w 868"/>
                <a:gd name="T21" fmla="*/ 1769 h 1791"/>
                <a:gd name="T22" fmla="*/ 134 w 868"/>
                <a:gd name="T23" fmla="*/ 1769 h 1791"/>
                <a:gd name="T24" fmla="*/ 19 w 868"/>
                <a:gd name="T25" fmla="*/ 1654 h 1791"/>
                <a:gd name="T26" fmla="*/ 19 w 868"/>
                <a:gd name="T27" fmla="*/ 131 h 1791"/>
                <a:gd name="T28" fmla="*/ 134 w 868"/>
                <a:gd name="T29" fmla="*/ 16 h 1791"/>
                <a:gd name="T30" fmla="*/ 732 w 868"/>
                <a:gd name="T31" fmla="*/ 16 h 1791"/>
                <a:gd name="T32" fmla="*/ 847 w 868"/>
                <a:gd name="T33" fmla="*/ 131 h 1791"/>
                <a:gd name="T34" fmla="*/ 847 w 868"/>
                <a:gd name="T35" fmla="*/ 1654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8" h="1791">
                  <a:moveTo>
                    <a:pt x="738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57" y="0"/>
                    <a:pt x="0" y="57"/>
                    <a:pt x="0" y="128"/>
                  </a:cubicBezTo>
                  <a:cubicBezTo>
                    <a:pt x="0" y="1664"/>
                    <a:pt x="0" y="1664"/>
                    <a:pt x="0" y="1664"/>
                  </a:cubicBezTo>
                  <a:cubicBezTo>
                    <a:pt x="0" y="1734"/>
                    <a:pt x="57" y="1791"/>
                    <a:pt x="127" y="1791"/>
                  </a:cubicBezTo>
                  <a:cubicBezTo>
                    <a:pt x="738" y="1791"/>
                    <a:pt x="738" y="1791"/>
                    <a:pt x="738" y="1791"/>
                  </a:cubicBezTo>
                  <a:cubicBezTo>
                    <a:pt x="809" y="1791"/>
                    <a:pt x="866" y="1734"/>
                    <a:pt x="868" y="1664"/>
                  </a:cubicBezTo>
                  <a:cubicBezTo>
                    <a:pt x="868" y="128"/>
                    <a:pt x="868" y="128"/>
                    <a:pt x="868" y="128"/>
                  </a:cubicBezTo>
                  <a:cubicBezTo>
                    <a:pt x="866" y="57"/>
                    <a:pt x="809" y="0"/>
                    <a:pt x="738" y="0"/>
                  </a:cubicBezTo>
                  <a:close/>
                  <a:moveTo>
                    <a:pt x="847" y="1654"/>
                  </a:moveTo>
                  <a:cubicBezTo>
                    <a:pt x="847" y="1718"/>
                    <a:pt x="796" y="1769"/>
                    <a:pt x="732" y="1769"/>
                  </a:cubicBezTo>
                  <a:cubicBezTo>
                    <a:pt x="134" y="1769"/>
                    <a:pt x="134" y="1769"/>
                    <a:pt x="134" y="1769"/>
                  </a:cubicBezTo>
                  <a:cubicBezTo>
                    <a:pt x="71" y="1769"/>
                    <a:pt x="19" y="1718"/>
                    <a:pt x="19" y="165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19" y="68"/>
                    <a:pt x="71" y="16"/>
                    <a:pt x="134" y="16"/>
                  </a:cubicBezTo>
                  <a:cubicBezTo>
                    <a:pt x="732" y="16"/>
                    <a:pt x="732" y="16"/>
                    <a:pt x="732" y="16"/>
                  </a:cubicBezTo>
                  <a:cubicBezTo>
                    <a:pt x="796" y="16"/>
                    <a:pt x="847" y="68"/>
                    <a:pt x="847" y="131"/>
                  </a:cubicBezTo>
                  <a:lnTo>
                    <a:pt x="847" y="1654"/>
                  </a:ln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6" name="Freeform 9"/>
            <p:cNvSpPr>
              <a:spLocks/>
            </p:cNvSpPr>
            <p:nvPr userDrawn="1"/>
          </p:nvSpPr>
          <p:spPr bwMode="auto">
            <a:xfrm>
              <a:off x="6543466" y="602240"/>
              <a:ext cx="3719648" cy="7766044"/>
            </a:xfrm>
            <a:custGeom>
              <a:avLst/>
              <a:gdLst>
                <a:gd name="T0" fmla="*/ 718 w 843"/>
                <a:gd name="T1" fmla="*/ 1768 h 1768"/>
                <a:gd name="T2" fmla="*/ 120 w 843"/>
                <a:gd name="T3" fmla="*/ 1768 h 1768"/>
                <a:gd name="T4" fmla="*/ 0 w 843"/>
                <a:gd name="T5" fmla="*/ 1648 h 1768"/>
                <a:gd name="T6" fmla="*/ 0 w 843"/>
                <a:gd name="T7" fmla="*/ 120 h 1768"/>
                <a:gd name="T8" fmla="*/ 120 w 843"/>
                <a:gd name="T9" fmla="*/ 0 h 1768"/>
                <a:gd name="T10" fmla="*/ 718 w 843"/>
                <a:gd name="T11" fmla="*/ 0 h 1768"/>
                <a:gd name="T12" fmla="*/ 843 w 843"/>
                <a:gd name="T13" fmla="*/ 125 h 1768"/>
                <a:gd name="T14" fmla="*/ 843 w 843"/>
                <a:gd name="T15" fmla="*/ 1643 h 1768"/>
                <a:gd name="T16" fmla="*/ 718 w 843"/>
                <a:gd name="T17" fmla="*/ 1768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3" h="1768">
                  <a:moveTo>
                    <a:pt x="718" y="1768"/>
                  </a:moveTo>
                  <a:cubicBezTo>
                    <a:pt x="120" y="1768"/>
                    <a:pt x="120" y="1768"/>
                    <a:pt x="120" y="1768"/>
                  </a:cubicBezTo>
                  <a:cubicBezTo>
                    <a:pt x="54" y="1768"/>
                    <a:pt x="0" y="1714"/>
                    <a:pt x="0" y="16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54"/>
                    <a:pt x="54" y="0"/>
                    <a:pt x="120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87" y="0"/>
                    <a:pt x="843" y="56"/>
                    <a:pt x="843" y="125"/>
                  </a:cubicBezTo>
                  <a:cubicBezTo>
                    <a:pt x="843" y="1643"/>
                    <a:pt x="843" y="1643"/>
                    <a:pt x="843" y="1643"/>
                  </a:cubicBezTo>
                  <a:cubicBezTo>
                    <a:pt x="843" y="1712"/>
                    <a:pt x="787" y="1768"/>
                    <a:pt x="718" y="176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7" name="Rectangle 10"/>
            <p:cNvSpPr>
              <a:spLocks noChangeArrowheads="1"/>
            </p:cNvSpPr>
            <p:nvPr userDrawn="1"/>
          </p:nvSpPr>
          <p:spPr bwMode="auto">
            <a:xfrm>
              <a:off x="6703042" y="1517904"/>
              <a:ext cx="3400495" cy="5900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pic>
          <p:nvPicPr>
            <p:cNvPr id="48" name="Picture 1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4638" y="7581801"/>
              <a:ext cx="649703" cy="645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Oval 48"/>
            <p:cNvSpPr>
              <a:spLocks noChangeArrowheads="1"/>
            </p:cNvSpPr>
            <p:nvPr userDrawn="1"/>
          </p:nvSpPr>
          <p:spPr bwMode="auto">
            <a:xfrm>
              <a:off x="8127831" y="7631194"/>
              <a:ext cx="547119" cy="547118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 userDrawn="1"/>
          </p:nvSpPr>
          <p:spPr bwMode="auto">
            <a:xfrm>
              <a:off x="8340599" y="761816"/>
              <a:ext cx="102585" cy="102585"/>
            </a:xfrm>
            <a:prstGeom prst="ellipse">
              <a:avLst/>
            </a:pr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1" name="Freeform 50"/>
            <p:cNvSpPr>
              <a:spLocks/>
            </p:cNvSpPr>
            <p:nvPr userDrawn="1"/>
          </p:nvSpPr>
          <p:spPr bwMode="auto">
            <a:xfrm>
              <a:off x="8089836" y="993582"/>
              <a:ext cx="615509" cy="83588"/>
            </a:xfrm>
            <a:custGeom>
              <a:avLst/>
              <a:gdLst>
                <a:gd name="T0" fmla="*/ 130 w 139"/>
                <a:gd name="T1" fmla="*/ 19 h 19"/>
                <a:gd name="T2" fmla="*/ 10 w 139"/>
                <a:gd name="T3" fmla="*/ 19 h 19"/>
                <a:gd name="T4" fmla="*/ 0 w 139"/>
                <a:gd name="T5" fmla="*/ 9 h 19"/>
                <a:gd name="T6" fmla="*/ 0 w 139"/>
                <a:gd name="T7" fmla="*/ 9 h 19"/>
                <a:gd name="T8" fmla="*/ 10 w 139"/>
                <a:gd name="T9" fmla="*/ 0 h 19"/>
                <a:gd name="T10" fmla="*/ 130 w 139"/>
                <a:gd name="T11" fmla="*/ 0 h 19"/>
                <a:gd name="T12" fmla="*/ 139 w 139"/>
                <a:gd name="T13" fmla="*/ 9 h 19"/>
                <a:gd name="T14" fmla="*/ 139 w 139"/>
                <a:gd name="T15" fmla="*/ 9 h 19"/>
                <a:gd name="T16" fmla="*/ 130 w 139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9">
                  <a:moveTo>
                    <a:pt x="130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19"/>
                    <a:pt x="0" y="15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5" y="0"/>
                    <a:pt x="139" y="4"/>
                    <a:pt x="139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9" y="15"/>
                    <a:pt x="135" y="19"/>
                    <a:pt x="130" y="19"/>
                  </a:cubicBezTo>
                  <a:close/>
                </a:path>
              </a:pathLst>
            </a:cu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2" name="Freeform 51"/>
            <p:cNvSpPr>
              <a:spLocks/>
            </p:cNvSpPr>
            <p:nvPr userDrawn="1"/>
          </p:nvSpPr>
          <p:spPr bwMode="auto">
            <a:xfrm>
              <a:off x="6467477" y="1536901"/>
              <a:ext cx="56992" cy="338150"/>
            </a:xfrm>
            <a:custGeom>
              <a:avLst/>
              <a:gdLst>
                <a:gd name="T0" fmla="*/ 0 w 13"/>
                <a:gd name="T1" fmla="*/ 4 h 77"/>
                <a:gd name="T2" fmla="*/ 0 w 13"/>
                <a:gd name="T3" fmla="*/ 73 h 77"/>
                <a:gd name="T4" fmla="*/ 4 w 13"/>
                <a:gd name="T5" fmla="*/ 77 h 77"/>
                <a:gd name="T6" fmla="*/ 9 w 13"/>
                <a:gd name="T7" fmla="*/ 77 h 77"/>
                <a:gd name="T8" fmla="*/ 13 w 13"/>
                <a:gd name="T9" fmla="*/ 73 h 77"/>
                <a:gd name="T10" fmla="*/ 13 w 13"/>
                <a:gd name="T11" fmla="*/ 4 h 77"/>
                <a:gd name="T12" fmla="*/ 9 w 13"/>
                <a:gd name="T13" fmla="*/ 0 h 77"/>
                <a:gd name="T14" fmla="*/ 4 w 13"/>
                <a:gd name="T15" fmla="*/ 0 h 77"/>
                <a:gd name="T16" fmla="*/ 0 w 13"/>
                <a:gd name="T17" fmla="*/ 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7">
                  <a:moveTo>
                    <a:pt x="0" y="4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2" y="77"/>
                    <a:pt x="4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11" y="77"/>
                    <a:pt x="13" y="75"/>
                    <a:pt x="13" y="7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3" name="Freeform 52"/>
            <p:cNvSpPr>
              <a:spLocks/>
            </p:cNvSpPr>
            <p:nvPr userDrawn="1"/>
          </p:nvSpPr>
          <p:spPr bwMode="auto">
            <a:xfrm>
              <a:off x="6467477" y="2232197"/>
              <a:ext cx="56992" cy="577514"/>
            </a:xfrm>
            <a:custGeom>
              <a:avLst/>
              <a:gdLst>
                <a:gd name="T0" fmla="*/ 0 w 13"/>
                <a:gd name="T1" fmla="*/ 4 h 131"/>
                <a:gd name="T2" fmla="*/ 0 w 13"/>
                <a:gd name="T3" fmla="*/ 127 h 131"/>
                <a:gd name="T4" fmla="*/ 4 w 13"/>
                <a:gd name="T5" fmla="*/ 131 h 131"/>
                <a:gd name="T6" fmla="*/ 9 w 13"/>
                <a:gd name="T7" fmla="*/ 131 h 131"/>
                <a:gd name="T8" fmla="*/ 13 w 13"/>
                <a:gd name="T9" fmla="*/ 127 h 131"/>
                <a:gd name="T10" fmla="*/ 13 w 13"/>
                <a:gd name="T11" fmla="*/ 4 h 131"/>
                <a:gd name="T12" fmla="*/ 9 w 13"/>
                <a:gd name="T13" fmla="*/ 0 h 131"/>
                <a:gd name="T14" fmla="*/ 4 w 13"/>
                <a:gd name="T15" fmla="*/ 0 h 131"/>
                <a:gd name="T16" fmla="*/ 0 w 13"/>
                <a:gd name="T17" fmla="*/ 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31">
                  <a:moveTo>
                    <a:pt x="0" y="4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0" y="129"/>
                    <a:pt x="2" y="131"/>
                    <a:pt x="4" y="131"/>
                  </a:cubicBezTo>
                  <a:cubicBezTo>
                    <a:pt x="9" y="131"/>
                    <a:pt x="9" y="131"/>
                    <a:pt x="9" y="131"/>
                  </a:cubicBezTo>
                  <a:cubicBezTo>
                    <a:pt x="11" y="131"/>
                    <a:pt x="13" y="129"/>
                    <a:pt x="13" y="12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4" name="Freeform 53"/>
            <p:cNvSpPr>
              <a:spLocks/>
            </p:cNvSpPr>
            <p:nvPr userDrawn="1"/>
          </p:nvSpPr>
          <p:spPr bwMode="auto">
            <a:xfrm>
              <a:off x="6467477" y="2950291"/>
              <a:ext cx="56992" cy="569915"/>
            </a:xfrm>
            <a:custGeom>
              <a:avLst/>
              <a:gdLst>
                <a:gd name="T0" fmla="*/ 0 w 13"/>
                <a:gd name="T1" fmla="*/ 3 h 130"/>
                <a:gd name="T2" fmla="*/ 0 w 13"/>
                <a:gd name="T3" fmla="*/ 127 h 130"/>
                <a:gd name="T4" fmla="*/ 4 w 13"/>
                <a:gd name="T5" fmla="*/ 130 h 130"/>
                <a:gd name="T6" fmla="*/ 9 w 13"/>
                <a:gd name="T7" fmla="*/ 130 h 130"/>
                <a:gd name="T8" fmla="*/ 13 w 13"/>
                <a:gd name="T9" fmla="*/ 127 h 130"/>
                <a:gd name="T10" fmla="*/ 13 w 13"/>
                <a:gd name="T11" fmla="*/ 3 h 130"/>
                <a:gd name="T12" fmla="*/ 9 w 13"/>
                <a:gd name="T13" fmla="*/ 0 h 130"/>
                <a:gd name="T14" fmla="*/ 4 w 13"/>
                <a:gd name="T15" fmla="*/ 0 h 130"/>
                <a:gd name="T16" fmla="*/ 0 w 13"/>
                <a:gd name="T17" fmla="*/ 3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30">
                  <a:moveTo>
                    <a:pt x="0" y="3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0" y="129"/>
                    <a:pt x="2" y="130"/>
                    <a:pt x="4" y="130"/>
                  </a:cubicBezTo>
                  <a:cubicBezTo>
                    <a:pt x="9" y="130"/>
                    <a:pt x="9" y="130"/>
                    <a:pt x="9" y="130"/>
                  </a:cubicBezTo>
                  <a:cubicBezTo>
                    <a:pt x="11" y="130"/>
                    <a:pt x="13" y="129"/>
                    <a:pt x="13" y="127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F9E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5" name="Rectangle 54"/>
            <p:cNvSpPr>
              <a:spLocks noChangeArrowheads="1"/>
            </p:cNvSpPr>
            <p:nvPr userDrawn="1"/>
          </p:nvSpPr>
          <p:spPr bwMode="auto">
            <a:xfrm>
              <a:off x="6486474" y="7718581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6" name="Rectangle 55"/>
            <p:cNvSpPr>
              <a:spLocks noChangeArrowheads="1"/>
            </p:cNvSpPr>
            <p:nvPr userDrawn="1"/>
          </p:nvSpPr>
          <p:spPr bwMode="auto">
            <a:xfrm>
              <a:off x="10263114" y="7718581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7" name="Rectangle 56"/>
            <p:cNvSpPr>
              <a:spLocks noChangeArrowheads="1"/>
            </p:cNvSpPr>
            <p:nvPr userDrawn="1"/>
          </p:nvSpPr>
          <p:spPr bwMode="auto">
            <a:xfrm>
              <a:off x="6486474" y="1145559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8" name="Rectangle 57"/>
            <p:cNvSpPr>
              <a:spLocks noChangeArrowheads="1"/>
            </p:cNvSpPr>
            <p:nvPr userDrawn="1"/>
          </p:nvSpPr>
          <p:spPr bwMode="auto">
            <a:xfrm>
              <a:off x="10263114" y="1145559"/>
              <a:ext cx="53192" cy="13678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59" name="Oval 58"/>
            <p:cNvSpPr>
              <a:spLocks noChangeArrowheads="1"/>
            </p:cNvSpPr>
            <p:nvPr userDrawn="1"/>
          </p:nvSpPr>
          <p:spPr bwMode="auto">
            <a:xfrm>
              <a:off x="7740288" y="970785"/>
              <a:ext cx="140579" cy="140579"/>
            </a:xfrm>
            <a:prstGeom prst="ellipse">
              <a:avLst/>
            </a:prstGeom>
            <a:solidFill>
              <a:srgbClr val="3C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sp>
        <p:nvSpPr>
          <p:cNvPr id="61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4913304" y="1385332"/>
            <a:ext cx="2331529" cy="40560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62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9041128" y="1385332"/>
            <a:ext cx="2331529" cy="40560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80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- Fullscreen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Freeform 438"/>
          <p:cNvSpPr>
            <a:spLocks/>
          </p:cNvSpPr>
          <p:nvPr userDrawn="1"/>
        </p:nvSpPr>
        <p:spPr bwMode="auto">
          <a:xfrm>
            <a:off x="1051444" y="545122"/>
            <a:ext cx="10091632" cy="6312878"/>
          </a:xfrm>
          <a:custGeom>
            <a:avLst/>
            <a:gdLst>
              <a:gd name="connsiteX0" fmla="*/ 348984 w 10091632"/>
              <a:gd name="connsiteY0" fmla="*/ 0 h 6312878"/>
              <a:gd name="connsiteX1" fmla="*/ 9742648 w 10091632"/>
              <a:gd name="connsiteY1" fmla="*/ 0 h 6312878"/>
              <a:gd name="connsiteX2" fmla="*/ 10091632 w 10091632"/>
              <a:gd name="connsiteY2" fmla="*/ 348762 h 6312878"/>
              <a:gd name="connsiteX3" fmla="*/ 10091632 w 10091632"/>
              <a:gd name="connsiteY3" fmla="*/ 6312878 h 6312878"/>
              <a:gd name="connsiteX4" fmla="*/ 0 w 10091632"/>
              <a:gd name="connsiteY4" fmla="*/ 6312878 h 6312878"/>
              <a:gd name="connsiteX5" fmla="*/ 0 w 10091632"/>
              <a:gd name="connsiteY5" fmla="*/ 6096526 h 6312878"/>
              <a:gd name="connsiteX6" fmla="*/ 0 w 10091632"/>
              <a:gd name="connsiteY6" fmla="*/ 348762 h 6312878"/>
              <a:gd name="connsiteX7" fmla="*/ 348984 w 10091632"/>
              <a:gd name="connsiteY7" fmla="*/ 0 h 631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91632" h="6312878">
                <a:moveTo>
                  <a:pt x="348984" y="0"/>
                </a:moveTo>
                <a:cubicBezTo>
                  <a:pt x="9742648" y="0"/>
                  <a:pt x="9742648" y="0"/>
                  <a:pt x="9742648" y="0"/>
                </a:cubicBezTo>
                <a:cubicBezTo>
                  <a:pt x="9933811" y="0"/>
                  <a:pt x="10091632" y="157720"/>
                  <a:pt x="10091632" y="348762"/>
                </a:cubicBezTo>
                <a:lnTo>
                  <a:pt x="10091632" y="6312878"/>
                </a:lnTo>
                <a:lnTo>
                  <a:pt x="0" y="6312878"/>
                </a:lnTo>
                <a:lnTo>
                  <a:pt x="0" y="6096526"/>
                </a:lnTo>
                <a:cubicBezTo>
                  <a:pt x="0" y="348762"/>
                  <a:pt x="0" y="348762"/>
                  <a:pt x="0" y="348762"/>
                </a:cubicBezTo>
                <a:cubicBezTo>
                  <a:pt x="0" y="157720"/>
                  <a:pt x="157821" y="0"/>
                  <a:pt x="348984" y="0"/>
                </a:cubicBezTo>
                <a:close/>
              </a:path>
            </a:pathLst>
          </a:custGeom>
          <a:solidFill>
            <a:srgbClr val="3335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40" name="Freeform 439"/>
          <p:cNvSpPr>
            <a:spLocks/>
          </p:cNvSpPr>
          <p:nvPr userDrawn="1"/>
        </p:nvSpPr>
        <p:spPr bwMode="auto">
          <a:xfrm>
            <a:off x="1060009" y="553688"/>
            <a:ext cx="10074498" cy="6304312"/>
          </a:xfrm>
          <a:custGeom>
            <a:avLst/>
            <a:gdLst>
              <a:gd name="connsiteX0" fmla="*/ 340040 w 10074498"/>
              <a:gd name="connsiteY0" fmla="*/ 0 h 6304312"/>
              <a:gd name="connsiteX1" fmla="*/ 9732236 w 10074498"/>
              <a:gd name="connsiteY1" fmla="*/ 0 h 6304312"/>
              <a:gd name="connsiteX2" fmla="*/ 10074498 w 10074498"/>
              <a:gd name="connsiteY2" fmla="*/ 341881 h 6304312"/>
              <a:gd name="connsiteX3" fmla="*/ 10074498 w 10074498"/>
              <a:gd name="connsiteY3" fmla="*/ 6236397 h 6304312"/>
              <a:gd name="connsiteX4" fmla="*/ 10074498 w 10074498"/>
              <a:gd name="connsiteY4" fmla="*/ 6304312 h 6304312"/>
              <a:gd name="connsiteX5" fmla="*/ 0 w 10074498"/>
              <a:gd name="connsiteY5" fmla="*/ 6304312 h 6304312"/>
              <a:gd name="connsiteX6" fmla="*/ 0 w 10074498"/>
              <a:gd name="connsiteY6" fmla="*/ 6086003 h 6304312"/>
              <a:gd name="connsiteX7" fmla="*/ 0 w 10074498"/>
              <a:gd name="connsiteY7" fmla="*/ 341881 h 6304312"/>
              <a:gd name="connsiteX8" fmla="*/ 340040 w 10074498"/>
              <a:gd name="connsiteY8" fmla="*/ 0 h 63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74498" h="6304312">
                <a:moveTo>
                  <a:pt x="340040" y="0"/>
                </a:moveTo>
                <a:cubicBezTo>
                  <a:pt x="9732236" y="0"/>
                  <a:pt x="9732236" y="0"/>
                  <a:pt x="9732236" y="0"/>
                </a:cubicBezTo>
                <a:cubicBezTo>
                  <a:pt x="9921147" y="0"/>
                  <a:pt x="10074498" y="153180"/>
                  <a:pt x="10074498" y="341881"/>
                </a:cubicBezTo>
                <a:cubicBezTo>
                  <a:pt x="10074498" y="4093270"/>
                  <a:pt x="10074498" y="5617272"/>
                  <a:pt x="10074498" y="6236397"/>
                </a:cubicBezTo>
                <a:lnTo>
                  <a:pt x="10074498" y="6304312"/>
                </a:lnTo>
                <a:lnTo>
                  <a:pt x="0" y="6304312"/>
                </a:lnTo>
                <a:lnTo>
                  <a:pt x="0" y="6086003"/>
                </a:lnTo>
                <a:cubicBezTo>
                  <a:pt x="0" y="341881"/>
                  <a:pt x="0" y="341881"/>
                  <a:pt x="0" y="341881"/>
                </a:cubicBezTo>
                <a:cubicBezTo>
                  <a:pt x="0" y="153180"/>
                  <a:pt x="153351" y="0"/>
                  <a:pt x="340040" y="0"/>
                </a:cubicBezTo>
                <a:close/>
              </a:path>
            </a:pathLst>
          </a:custGeom>
          <a:solidFill>
            <a:srgbClr val="0101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41" name="Oval 398"/>
          <p:cNvSpPr>
            <a:spLocks noChangeArrowheads="1"/>
          </p:cNvSpPr>
          <p:nvPr userDrawn="1"/>
        </p:nvSpPr>
        <p:spPr bwMode="auto">
          <a:xfrm>
            <a:off x="6060137" y="770713"/>
            <a:ext cx="79956" cy="79956"/>
          </a:xfrm>
          <a:prstGeom prst="ellipse">
            <a:avLst/>
          </a:prstGeom>
          <a:solidFill>
            <a:srgbClr val="19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42" name="Oval 399"/>
          <p:cNvSpPr>
            <a:spLocks noChangeArrowheads="1"/>
          </p:cNvSpPr>
          <p:nvPr userDrawn="1"/>
        </p:nvSpPr>
        <p:spPr bwMode="auto">
          <a:xfrm>
            <a:off x="6080125" y="790703"/>
            <a:ext cx="39978" cy="39978"/>
          </a:xfrm>
          <a:prstGeom prst="ellipse">
            <a:avLst/>
          </a:prstGeom>
          <a:solidFill>
            <a:srgbClr val="0001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43" name="Oval 400"/>
          <p:cNvSpPr>
            <a:spLocks noChangeArrowheads="1"/>
          </p:cNvSpPr>
          <p:nvPr userDrawn="1"/>
        </p:nvSpPr>
        <p:spPr bwMode="auto">
          <a:xfrm>
            <a:off x="6091547" y="793557"/>
            <a:ext cx="14279" cy="11422"/>
          </a:xfrm>
          <a:prstGeom prst="ellipse">
            <a:avLst/>
          </a:prstGeom>
          <a:solidFill>
            <a:srgbClr val="272A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44" name="Oval 401"/>
          <p:cNvSpPr>
            <a:spLocks noChangeArrowheads="1"/>
          </p:cNvSpPr>
          <p:nvPr userDrawn="1"/>
        </p:nvSpPr>
        <p:spPr bwMode="auto">
          <a:xfrm>
            <a:off x="6091547" y="813547"/>
            <a:ext cx="14279" cy="14279"/>
          </a:xfrm>
          <a:prstGeom prst="ellipse">
            <a:avLst/>
          </a:prstGeom>
          <a:solidFill>
            <a:srgbClr val="272A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45" name="Rectangle 402"/>
          <p:cNvSpPr>
            <a:spLocks noChangeArrowheads="1"/>
          </p:cNvSpPr>
          <p:nvPr userDrawn="1"/>
        </p:nvSpPr>
        <p:spPr bwMode="auto">
          <a:xfrm>
            <a:off x="1416958" y="1030572"/>
            <a:ext cx="9357748" cy="5842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1408389" y="1030572"/>
            <a:ext cx="9366317" cy="5827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54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and tex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4" name="Group 1353"/>
          <p:cNvGrpSpPr/>
          <p:nvPr userDrawn="1"/>
        </p:nvGrpSpPr>
        <p:grpSpPr>
          <a:xfrm>
            <a:off x="4084563" y="1277256"/>
            <a:ext cx="7831781" cy="4652735"/>
            <a:chOff x="4527554" y="1398588"/>
            <a:chExt cx="7137394" cy="4240211"/>
          </a:xfrm>
        </p:grpSpPr>
        <p:grpSp>
          <p:nvGrpSpPr>
            <p:cNvPr id="1353" name="Group 1352"/>
            <p:cNvGrpSpPr/>
            <p:nvPr userDrawn="1"/>
          </p:nvGrpSpPr>
          <p:grpSpPr>
            <a:xfrm>
              <a:off x="4527554" y="1398588"/>
              <a:ext cx="7137394" cy="4240211"/>
              <a:chOff x="4527471" y="1398593"/>
              <a:chExt cx="7137264" cy="4240229"/>
            </a:xfrm>
            <a:effectLst/>
          </p:grpSpPr>
          <p:sp>
            <p:nvSpPr>
              <p:cNvPr id="181" name="AutoShape 380"/>
              <p:cNvSpPr>
                <a:spLocks noChangeAspect="1" noChangeArrowheads="1" noTextEdit="1"/>
              </p:cNvSpPr>
              <p:nvPr userDrawn="1"/>
            </p:nvSpPr>
            <p:spPr bwMode="auto">
              <a:xfrm>
                <a:off x="4640179" y="1398593"/>
                <a:ext cx="6913436" cy="3981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82" name="Freeform 382"/>
              <p:cNvSpPr>
                <a:spLocks/>
              </p:cNvSpPr>
              <p:nvPr userDrawn="1"/>
            </p:nvSpPr>
            <p:spPr bwMode="auto">
              <a:xfrm>
                <a:off x="5281517" y="1400181"/>
                <a:ext cx="5648222" cy="3940191"/>
              </a:xfrm>
              <a:custGeom>
                <a:avLst/>
                <a:gdLst>
                  <a:gd name="T0" fmla="*/ 4398 w 4571"/>
                  <a:gd name="T1" fmla="*/ 3192 h 3192"/>
                  <a:gd name="T2" fmla="*/ 172 w 4571"/>
                  <a:gd name="T3" fmla="*/ 3192 h 3192"/>
                  <a:gd name="T4" fmla="*/ 0 w 4571"/>
                  <a:gd name="T5" fmla="*/ 3019 h 3192"/>
                  <a:gd name="T6" fmla="*/ 0 w 4571"/>
                  <a:gd name="T7" fmla="*/ 173 h 3192"/>
                  <a:gd name="T8" fmla="*/ 172 w 4571"/>
                  <a:gd name="T9" fmla="*/ 0 h 3192"/>
                  <a:gd name="T10" fmla="*/ 4398 w 4571"/>
                  <a:gd name="T11" fmla="*/ 0 h 3192"/>
                  <a:gd name="T12" fmla="*/ 4571 w 4571"/>
                  <a:gd name="T13" fmla="*/ 173 h 3192"/>
                  <a:gd name="T14" fmla="*/ 4571 w 4571"/>
                  <a:gd name="T15" fmla="*/ 3019 h 3192"/>
                  <a:gd name="T16" fmla="*/ 4398 w 4571"/>
                  <a:gd name="T17" fmla="*/ 3192 h 3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71" h="3192">
                    <a:moveTo>
                      <a:pt x="4398" y="3192"/>
                    </a:moveTo>
                    <a:cubicBezTo>
                      <a:pt x="172" y="3192"/>
                      <a:pt x="172" y="3192"/>
                      <a:pt x="172" y="3192"/>
                    </a:cubicBezTo>
                    <a:cubicBezTo>
                      <a:pt x="77" y="3192"/>
                      <a:pt x="0" y="3115"/>
                      <a:pt x="0" y="3019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78"/>
                      <a:pt x="77" y="0"/>
                      <a:pt x="172" y="0"/>
                    </a:cubicBezTo>
                    <a:cubicBezTo>
                      <a:pt x="4398" y="0"/>
                      <a:pt x="4398" y="0"/>
                      <a:pt x="4398" y="0"/>
                    </a:cubicBezTo>
                    <a:cubicBezTo>
                      <a:pt x="4493" y="0"/>
                      <a:pt x="4571" y="78"/>
                      <a:pt x="4571" y="173"/>
                    </a:cubicBezTo>
                    <a:cubicBezTo>
                      <a:pt x="4571" y="3019"/>
                      <a:pt x="4571" y="3019"/>
                      <a:pt x="4571" y="3019"/>
                    </a:cubicBezTo>
                    <a:cubicBezTo>
                      <a:pt x="4571" y="3115"/>
                      <a:pt x="4493" y="3192"/>
                      <a:pt x="4398" y="3192"/>
                    </a:cubicBezTo>
                    <a:close/>
                  </a:path>
                </a:pathLst>
              </a:custGeom>
              <a:solidFill>
                <a:srgbClr val="DAC1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83" name="Freeform 383"/>
              <p:cNvSpPr>
                <a:spLocks/>
              </p:cNvSpPr>
              <p:nvPr userDrawn="1"/>
            </p:nvSpPr>
            <p:spPr bwMode="auto">
              <a:xfrm>
                <a:off x="5300567" y="1419231"/>
                <a:ext cx="5610123" cy="3903680"/>
              </a:xfrm>
              <a:custGeom>
                <a:avLst/>
                <a:gdLst>
                  <a:gd name="T0" fmla="*/ 4540 w 4540"/>
                  <a:gd name="T1" fmla="*/ 3003 h 3161"/>
                  <a:gd name="T2" fmla="*/ 4383 w 4540"/>
                  <a:gd name="T3" fmla="*/ 3161 h 3161"/>
                  <a:gd name="T4" fmla="*/ 157 w 4540"/>
                  <a:gd name="T5" fmla="*/ 3161 h 3161"/>
                  <a:gd name="T6" fmla="*/ 0 w 4540"/>
                  <a:gd name="T7" fmla="*/ 3003 h 3161"/>
                  <a:gd name="T8" fmla="*/ 0 w 4540"/>
                  <a:gd name="T9" fmla="*/ 157 h 3161"/>
                  <a:gd name="T10" fmla="*/ 157 w 4540"/>
                  <a:gd name="T11" fmla="*/ 0 h 3161"/>
                  <a:gd name="T12" fmla="*/ 4383 w 4540"/>
                  <a:gd name="T13" fmla="*/ 0 h 3161"/>
                  <a:gd name="T14" fmla="*/ 4540 w 4540"/>
                  <a:gd name="T15" fmla="*/ 157 h 3161"/>
                  <a:gd name="T16" fmla="*/ 4540 w 4540"/>
                  <a:gd name="T17" fmla="*/ 3003 h 3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40" h="3161">
                    <a:moveTo>
                      <a:pt x="4540" y="3003"/>
                    </a:moveTo>
                    <a:cubicBezTo>
                      <a:pt x="4540" y="3090"/>
                      <a:pt x="4469" y="3161"/>
                      <a:pt x="4383" y="3161"/>
                    </a:cubicBezTo>
                    <a:cubicBezTo>
                      <a:pt x="157" y="3161"/>
                      <a:pt x="157" y="3161"/>
                      <a:pt x="157" y="3161"/>
                    </a:cubicBezTo>
                    <a:cubicBezTo>
                      <a:pt x="71" y="3161"/>
                      <a:pt x="0" y="3090"/>
                      <a:pt x="0" y="3003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71"/>
                      <a:pt x="71" y="0"/>
                      <a:pt x="157" y="0"/>
                    </a:cubicBezTo>
                    <a:cubicBezTo>
                      <a:pt x="4383" y="0"/>
                      <a:pt x="4383" y="0"/>
                      <a:pt x="4383" y="0"/>
                    </a:cubicBezTo>
                    <a:cubicBezTo>
                      <a:pt x="4469" y="0"/>
                      <a:pt x="4540" y="71"/>
                      <a:pt x="4540" y="157"/>
                    </a:cubicBezTo>
                    <a:lnTo>
                      <a:pt x="4540" y="3003"/>
                    </a:lnTo>
                    <a:close/>
                  </a:path>
                </a:pathLst>
              </a:custGeom>
              <a:solidFill>
                <a:srgbClr val="3335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84" name="Freeform 384"/>
              <p:cNvSpPr>
                <a:spLocks/>
              </p:cNvSpPr>
              <p:nvPr userDrawn="1"/>
            </p:nvSpPr>
            <p:spPr bwMode="auto">
              <a:xfrm>
                <a:off x="5305329" y="1423994"/>
                <a:ext cx="5600597" cy="3892566"/>
              </a:xfrm>
              <a:custGeom>
                <a:avLst/>
                <a:gdLst>
                  <a:gd name="T0" fmla="*/ 4379 w 4533"/>
                  <a:gd name="T1" fmla="*/ 3154 h 3154"/>
                  <a:gd name="T2" fmla="*/ 153 w 4533"/>
                  <a:gd name="T3" fmla="*/ 3154 h 3154"/>
                  <a:gd name="T4" fmla="*/ 0 w 4533"/>
                  <a:gd name="T5" fmla="*/ 3000 h 3154"/>
                  <a:gd name="T6" fmla="*/ 0 w 4533"/>
                  <a:gd name="T7" fmla="*/ 154 h 3154"/>
                  <a:gd name="T8" fmla="*/ 153 w 4533"/>
                  <a:gd name="T9" fmla="*/ 0 h 3154"/>
                  <a:gd name="T10" fmla="*/ 4379 w 4533"/>
                  <a:gd name="T11" fmla="*/ 0 h 3154"/>
                  <a:gd name="T12" fmla="*/ 4533 w 4533"/>
                  <a:gd name="T13" fmla="*/ 154 h 3154"/>
                  <a:gd name="T14" fmla="*/ 4533 w 4533"/>
                  <a:gd name="T15" fmla="*/ 3000 h 3154"/>
                  <a:gd name="T16" fmla="*/ 4379 w 4533"/>
                  <a:gd name="T17" fmla="*/ 3154 h 3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33" h="3154">
                    <a:moveTo>
                      <a:pt x="4379" y="3154"/>
                    </a:moveTo>
                    <a:cubicBezTo>
                      <a:pt x="153" y="3154"/>
                      <a:pt x="153" y="3154"/>
                      <a:pt x="153" y="3154"/>
                    </a:cubicBezTo>
                    <a:cubicBezTo>
                      <a:pt x="69" y="3154"/>
                      <a:pt x="0" y="3085"/>
                      <a:pt x="0" y="3000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69"/>
                      <a:pt x="69" y="0"/>
                      <a:pt x="153" y="0"/>
                    </a:cubicBezTo>
                    <a:cubicBezTo>
                      <a:pt x="4379" y="0"/>
                      <a:pt x="4379" y="0"/>
                      <a:pt x="4379" y="0"/>
                    </a:cubicBezTo>
                    <a:cubicBezTo>
                      <a:pt x="4464" y="0"/>
                      <a:pt x="4533" y="69"/>
                      <a:pt x="4533" y="154"/>
                    </a:cubicBezTo>
                    <a:cubicBezTo>
                      <a:pt x="4533" y="3000"/>
                      <a:pt x="4533" y="3000"/>
                      <a:pt x="4533" y="3000"/>
                    </a:cubicBezTo>
                    <a:cubicBezTo>
                      <a:pt x="4533" y="3085"/>
                      <a:pt x="4464" y="3154"/>
                      <a:pt x="4379" y="3154"/>
                    </a:cubicBez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85" name="Freeform 385"/>
              <p:cNvSpPr>
                <a:spLocks/>
              </p:cNvSpPr>
              <p:nvPr userDrawn="1"/>
            </p:nvSpPr>
            <p:spPr bwMode="auto">
              <a:xfrm>
                <a:off x="5305329" y="5089547"/>
                <a:ext cx="5600597" cy="227014"/>
              </a:xfrm>
              <a:custGeom>
                <a:avLst/>
                <a:gdLst>
                  <a:gd name="T0" fmla="*/ 0 w 4533"/>
                  <a:gd name="T1" fmla="*/ 0 h 184"/>
                  <a:gd name="T2" fmla="*/ 0 w 4533"/>
                  <a:gd name="T3" fmla="*/ 30 h 184"/>
                  <a:gd name="T4" fmla="*/ 153 w 4533"/>
                  <a:gd name="T5" fmla="*/ 184 h 184"/>
                  <a:gd name="T6" fmla="*/ 4379 w 4533"/>
                  <a:gd name="T7" fmla="*/ 184 h 184"/>
                  <a:gd name="T8" fmla="*/ 4533 w 4533"/>
                  <a:gd name="T9" fmla="*/ 30 h 184"/>
                  <a:gd name="T10" fmla="*/ 4533 w 4533"/>
                  <a:gd name="T11" fmla="*/ 0 h 184"/>
                  <a:gd name="T12" fmla="*/ 0 w 4533"/>
                  <a:gd name="T13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33" h="184">
                    <a:moveTo>
                      <a:pt x="0" y="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115"/>
                      <a:pt x="69" y="184"/>
                      <a:pt x="153" y="184"/>
                    </a:cubicBezTo>
                    <a:cubicBezTo>
                      <a:pt x="4379" y="184"/>
                      <a:pt x="4379" y="184"/>
                      <a:pt x="4379" y="184"/>
                    </a:cubicBezTo>
                    <a:cubicBezTo>
                      <a:pt x="4464" y="184"/>
                      <a:pt x="4533" y="115"/>
                      <a:pt x="4533" y="30"/>
                    </a:cubicBezTo>
                    <a:cubicBezTo>
                      <a:pt x="4533" y="0"/>
                      <a:pt x="4533" y="0"/>
                      <a:pt x="45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22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pic>
            <p:nvPicPr>
              <p:cNvPr id="429" name="Picture 428"/>
              <p:cNvPicPr>
                <a:picLocks noChangeAspect="1" noChangeArrowheads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607" r="-1630" b="-250766"/>
              <a:stretch>
                <a:fillRect/>
              </a:stretch>
            </p:blipFill>
            <p:spPr bwMode="auto">
              <a:xfrm>
                <a:off x="4527471" y="5276873"/>
                <a:ext cx="7137264" cy="361949"/>
              </a:xfrm>
              <a:custGeom>
                <a:avLst/>
                <a:gdLst>
                  <a:gd name="connsiteX0" fmla="*/ 111121 w 7137394"/>
                  <a:gd name="connsiteY0" fmla="*/ 16107 h 361948"/>
                  <a:gd name="connsiteX1" fmla="*/ 111121 w 7137394"/>
                  <a:gd name="connsiteY1" fmla="*/ 103188 h 361948"/>
                  <a:gd name="connsiteX2" fmla="*/ 732671 w 7137394"/>
                  <a:gd name="connsiteY2" fmla="*/ 103188 h 361948"/>
                  <a:gd name="connsiteX3" fmla="*/ 735009 w 7137394"/>
                  <a:gd name="connsiteY3" fmla="*/ 357186 h 361948"/>
                  <a:gd name="connsiteX4" fmla="*/ 0 w 7137394"/>
                  <a:gd name="connsiteY4" fmla="*/ 357186 h 361948"/>
                  <a:gd name="connsiteX5" fmla="*/ 7024684 w 7137394"/>
                  <a:gd name="connsiteY5" fmla="*/ 15992 h 361948"/>
                  <a:gd name="connsiteX6" fmla="*/ 7137394 w 7137394"/>
                  <a:gd name="connsiteY6" fmla="*/ 361948 h 361948"/>
                  <a:gd name="connsiteX7" fmla="*/ 6402385 w 7137394"/>
                  <a:gd name="connsiteY7" fmla="*/ 361948 h 361948"/>
                  <a:gd name="connsiteX8" fmla="*/ 6402385 w 7137394"/>
                  <a:gd name="connsiteY8" fmla="*/ 103188 h 361948"/>
                  <a:gd name="connsiteX9" fmla="*/ 7024684 w 7137394"/>
                  <a:gd name="connsiteY9" fmla="*/ 103188 h 361948"/>
                  <a:gd name="connsiteX10" fmla="*/ 111121 w 7137394"/>
                  <a:gd name="connsiteY10" fmla="*/ 0 h 361948"/>
                  <a:gd name="connsiteX11" fmla="*/ 7024684 w 7137394"/>
                  <a:gd name="connsiteY11" fmla="*/ 0 h 361948"/>
                  <a:gd name="connsiteX12" fmla="*/ 7024684 w 7137394"/>
                  <a:gd name="connsiteY12" fmla="*/ 15992 h 361948"/>
                  <a:gd name="connsiteX13" fmla="*/ 7023094 w 7137394"/>
                  <a:gd name="connsiteY13" fmla="*/ 11111 h 361948"/>
                  <a:gd name="connsiteX14" fmla="*/ 6402385 w 7137394"/>
                  <a:gd name="connsiteY14" fmla="*/ 93661 h 361948"/>
                  <a:gd name="connsiteX15" fmla="*/ 6402385 w 7137394"/>
                  <a:gd name="connsiteY15" fmla="*/ 103188 h 361948"/>
                  <a:gd name="connsiteX16" fmla="*/ 732671 w 7137394"/>
                  <a:gd name="connsiteY16" fmla="*/ 103188 h 361948"/>
                  <a:gd name="connsiteX17" fmla="*/ 732627 w 7137394"/>
                  <a:gd name="connsiteY17" fmla="*/ 98424 h 361948"/>
                  <a:gd name="connsiteX18" fmla="*/ 114300 w 7137394"/>
                  <a:gd name="connsiteY18" fmla="*/ 6349 h 361948"/>
                  <a:gd name="connsiteX19" fmla="*/ 111121 w 7137394"/>
                  <a:gd name="connsiteY19" fmla="*/ 16107 h 361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137394" h="361948">
                    <a:moveTo>
                      <a:pt x="111121" y="16107"/>
                    </a:moveTo>
                    <a:lnTo>
                      <a:pt x="111121" y="103188"/>
                    </a:lnTo>
                    <a:lnTo>
                      <a:pt x="732671" y="103188"/>
                    </a:lnTo>
                    <a:lnTo>
                      <a:pt x="735009" y="357186"/>
                    </a:lnTo>
                    <a:lnTo>
                      <a:pt x="0" y="357186"/>
                    </a:lnTo>
                    <a:close/>
                    <a:moveTo>
                      <a:pt x="7024684" y="15992"/>
                    </a:moveTo>
                    <a:lnTo>
                      <a:pt x="7137394" y="361948"/>
                    </a:lnTo>
                    <a:lnTo>
                      <a:pt x="6402385" y="361948"/>
                    </a:lnTo>
                    <a:lnTo>
                      <a:pt x="6402385" y="103188"/>
                    </a:lnTo>
                    <a:lnTo>
                      <a:pt x="7024684" y="103188"/>
                    </a:lnTo>
                    <a:close/>
                    <a:moveTo>
                      <a:pt x="111121" y="0"/>
                    </a:moveTo>
                    <a:lnTo>
                      <a:pt x="7024684" y="0"/>
                    </a:lnTo>
                    <a:lnTo>
                      <a:pt x="7024684" y="15992"/>
                    </a:lnTo>
                    <a:lnTo>
                      <a:pt x="7023094" y="11111"/>
                    </a:lnTo>
                    <a:cubicBezTo>
                      <a:pt x="6653208" y="88369"/>
                      <a:pt x="6607171" y="67203"/>
                      <a:pt x="6402385" y="93661"/>
                    </a:cubicBezTo>
                    <a:lnTo>
                      <a:pt x="6402385" y="103188"/>
                    </a:lnTo>
                    <a:lnTo>
                      <a:pt x="732671" y="103188"/>
                    </a:lnTo>
                    <a:lnTo>
                      <a:pt x="732627" y="98424"/>
                    </a:lnTo>
                    <a:cubicBezTo>
                      <a:pt x="527841" y="71966"/>
                      <a:pt x="484186" y="83607"/>
                      <a:pt x="114300" y="6349"/>
                    </a:cubicBezTo>
                    <a:lnTo>
                      <a:pt x="111121" y="16107"/>
                    </a:lnTo>
                    <a:close/>
                  </a:path>
                </a:pathLst>
              </a:cu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11" name="Picture 387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8591" y="5238773"/>
                <a:ext cx="6913437" cy="49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" name="Oval 388"/>
              <p:cNvSpPr>
                <a:spLocks noChangeArrowheads="1"/>
              </p:cNvSpPr>
              <p:nvPr userDrawn="1"/>
            </p:nvSpPr>
            <p:spPr bwMode="auto">
              <a:xfrm>
                <a:off x="5284693" y="5338785"/>
                <a:ext cx="57149" cy="11113"/>
              </a:xfrm>
              <a:prstGeom prst="ellipse">
                <a:avLst/>
              </a:prstGeom>
              <a:solidFill>
                <a:srgbClr val="6354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87" name="Oval 389"/>
              <p:cNvSpPr>
                <a:spLocks noChangeArrowheads="1"/>
              </p:cNvSpPr>
              <p:nvPr userDrawn="1"/>
            </p:nvSpPr>
            <p:spPr bwMode="auto">
              <a:xfrm>
                <a:off x="5298979" y="5341960"/>
                <a:ext cx="28575" cy="6350"/>
              </a:xfrm>
              <a:prstGeom prst="ellipse">
                <a:avLst/>
              </a:prstGeom>
              <a:solidFill>
                <a:srgbClr val="463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88" name="Oval 390"/>
              <p:cNvSpPr>
                <a:spLocks noChangeArrowheads="1"/>
              </p:cNvSpPr>
              <p:nvPr userDrawn="1"/>
            </p:nvSpPr>
            <p:spPr bwMode="auto">
              <a:xfrm>
                <a:off x="7224582" y="5338785"/>
                <a:ext cx="58737" cy="11113"/>
              </a:xfrm>
              <a:prstGeom prst="ellipse">
                <a:avLst/>
              </a:prstGeom>
              <a:solidFill>
                <a:srgbClr val="6354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89" name="Oval 391"/>
              <p:cNvSpPr>
                <a:spLocks noChangeArrowheads="1"/>
              </p:cNvSpPr>
              <p:nvPr userDrawn="1"/>
            </p:nvSpPr>
            <p:spPr bwMode="auto">
              <a:xfrm>
                <a:off x="7238869" y="5341960"/>
                <a:ext cx="30162" cy="6350"/>
              </a:xfrm>
              <a:prstGeom prst="ellipse">
                <a:avLst/>
              </a:prstGeom>
              <a:solidFill>
                <a:srgbClr val="463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90" name="Oval 392"/>
              <p:cNvSpPr>
                <a:spLocks noChangeArrowheads="1"/>
              </p:cNvSpPr>
              <p:nvPr userDrawn="1"/>
            </p:nvSpPr>
            <p:spPr bwMode="auto">
              <a:xfrm>
                <a:off x="8920001" y="5338785"/>
                <a:ext cx="60324" cy="11113"/>
              </a:xfrm>
              <a:prstGeom prst="ellipse">
                <a:avLst/>
              </a:prstGeom>
              <a:solidFill>
                <a:srgbClr val="6354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91" name="Oval 393"/>
              <p:cNvSpPr>
                <a:spLocks noChangeArrowheads="1"/>
              </p:cNvSpPr>
              <p:nvPr userDrawn="1"/>
            </p:nvSpPr>
            <p:spPr bwMode="auto">
              <a:xfrm>
                <a:off x="8935876" y="5341960"/>
                <a:ext cx="28575" cy="6350"/>
              </a:xfrm>
              <a:prstGeom prst="ellipse">
                <a:avLst/>
              </a:prstGeom>
              <a:solidFill>
                <a:srgbClr val="463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344" name="Oval 394"/>
              <p:cNvSpPr>
                <a:spLocks noChangeArrowheads="1"/>
              </p:cNvSpPr>
              <p:nvPr userDrawn="1"/>
            </p:nvSpPr>
            <p:spPr bwMode="auto">
              <a:xfrm>
                <a:off x="10850366" y="5338785"/>
                <a:ext cx="58737" cy="11113"/>
              </a:xfrm>
              <a:prstGeom prst="ellipse">
                <a:avLst/>
              </a:prstGeom>
              <a:solidFill>
                <a:srgbClr val="6354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345" name="Oval 395"/>
              <p:cNvSpPr>
                <a:spLocks noChangeArrowheads="1"/>
              </p:cNvSpPr>
              <p:nvPr userDrawn="1"/>
            </p:nvSpPr>
            <p:spPr bwMode="auto">
              <a:xfrm>
                <a:off x="10864653" y="5341960"/>
                <a:ext cx="28575" cy="6350"/>
              </a:xfrm>
              <a:prstGeom prst="ellipse">
                <a:avLst/>
              </a:prstGeom>
              <a:solidFill>
                <a:srgbClr val="463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346" name="Freeform 396"/>
              <p:cNvSpPr>
                <a:spLocks/>
              </p:cNvSpPr>
              <p:nvPr userDrawn="1"/>
            </p:nvSpPr>
            <p:spPr bwMode="auto">
              <a:xfrm>
                <a:off x="4716378" y="5299098"/>
                <a:ext cx="6761040" cy="1588"/>
              </a:xfrm>
              <a:custGeom>
                <a:avLst/>
                <a:gdLst>
                  <a:gd name="T0" fmla="*/ 5467 w 5472"/>
                  <a:gd name="T1" fmla="*/ 1 h 1"/>
                  <a:gd name="T2" fmla="*/ 5472 w 5472"/>
                  <a:gd name="T3" fmla="*/ 0 h 1"/>
                  <a:gd name="T4" fmla="*/ 0 w 5472"/>
                  <a:gd name="T5" fmla="*/ 0 h 1"/>
                  <a:gd name="T6" fmla="*/ 5 w 5472"/>
                  <a:gd name="T7" fmla="*/ 1 h 1"/>
                  <a:gd name="T8" fmla="*/ 5467 w 5472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72" h="1">
                    <a:moveTo>
                      <a:pt x="5467" y="1"/>
                    </a:moveTo>
                    <a:cubicBezTo>
                      <a:pt x="5469" y="1"/>
                      <a:pt x="5471" y="0"/>
                      <a:pt x="547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3" y="1"/>
                      <a:pt x="5" y="1"/>
                    </a:cubicBezTo>
                    <a:lnTo>
                      <a:pt x="5467" y="1"/>
                    </a:lnTo>
                    <a:close/>
                  </a:path>
                </a:pathLst>
              </a:custGeom>
              <a:solidFill>
                <a:srgbClr val="9A87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pic>
            <p:nvPicPr>
              <p:cNvPr id="1421" name="Picture 397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0953" y="5240359"/>
                <a:ext cx="1331888" cy="63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7" name="Oval 398"/>
              <p:cNvSpPr>
                <a:spLocks noChangeArrowheads="1"/>
              </p:cNvSpPr>
              <p:nvPr userDrawn="1"/>
            </p:nvSpPr>
            <p:spPr bwMode="auto">
              <a:xfrm>
                <a:off x="8085011" y="1544645"/>
                <a:ext cx="44449" cy="44450"/>
              </a:xfrm>
              <a:prstGeom prst="ellipse">
                <a:avLst/>
              </a:prstGeom>
              <a:solidFill>
                <a:srgbClr val="19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348" name="Oval 399"/>
              <p:cNvSpPr>
                <a:spLocks noChangeArrowheads="1"/>
              </p:cNvSpPr>
              <p:nvPr userDrawn="1"/>
            </p:nvSpPr>
            <p:spPr bwMode="auto">
              <a:xfrm>
                <a:off x="8096077" y="1555741"/>
                <a:ext cx="22224" cy="22225"/>
              </a:xfrm>
              <a:prstGeom prst="ellipse">
                <a:avLst/>
              </a:prstGeom>
              <a:solidFill>
                <a:srgbClr val="000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349" name="Oval 400"/>
              <p:cNvSpPr>
                <a:spLocks noChangeArrowheads="1"/>
              </p:cNvSpPr>
              <p:nvPr userDrawn="1"/>
            </p:nvSpPr>
            <p:spPr bwMode="auto">
              <a:xfrm>
                <a:off x="8102496" y="1557318"/>
                <a:ext cx="7938" cy="6350"/>
              </a:xfrm>
              <a:prstGeom prst="ellipse">
                <a:avLst/>
              </a:prstGeom>
              <a:solidFill>
                <a:srgbClr val="272A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  <p:sp>
            <p:nvSpPr>
              <p:cNvPr id="1350" name="Oval 401"/>
              <p:cNvSpPr>
                <a:spLocks noChangeArrowheads="1"/>
              </p:cNvSpPr>
              <p:nvPr userDrawn="1"/>
            </p:nvSpPr>
            <p:spPr bwMode="auto">
              <a:xfrm>
                <a:off x="8102601" y="1568451"/>
                <a:ext cx="7938" cy="7938"/>
              </a:xfrm>
              <a:prstGeom prst="ellipse">
                <a:avLst/>
              </a:prstGeom>
              <a:solidFill>
                <a:srgbClr val="272A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HelveticaNeue-UltraLight" panose="02000206000000020004" pitchFamily="50"/>
                </a:endParaRPr>
              </a:p>
            </p:txBody>
          </p:sp>
        </p:grpSp>
        <p:sp>
          <p:nvSpPr>
            <p:cNvPr id="1351" name="Rectangle 402"/>
            <p:cNvSpPr>
              <a:spLocks noChangeArrowheads="1"/>
            </p:cNvSpPr>
            <p:nvPr userDrawn="1"/>
          </p:nvSpPr>
          <p:spPr bwMode="auto">
            <a:xfrm>
              <a:off x="5503864" y="1689101"/>
              <a:ext cx="5202238" cy="32480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sp>
        <p:nvSpPr>
          <p:cNvPr id="26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5150629" y="1596033"/>
            <a:ext cx="5713584" cy="35640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75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- Vertical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 userDrawn="1"/>
        </p:nvGrpSpPr>
        <p:grpSpPr>
          <a:xfrm>
            <a:off x="6543324" y="587692"/>
            <a:ext cx="3849726" cy="5682616"/>
            <a:chOff x="1063625" y="116201"/>
            <a:chExt cx="2790825" cy="4119563"/>
          </a:xfrm>
        </p:grpSpPr>
        <p:sp>
          <p:nvSpPr>
            <p:cNvPr id="136" name="Freeform 135"/>
            <p:cNvSpPr>
              <a:spLocks/>
            </p:cNvSpPr>
            <p:nvPr/>
          </p:nvSpPr>
          <p:spPr bwMode="auto">
            <a:xfrm>
              <a:off x="1063625" y="116201"/>
              <a:ext cx="2790825" cy="4119563"/>
            </a:xfrm>
            <a:custGeom>
              <a:avLst/>
              <a:gdLst>
                <a:gd name="T0" fmla="*/ 175 w 175"/>
                <a:gd name="T1" fmla="*/ 13 h 260"/>
                <a:gd name="T2" fmla="*/ 163 w 175"/>
                <a:gd name="T3" fmla="*/ 0 h 260"/>
                <a:gd name="T4" fmla="*/ 13 w 175"/>
                <a:gd name="T5" fmla="*/ 0 h 260"/>
                <a:gd name="T6" fmla="*/ 0 w 175"/>
                <a:gd name="T7" fmla="*/ 13 h 260"/>
                <a:gd name="T8" fmla="*/ 0 w 175"/>
                <a:gd name="T9" fmla="*/ 248 h 260"/>
                <a:gd name="T10" fmla="*/ 13 w 175"/>
                <a:gd name="T11" fmla="*/ 260 h 260"/>
                <a:gd name="T12" fmla="*/ 163 w 175"/>
                <a:gd name="T13" fmla="*/ 260 h 260"/>
                <a:gd name="T14" fmla="*/ 175 w 175"/>
                <a:gd name="T15" fmla="*/ 248 h 260"/>
                <a:gd name="T16" fmla="*/ 175 w 175"/>
                <a:gd name="T17" fmla="*/ 13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260">
                  <a:moveTo>
                    <a:pt x="175" y="13"/>
                  </a:moveTo>
                  <a:cubicBezTo>
                    <a:pt x="175" y="6"/>
                    <a:pt x="170" y="0"/>
                    <a:pt x="16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55"/>
                    <a:pt x="6" y="260"/>
                    <a:pt x="13" y="260"/>
                  </a:cubicBezTo>
                  <a:cubicBezTo>
                    <a:pt x="163" y="260"/>
                    <a:pt x="163" y="260"/>
                    <a:pt x="163" y="260"/>
                  </a:cubicBezTo>
                  <a:cubicBezTo>
                    <a:pt x="170" y="260"/>
                    <a:pt x="175" y="255"/>
                    <a:pt x="175" y="248"/>
                  </a:cubicBezTo>
                  <a:lnTo>
                    <a:pt x="175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7" name="Freeform 136"/>
            <p:cNvSpPr>
              <a:spLocks/>
            </p:cNvSpPr>
            <p:nvPr/>
          </p:nvSpPr>
          <p:spPr bwMode="auto">
            <a:xfrm>
              <a:off x="1063625" y="116201"/>
              <a:ext cx="2790825" cy="4119563"/>
            </a:xfrm>
            <a:custGeom>
              <a:avLst/>
              <a:gdLst>
                <a:gd name="T0" fmla="*/ 175 w 175"/>
                <a:gd name="T1" fmla="*/ 13 h 260"/>
                <a:gd name="T2" fmla="*/ 163 w 175"/>
                <a:gd name="T3" fmla="*/ 0 h 260"/>
                <a:gd name="T4" fmla="*/ 13 w 175"/>
                <a:gd name="T5" fmla="*/ 0 h 260"/>
                <a:gd name="T6" fmla="*/ 0 w 175"/>
                <a:gd name="T7" fmla="*/ 13 h 260"/>
                <a:gd name="T8" fmla="*/ 0 w 175"/>
                <a:gd name="T9" fmla="*/ 248 h 260"/>
                <a:gd name="T10" fmla="*/ 13 w 175"/>
                <a:gd name="T11" fmla="*/ 260 h 260"/>
                <a:gd name="T12" fmla="*/ 163 w 175"/>
                <a:gd name="T13" fmla="*/ 260 h 260"/>
                <a:gd name="T14" fmla="*/ 175 w 175"/>
                <a:gd name="T15" fmla="*/ 248 h 260"/>
                <a:gd name="T16" fmla="*/ 175 w 175"/>
                <a:gd name="T17" fmla="*/ 13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260">
                  <a:moveTo>
                    <a:pt x="175" y="13"/>
                  </a:moveTo>
                  <a:cubicBezTo>
                    <a:pt x="175" y="6"/>
                    <a:pt x="170" y="0"/>
                    <a:pt x="16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55"/>
                    <a:pt x="6" y="260"/>
                    <a:pt x="13" y="260"/>
                  </a:cubicBezTo>
                  <a:cubicBezTo>
                    <a:pt x="163" y="260"/>
                    <a:pt x="163" y="260"/>
                    <a:pt x="163" y="260"/>
                  </a:cubicBezTo>
                  <a:cubicBezTo>
                    <a:pt x="170" y="260"/>
                    <a:pt x="175" y="255"/>
                    <a:pt x="175" y="248"/>
                  </a:cubicBezTo>
                  <a:lnTo>
                    <a:pt x="175" y="13"/>
                  </a:lnTo>
                  <a:close/>
                </a:path>
              </a:pathLst>
            </a:custGeom>
            <a:noFill/>
            <a:ln w="38100" cap="flat">
              <a:solidFill>
                <a:srgbClr val="F9E5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8" name="Rectangle 137"/>
            <p:cNvSpPr>
              <a:spLocks noChangeArrowheads="1"/>
            </p:cNvSpPr>
            <p:nvPr/>
          </p:nvSpPr>
          <p:spPr bwMode="auto">
            <a:xfrm>
              <a:off x="1208088" y="527364"/>
              <a:ext cx="2519363" cy="3311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9" name="Oval 138"/>
            <p:cNvSpPr>
              <a:spLocks noChangeArrowheads="1"/>
            </p:cNvSpPr>
            <p:nvPr/>
          </p:nvSpPr>
          <p:spPr bwMode="auto">
            <a:xfrm>
              <a:off x="2435225" y="306701"/>
              <a:ext cx="47625" cy="46038"/>
            </a:xfrm>
            <a:prstGeom prst="ellipse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40" name="Oval 139"/>
            <p:cNvSpPr>
              <a:spLocks noChangeArrowheads="1"/>
            </p:cNvSpPr>
            <p:nvPr userDrawn="1"/>
          </p:nvSpPr>
          <p:spPr bwMode="auto">
            <a:xfrm>
              <a:off x="2355850" y="3934139"/>
              <a:ext cx="206375" cy="2063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9E5D7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sp>
        <p:nvSpPr>
          <p:cNvPr id="8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6742599" y="1154858"/>
            <a:ext cx="3475265" cy="45679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96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- Horizontal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 userDrawn="1"/>
        </p:nvGrpSpPr>
        <p:grpSpPr>
          <a:xfrm rot="5400000">
            <a:off x="6543324" y="587692"/>
            <a:ext cx="3849726" cy="5682616"/>
            <a:chOff x="1063625" y="116201"/>
            <a:chExt cx="2790825" cy="4119563"/>
          </a:xfrm>
        </p:grpSpPr>
        <p:sp>
          <p:nvSpPr>
            <p:cNvPr id="136" name="Freeform 135"/>
            <p:cNvSpPr>
              <a:spLocks/>
            </p:cNvSpPr>
            <p:nvPr/>
          </p:nvSpPr>
          <p:spPr bwMode="auto">
            <a:xfrm>
              <a:off x="1063625" y="116201"/>
              <a:ext cx="2790825" cy="4119563"/>
            </a:xfrm>
            <a:custGeom>
              <a:avLst/>
              <a:gdLst>
                <a:gd name="T0" fmla="*/ 175 w 175"/>
                <a:gd name="T1" fmla="*/ 13 h 260"/>
                <a:gd name="T2" fmla="*/ 163 w 175"/>
                <a:gd name="T3" fmla="*/ 0 h 260"/>
                <a:gd name="T4" fmla="*/ 13 w 175"/>
                <a:gd name="T5" fmla="*/ 0 h 260"/>
                <a:gd name="T6" fmla="*/ 0 w 175"/>
                <a:gd name="T7" fmla="*/ 13 h 260"/>
                <a:gd name="T8" fmla="*/ 0 w 175"/>
                <a:gd name="T9" fmla="*/ 248 h 260"/>
                <a:gd name="T10" fmla="*/ 13 w 175"/>
                <a:gd name="T11" fmla="*/ 260 h 260"/>
                <a:gd name="T12" fmla="*/ 163 w 175"/>
                <a:gd name="T13" fmla="*/ 260 h 260"/>
                <a:gd name="T14" fmla="*/ 175 w 175"/>
                <a:gd name="T15" fmla="*/ 248 h 260"/>
                <a:gd name="T16" fmla="*/ 175 w 175"/>
                <a:gd name="T17" fmla="*/ 13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260">
                  <a:moveTo>
                    <a:pt x="175" y="13"/>
                  </a:moveTo>
                  <a:cubicBezTo>
                    <a:pt x="175" y="6"/>
                    <a:pt x="170" y="0"/>
                    <a:pt x="16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55"/>
                    <a:pt x="6" y="260"/>
                    <a:pt x="13" y="260"/>
                  </a:cubicBezTo>
                  <a:cubicBezTo>
                    <a:pt x="163" y="260"/>
                    <a:pt x="163" y="260"/>
                    <a:pt x="163" y="260"/>
                  </a:cubicBezTo>
                  <a:cubicBezTo>
                    <a:pt x="170" y="260"/>
                    <a:pt x="175" y="255"/>
                    <a:pt x="175" y="248"/>
                  </a:cubicBezTo>
                  <a:lnTo>
                    <a:pt x="175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7" name="Freeform 136"/>
            <p:cNvSpPr>
              <a:spLocks/>
            </p:cNvSpPr>
            <p:nvPr/>
          </p:nvSpPr>
          <p:spPr bwMode="auto">
            <a:xfrm>
              <a:off x="1063625" y="116201"/>
              <a:ext cx="2790825" cy="4119563"/>
            </a:xfrm>
            <a:custGeom>
              <a:avLst/>
              <a:gdLst>
                <a:gd name="T0" fmla="*/ 175 w 175"/>
                <a:gd name="T1" fmla="*/ 13 h 260"/>
                <a:gd name="T2" fmla="*/ 163 w 175"/>
                <a:gd name="T3" fmla="*/ 0 h 260"/>
                <a:gd name="T4" fmla="*/ 13 w 175"/>
                <a:gd name="T5" fmla="*/ 0 h 260"/>
                <a:gd name="T6" fmla="*/ 0 w 175"/>
                <a:gd name="T7" fmla="*/ 13 h 260"/>
                <a:gd name="T8" fmla="*/ 0 w 175"/>
                <a:gd name="T9" fmla="*/ 248 h 260"/>
                <a:gd name="T10" fmla="*/ 13 w 175"/>
                <a:gd name="T11" fmla="*/ 260 h 260"/>
                <a:gd name="T12" fmla="*/ 163 w 175"/>
                <a:gd name="T13" fmla="*/ 260 h 260"/>
                <a:gd name="T14" fmla="*/ 175 w 175"/>
                <a:gd name="T15" fmla="*/ 248 h 260"/>
                <a:gd name="T16" fmla="*/ 175 w 175"/>
                <a:gd name="T17" fmla="*/ 13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260">
                  <a:moveTo>
                    <a:pt x="175" y="13"/>
                  </a:moveTo>
                  <a:cubicBezTo>
                    <a:pt x="175" y="6"/>
                    <a:pt x="170" y="0"/>
                    <a:pt x="16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55"/>
                    <a:pt x="6" y="260"/>
                    <a:pt x="13" y="260"/>
                  </a:cubicBezTo>
                  <a:cubicBezTo>
                    <a:pt x="163" y="260"/>
                    <a:pt x="163" y="260"/>
                    <a:pt x="163" y="260"/>
                  </a:cubicBezTo>
                  <a:cubicBezTo>
                    <a:pt x="170" y="260"/>
                    <a:pt x="175" y="255"/>
                    <a:pt x="175" y="248"/>
                  </a:cubicBezTo>
                  <a:lnTo>
                    <a:pt x="175" y="13"/>
                  </a:lnTo>
                  <a:close/>
                </a:path>
              </a:pathLst>
            </a:custGeom>
            <a:noFill/>
            <a:ln w="38100" cap="flat">
              <a:solidFill>
                <a:srgbClr val="F9E5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8" name="Rectangle 137"/>
            <p:cNvSpPr>
              <a:spLocks noChangeArrowheads="1"/>
            </p:cNvSpPr>
            <p:nvPr/>
          </p:nvSpPr>
          <p:spPr bwMode="auto">
            <a:xfrm>
              <a:off x="1208088" y="527364"/>
              <a:ext cx="2519363" cy="3311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9" name="Oval 138"/>
            <p:cNvSpPr>
              <a:spLocks noChangeArrowheads="1"/>
            </p:cNvSpPr>
            <p:nvPr/>
          </p:nvSpPr>
          <p:spPr bwMode="auto">
            <a:xfrm>
              <a:off x="2435225" y="306701"/>
              <a:ext cx="47625" cy="46038"/>
            </a:xfrm>
            <a:prstGeom prst="ellipse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40" name="Oval 139"/>
            <p:cNvSpPr>
              <a:spLocks noChangeArrowheads="1"/>
            </p:cNvSpPr>
            <p:nvPr userDrawn="1"/>
          </p:nvSpPr>
          <p:spPr bwMode="auto">
            <a:xfrm>
              <a:off x="2355850" y="3934139"/>
              <a:ext cx="206375" cy="2063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9E5D7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sp>
        <p:nvSpPr>
          <p:cNvPr id="8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6174337" y="1703412"/>
            <a:ext cx="4567991" cy="3475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2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watch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/>
          </p:cNvSpPr>
          <p:nvPr userDrawn="1"/>
        </p:nvSpPr>
        <p:spPr bwMode="auto">
          <a:xfrm>
            <a:off x="7101695" y="780836"/>
            <a:ext cx="2336627" cy="1130912"/>
          </a:xfrm>
          <a:custGeom>
            <a:avLst/>
            <a:gdLst>
              <a:gd name="T0" fmla="*/ 917 w 917"/>
              <a:gd name="T1" fmla="*/ 445 h 445"/>
              <a:gd name="T2" fmla="*/ 790 w 917"/>
              <a:gd name="T3" fmla="*/ 126 h 445"/>
              <a:gd name="T4" fmla="*/ 707 w 917"/>
              <a:gd name="T5" fmla="*/ 30 h 445"/>
              <a:gd name="T6" fmla="*/ 210 w 917"/>
              <a:gd name="T7" fmla="*/ 30 h 445"/>
              <a:gd name="T8" fmla="*/ 127 w 917"/>
              <a:gd name="T9" fmla="*/ 126 h 445"/>
              <a:gd name="T10" fmla="*/ 0 w 917"/>
              <a:gd name="T11" fmla="*/ 445 h 445"/>
              <a:gd name="T12" fmla="*/ 917 w 917"/>
              <a:gd name="T13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7" h="445">
                <a:moveTo>
                  <a:pt x="917" y="445"/>
                </a:moveTo>
                <a:cubicBezTo>
                  <a:pt x="819" y="397"/>
                  <a:pt x="813" y="348"/>
                  <a:pt x="790" y="126"/>
                </a:cubicBezTo>
                <a:cubicBezTo>
                  <a:pt x="783" y="61"/>
                  <a:pt x="779" y="43"/>
                  <a:pt x="707" y="30"/>
                </a:cubicBezTo>
                <a:cubicBezTo>
                  <a:pt x="553" y="2"/>
                  <a:pt x="374" y="0"/>
                  <a:pt x="210" y="30"/>
                </a:cubicBezTo>
                <a:cubicBezTo>
                  <a:pt x="138" y="43"/>
                  <a:pt x="134" y="61"/>
                  <a:pt x="127" y="126"/>
                </a:cubicBezTo>
                <a:cubicBezTo>
                  <a:pt x="105" y="348"/>
                  <a:pt x="98" y="397"/>
                  <a:pt x="0" y="445"/>
                </a:cubicBezTo>
                <a:cubicBezTo>
                  <a:pt x="290" y="445"/>
                  <a:pt x="628" y="445"/>
                  <a:pt x="917" y="445"/>
                </a:cubicBezTo>
                <a:close/>
              </a:path>
            </a:pathLst>
          </a:custGeom>
          <a:solidFill>
            <a:srgbClr val="E2E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5" name="Freeform 6"/>
          <p:cNvSpPr>
            <a:spLocks/>
          </p:cNvSpPr>
          <p:nvPr userDrawn="1"/>
        </p:nvSpPr>
        <p:spPr bwMode="auto">
          <a:xfrm>
            <a:off x="7101695" y="5023023"/>
            <a:ext cx="2336627" cy="1130912"/>
          </a:xfrm>
          <a:custGeom>
            <a:avLst/>
            <a:gdLst>
              <a:gd name="T0" fmla="*/ 917 w 917"/>
              <a:gd name="T1" fmla="*/ 0 h 445"/>
              <a:gd name="T2" fmla="*/ 790 w 917"/>
              <a:gd name="T3" fmla="*/ 319 h 445"/>
              <a:gd name="T4" fmla="*/ 707 w 917"/>
              <a:gd name="T5" fmla="*/ 415 h 445"/>
              <a:gd name="T6" fmla="*/ 210 w 917"/>
              <a:gd name="T7" fmla="*/ 415 h 445"/>
              <a:gd name="T8" fmla="*/ 127 w 917"/>
              <a:gd name="T9" fmla="*/ 319 h 445"/>
              <a:gd name="T10" fmla="*/ 0 w 917"/>
              <a:gd name="T11" fmla="*/ 0 h 445"/>
              <a:gd name="T12" fmla="*/ 917 w 917"/>
              <a:gd name="T13" fmla="*/ 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7" h="445">
                <a:moveTo>
                  <a:pt x="917" y="0"/>
                </a:moveTo>
                <a:cubicBezTo>
                  <a:pt x="819" y="48"/>
                  <a:pt x="813" y="97"/>
                  <a:pt x="790" y="319"/>
                </a:cubicBezTo>
                <a:cubicBezTo>
                  <a:pt x="783" y="384"/>
                  <a:pt x="779" y="402"/>
                  <a:pt x="707" y="415"/>
                </a:cubicBezTo>
                <a:cubicBezTo>
                  <a:pt x="553" y="443"/>
                  <a:pt x="374" y="445"/>
                  <a:pt x="210" y="415"/>
                </a:cubicBezTo>
                <a:cubicBezTo>
                  <a:pt x="138" y="402"/>
                  <a:pt x="134" y="384"/>
                  <a:pt x="127" y="319"/>
                </a:cubicBezTo>
                <a:cubicBezTo>
                  <a:pt x="105" y="97"/>
                  <a:pt x="98" y="48"/>
                  <a:pt x="0" y="0"/>
                </a:cubicBezTo>
                <a:cubicBezTo>
                  <a:pt x="290" y="0"/>
                  <a:pt x="628" y="0"/>
                  <a:pt x="917" y="0"/>
                </a:cubicBezTo>
                <a:close/>
              </a:path>
            </a:pathLst>
          </a:custGeom>
          <a:solidFill>
            <a:srgbClr val="E2E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6" name="Freeform 7"/>
          <p:cNvSpPr>
            <a:spLocks/>
          </p:cNvSpPr>
          <p:nvPr userDrawn="1"/>
        </p:nvSpPr>
        <p:spPr bwMode="auto">
          <a:xfrm>
            <a:off x="6857002" y="1835678"/>
            <a:ext cx="2824745" cy="3258345"/>
          </a:xfrm>
          <a:custGeom>
            <a:avLst/>
            <a:gdLst>
              <a:gd name="T0" fmla="*/ 918 w 1109"/>
              <a:gd name="T1" fmla="*/ 1282 h 1282"/>
              <a:gd name="T2" fmla="*/ 192 w 1109"/>
              <a:gd name="T3" fmla="*/ 1282 h 1282"/>
              <a:gd name="T4" fmla="*/ 0 w 1109"/>
              <a:gd name="T5" fmla="*/ 1091 h 1282"/>
              <a:gd name="T6" fmla="*/ 0 w 1109"/>
              <a:gd name="T7" fmla="*/ 192 h 1282"/>
              <a:gd name="T8" fmla="*/ 192 w 1109"/>
              <a:gd name="T9" fmla="*/ 0 h 1282"/>
              <a:gd name="T10" fmla="*/ 918 w 1109"/>
              <a:gd name="T11" fmla="*/ 0 h 1282"/>
              <a:gd name="T12" fmla="*/ 1109 w 1109"/>
              <a:gd name="T13" fmla="*/ 192 h 1282"/>
              <a:gd name="T14" fmla="*/ 1109 w 1109"/>
              <a:gd name="T15" fmla="*/ 1091 h 1282"/>
              <a:gd name="T16" fmla="*/ 918 w 1109"/>
              <a:gd name="T17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09" h="1282">
                <a:moveTo>
                  <a:pt x="918" y="1282"/>
                </a:moveTo>
                <a:cubicBezTo>
                  <a:pt x="192" y="1282"/>
                  <a:pt x="192" y="1282"/>
                  <a:pt x="192" y="1282"/>
                </a:cubicBezTo>
                <a:cubicBezTo>
                  <a:pt x="86" y="1282"/>
                  <a:pt x="0" y="1197"/>
                  <a:pt x="0" y="1091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918" y="0"/>
                  <a:pt x="918" y="0"/>
                  <a:pt x="918" y="0"/>
                </a:cubicBezTo>
                <a:cubicBezTo>
                  <a:pt x="1024" y="0"/>
                  <a:pt x="1109" y="86"/>
                  <a:pt x="1109" y="192"/>
                </a:cubicBezTo>
                <a:cubicBezTo>
                  <a:pt x="1109" y="1091"/>
                  <a:pt x="1109" y="1091"/>
                  <a:pt x="1109" y="1091"/>
                </a:cubicBezTo>
                <a:cubicBezTo>
                  <a:pt x="1109" y="1197"/>
                  <a:pt x="1024" y="1282"/>
                  <a:pt x="918" y="12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7" name="Freeform 8"/>
          <p:cNvSpPr>
            <a:spLocks/>
          </p:cNvSpPr>
          <p:nvPr userDrawn="1"/>
        </p:nvSpPr>
        <p:spPr bwMode="auto">
          <a:xfrm>
            <a:off x="9582855" y="2582434"/>
            <a:ext cx="237086" cy="559117"/>
          </a:xfrm>
          <a:custGeom>
            <a:avLst/>
            <a:gdLst>
              <a:gd name="T0" fmla="*/ 92 w 93"/>
              <a:gd name="T1" fmla="*/ 111 h 220"/>
              <a:gd name="T2" fmla="*/ 92 w 93"/>
              <a:gd name="T3" fmla="*/ 108 h 220"/>
              <a:gd name="T4" fmla="*/ 93 w 93"/>
              <a:gd name="T5" fmla="*/ 108 h 220"/>
              <a:gd name="T6" fmla="*/ 63 w 93"/>
              <a:gd name="T7" fmla="*/ 0 h 220"/>
              <a:gd name="T8" fmla="*/ 47 w 93"/>
              <a:gd name="T9" fmla="*/ 0 h 220"/>
              <a:gd name="T10" fmla="*/ 24 w 93"/>
              <a:gd name="T11" fmla="*/ 14 h 220"/>
              <a:gd name="T12" fmla="*/ 8 w 93"/>
              <a:gd name="T13" fmla="*/ 43 h 220"/>
              <a:gd name="T14" fmla="*/ 0 w 93"/>
              <a:gd name="T15" fmla="*/ 71 h 220"/>
              <a:gd name="T16" fmla="*/ 0 w 93"/>
              <a:gd name="T17" fmla="*/ 109 h 220"/>
              <a:gd name="T18" fmla="*/ 0 w 93"/>
              <a:gd name="T19" fmla="*/ 109 h 220"/>
              <a:gd name="T20" fmla="*/ 0 w 93"/>
              <a:gd name="T21" fmla="*/ 148 h 220"/>
              <a:gd name="T22" fmla="*/ 8 w 93"/>
              <a:gd name="T23" fmla="*/ 176 h 220"/>
              <a:gd name="T24" fmla="*/ 23 w 93"/>
              <a:gd name="T25" fmla="*/ 206 h 220"/>
              <a:gd name="T26" fmla="*/ 47 w 93"/>
              <a:gd name="T27" fmla="*/ 220 h 220"/>
              <a:gd name="T28" fmla="*/ 63 w 93"/>
              <a:gd name="T29" fmla="*/ 220 h 220"/>
              <a:gd name="T30" fmla="*/ 93 w 93"/>
              <a:gd name="T31" fmla="*/ 112 h 220"/>
              <a:gd name="T32" fmla="*/ 92 w 93"/>
              <a:gd name="T33" fmla="*/ 112 h 220"/>
              <a:gd name="T34" fmla="*/ 92 w 93"/>
              <a:gd name="T35" fmla="*/ 111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3" h="220">
                <a:moveTo>
                  <a:pt x="92" y="111"/>
                </a:moveTo>
                <a:cubicBezTo>
                  <a:pt x="92" y="111"/>
                  <a:pt x="92" y="108"/>
                  <a:pt x="92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2" y="28"/>
                  <a:pt x="93" y="0"/>
                  <a:pt x="63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37" y="0"/>
                  <a:pt x="28" y="5"/>
                  <a:pt x="24" y="14"/>
                </a:cubicBezTo>
                <a:cubicBezTo>
                  <a:pt x="8" y="43"/>
                  <a:pt x="8" y="43"/>
                  <a:pt x="8" y="43"/>
                </a:cubicBezTo>
                <a:cubicBezTo>
                  <a:pt x="4" y="52"/>
                  <a:pt x="0" y="61"/>
                  <a:pt x="0" y="71"/>
                </a:cubicBezTo>
                <a:cubicBezTo>
                  <a:pt x="0" y="109"/>
                  <a:pt x="0" y="109"/>
                  <a:pt x="0" y="109"/>
                </a:cubicBezTo>
                <a:cubicBezTo>
                  <a:pt x="0" y="109"/>
                  <a:pt x="0" y="109"/>
                  <a:pt x="0" y="109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158"/>
                  <a:pt x="4" y="167"/>
                  <a:pt x="8" y="176"/>
                </a:cubicBezTo>
                <a:cubicBezTo>
                  <a:pt x="23" y="206"/>
                  <a:pt x="23" y="206"/>
                  <a:pt x="23" y="206"/>
                </a:cubicBezTo>
                <a:cubicBezTo>
                  <a:pt x="27" y="214"/>
                  <a:pt x="37" y="220"/>
                  <a:pt x="47" y="220"/>
                </a:cubicBezTo>
                <a:cubicBezTo>
                  <a:pt x="63" y="220"/>
                  <a:pt x="63" y="220"/>
                  <a:pt x="63" y="220"/>
                </a:cubicBezTo>
                <a:cubicBezTo>
                  <a:pt x="93" y="220"/>
                  <a:pt x="92" y="192"/>
                  <a:pt x="93" y="112"/>
                </a:cubicBezTo>
                <a:cubicBezTo>
                  <a:pt x="92" y="112"/>
                  <a:pt x="92" y="112"/>
                  <a:pt x="92" y="112"/>
                </a:cubicBezTo>
                <a:cubicBezTo>
                  <a:pt x="92" y="108"/>
                  <a:pt x="92" y="111"/>
                  <a:pt x="92" y="111"/>
                </a:cubicBezTo>
                <a:close/>
              </a:path>
            </a:pathLst>
          </a:custGeom>
          <a:solidFill>
            <a:srgbClr val="E2E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0" name="Freeform 9"/>
          <p:cNvSpPr>
            <a:spLocks/>
          </p:cNvSpPr>
          <p:nvPr userDrawn="1"/>
        </p:nvSpPr>
        <p:spPr bwMode="auto">
          <a:xfrm>
            <a:off x="9736264" y="2582434"/>
            <a:ext cx="83677" cy="559117"/>
          </a:xfrm>
          <a:custGeom>
            <a:avLst/>
            <a:gdLst>
              <a:gd name="T0" fmla="*/ 33 w 33"/>
              <a:gd name="T1" fmla="*/ 108 h 220"/>
              <a:gd name="T2" fmla="*/ 3 w 33"/>
              <a:gd name="T3" fmla="*/ 0 h 220"/>
              <a:gd name="T4" fmla="*/ 0 w 33"/>
              <a:gd name="T5" fmla="*/ 0 h 220"/>
              <a:gd name="T6" fmla="*/ 0 w 33"/>
              <a:gd name="T7" fmla="*/ 220 h 220"/>
              <a:gd name="T8" fmla="*/ 3 w 33"/>
              <a:gd name="T9" fmla="*/ 220 h 220"/>
              <a:gd name="T10" fmla="*/ 33 w 33"/>
              <a:gd name="T11" fmla="*/ 112 h 220"/>
              <a:gd name="T12" fmla="*/ 32 w 33"/>
              <a:gd name="T13" fmla="*/ 112 h 220"/>
              <a:gd name="T14" fmla="*/ 32 w 33"/>
              <a:gd name="T15" fmla="*/ 111 h 220"/>
              <a:gd name="T16" fmla="*/ 32 w 33"/>
              <a:gd name="T17" fmla="*/ 108 h 220"/>
              <a:gd name="T18" fmla="*/ 33 w 33"/>
              <a:gd name="T19" fmla="*/ 10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220">
                <a:moveTo>
                  <a:pt x="33" y="108"/>
                </a:moveTo>
                <a:cubicBezTo>
                  <a:pt x="32" y="28"/>
                  <a:pt x="3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20"/>
                  <a:pt x="0" y="220"/>
                  <a:pt x="0" y="220"/>
                </a:cubicBezTo>
                <a:cubicBezTo>
                  <a:pt x="3" y="220"/>
                  <a:pt x="3" y="220"/>
                  <a:pt x="3" y="220"/>
                </a:cubicBezTo>
                <a:cubicBezTo>
                  <a:pt x="33" y="220"/>
                  <a:pt x="32" y="192"/>
                  <a:pt x="33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08"/>
                  <a:pt x="32" y="111"/>
                  <a:pt x="32" y="111"/>
                </a:cubicBezTo>
                <a:cubicBezTo>
                  <a:pt x="32" y="111"/>
                  <a:pt x="32" y="108"/>
                  <a:pt x="32" y="108"/>
                </a:cubicBezTo>
                <a:lnTo>
                  <a:pt x="33" y="108"/>
                </a:lnTo>
                <a:close/>
              </a:path>
            </a:pathLst>
          </a:custGeom>
          <a:solidFill>
            <a:srgbClr val="CF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1" name="Freeform 10"/>
          <p:cNvSpPr>
            <a:spLocks/>
          </p:cNvSpPr>
          <p:nvPr userDrawn="1"/>
        </p:nvSpPr>
        <p:spPr bwMode="auto">
          <a:xfrm>
            <a:off x="9582855" y="2582434"/>
            <a:ext cx="237086" cy="277657"/>
          </a:xfrm>
          <a:custGeom>
            <a:avLst/>
            <a:gdLst>
              <a:gd name="T0" fmla="*/ 47 w 93"/>
              <a:gd name="T1" fmla="*/ 0 h 109"/>
              <a:gd name="T2" fmla="*/ 24 w 93"/>
              <a:gd name="T3" fmla="*/ 14 h 109"/>
              <a:gd name="T4" fmla="*/ 8 w 93"/>
              <a:gd name="T5" fmla="*/ 43 h 109"/>
              <a:gd name="T6" fmla="*/ 0 w 93"/>
              <a:gd name="T7" fmla="*/ 71 h 109"/>
              <a:gd name="T8" fmla="*/ 0 w 93"/>
              <a:gd name="T9" fmla="*/ 109 h 109"/>
              <a:gd name="T10" fmla="*/ 0 w 93"/>
              <a:gd name="T11" fmla="*/ 109 h 109"/>
              <a:gd name="T12" fmla="*/ 0 w 93"/>
              <a:gd name="T13" fmla="*/ 108 h 109"/>
              <a:gd name="T14" fmla="*/ 93 w 93"/>
              <a:gd name="T15" fmla="*/ 108 h 109"/>
              <a:gd name="T16" fmla="*/ 63 w 93"/>
              <a:gd name="T17" fmla="*/ 0 h 109"/>
              <a:gd name="T18" fmla="*/ 47 w 93"/>
              <a:gd name="T19" fmla="*/ 0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3" h="109">
                <a:moveTo>
                  <a:pt x="47" y="0"/>
                </a:moveTo>
                <a:cubicBezTo>
                  <a:pt x="37" y="0"/>
                  <a:pt x="28" y="5"/>
                  <a:pt x="24" y="14"/>
                </a:cubicBezTo>
                <a:cubicBezTo>
                  <a:pt x="8" y="43"/>
                  <a:pt x="8" y="43"/>
                  <a:pt x="8" y="43"/>
                </a:cubicBezTo>
                <a:cubicBezTo>
                  <a:pt x="4" y="52"/>
                  <a:pt x="0" y="61"/>
                  <a:pt x="0" y="71"/>
                </a:cubicBezTo>
                <a:cubicBezTo>
                  <a:pt x="0" y="109"/>
                  <a:pt x="0" y="109"/>
                  <a:pt x="0" y="109"/>
                </a:cubicBezTo>
                <a:cubicBezTo>
                  <a:pt x="0" y="109"/>
                  <a:pt x="0" y="109"/>
                  <a:pt x="0" y="109"/>
                </a:cubicBezTo>
                <a:cubicBezTo>
                  <a:pt x="0" y="108"/>
                  <a:pt x="0" y="108"/>
                  <a:pt x="0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2" y="28"/>
                  <a:pt x="93" y="0"/>
                  <a:pt x="63" y="0"/>
                </a:cubicBezTo>
                <a:lnTo>
                  <a:pt x="47" y="0"/>
                </a:lnTo>
                <a:close/>
              </a:path>
            </a:pathLst>
          </a:custGeom>
          <a:solidFill>
            <a:srgbClr val="F0F1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2" name="Freeform 11"/>
          <p:cNvSpPr>
            <a:spLocks/>
          </p:cNvSpPr>
          <p:nvPr userDrawn="1"/>
        </p:nvSpPr>
        <p:spPr bwMode="auto">
          <a:xfrm>
            <a:off x="9643711" y="3551063"/>
            <a:ext cx="72267" cy="851987"/>
          </a:xfrm>
          <a:custGeom>
            <a:avLst/>
            <a:gdLst>
              <a:gd name="T0" fmla="*/ 24 w 28"/>
              <a:gd name="T1" fmla="*/ 4 h 335"/>
              <a:gd name="T2" fmla="*/ 12 w 28"/>
              <a:gd name="T3" fmla="*/ 8 h 335"/>
              <a:gd name="T4" fmla="*/ 5 w 28"/>
              <a:gd name="T5" fmla="*/ 31 h 335"/>
              <a:gd name="T6" fmla="*/ 0 w 28"/>
              <a:gd name="T7" fmla="*/ 60 h 335"/>
              <a:gd name="T8" fmla="*/ 0 w 28"/>
              <a:gd name="T9" fmla="*/ 275 h 335"/>
              <a:gd name="T10" fmla="*/ 5 w 28"/>
              <a:gd name="T11" fmla="*/ 304 h 335"/>
              <a:gd name="T12" fmla="*/ 12 w 28"/>
              <a:gd name="T13" fmla="*/ 327 h 335"/>
              <a:gd name="T14" fmla="*/ 24 w 28"/>
              <a:gd name="T15" fmla="*/ 331 h 335"/>
              <a:gd name="T16" fmla="*/ 28 w 28"/>
              <a:gd name="T17" fmla="*/ 320 h 335"/>
              <a:gd name="T18" fmla="*/ 28 w 28"/>
              <a:gd name="T19" fmla="*/ 15 h 335"/>
              <a:gd name="T20" fmla="*/ 24 w 28"/>
              <a:gd name="T21" fmla="*/ 4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8" h="335">
                <a:moveTo>
                  <a:pt x="24" y="4"/>
                </a:moveTo>
                <a:cubicBezTo>
                  <a:pt x="19" y="0"/>
                  <a:pt x="13" y="2"/>
                  <a:pt x="12" y="8"/>
                </a:cubicBezTo>
                <a:cubicBezTo>
                  <a:pt x="5" y="31"/>
                  <a:pt x="5" y="31"/>
                  <a:pt x="5" y="31"/>
                </a:cubicBezTo>
                <a:cubicBezTo>
                  <a:pt x="2" y="41"/>
                  <a:pt x="0" y="50"/>
                  <a:pt x="0" y="60"/>
                </a:cubicBezTo>
                <a:cubicBezTo>
                  <a:pt x="0" y="275"/>
                  <a:pt x="0" y="275"/>
                  <a:pt x="0" y="275"/>
                </a:cubicBezTo>
                <a:cubicBezTo>
                  <a:pt x="0" y="285"/>
                  <a:pt x="2" y="294"/>
                  <a:pt x="5" y="304"/>
                </a:cubicBezTo>
                <a:cubicBezTo>
                  <a:pt x="12" y="327"/>
                  <a:pt x="12" y="327"/>
                  <a:pt x="12" y="327"/>
                </a:cubicBezTo>
                <a:cubicBezTo>
                  <a:pt x="13" y="333"/>
                  <a:pt x="19" y="335"/>
                  <a:pt x="24" y="331"/>
                </a:cubicBezTo>
                <a:cubicBezTo>
                  <a:pt x="27" y="329"/>
                  <a:pt x="28" y="325"/>
                  <a:pt x="28" y="320"/>
                </a:cubicBezTo>
                <a:cubicBezTo>
                  <a:pt x="28" y="15"/>
                  <a:pt x="28" y="15"/>
                  <a:pt x="28" y="15"/>
                </a:cubicBezTo>
                <a:cubicBezTo>
                  <a:pt x="28" y="10"/>
                  <a:pt x="27" y="6"/>
                  <a:pt x="24" y="4"/>
                </a:cubicBezTo>
                <a:close/>
              </a:path>
            </a:pathLst>
          </a:custGeom>
          <a:solidFill>
            <a:srgbClr val="E2E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3" name="Freeform 12"/>
          <p:cNvSpPr>
            <a:spLocks/>
          </p:cNvSpPr>
          <p:nvPr userDrawn="1"/>
        </p:nvSpPr>
        <p:spPr bwMode="auto">
          <a:xfrm>
            <a:off x="9736264" y="2582434"/>
            <a:ext cx="83677" cy="275121"/>
          </a:xfrm>
          <a:custGeom>
            <a:avLst/>
            <a:gdLst>
              <a:gd name="T0" fmla="*/ 33 w 33"/>
              <a:gd name="T1" fmla="*/ 108 h 108"/>
              <a:gd name="T2" fmla="*/ 3 w 33"/>
              <a:gd name="T3" fmla="*/ 0 h 108"/>
              <a:gd name="T4" fmla="*/ 0 w 33"/>
              <a:gd name="T5" fmla="*/ 0 h 108"/>
              <a:gd name="T6" fmla="*/ 0 w 33"/>
              <a:gd name="T7" fmla="*/ 108 h 108"/>
              <a:gd name="T8" fmla="*/ 33 w 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" h="108">
                <a:moveTo>
                  <a:pt x="33" y="108"/>
                </a:moveTo>
                <a:cubicBezTo>
                  <a:pt x="32" y="28"/>
                  <a:pt x="3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8"/>
                  <a:pt x="0" y="108"/>
                  <a:pt x="0" y="108"/>
                </a:cubicBezTo>
                <a:lnTo>
                  <a:pt x="33" y="108"/>
                </a:lnTo>
                <a:close/>
              </a:path>
            </a:pathLst>
          </a:custGeom>
          <a:solidFill>
            <a:srgbClr val="E2E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4" name="Freeform 13"/>
          <p:cNvSpPr>
            <a:spLocks/>
          </p:cNvSpPr>
          <p:nvPr userDrawn="1"/>
        </p:nvSpPr>
        <p:spPr bwMode="auto">
          <a:xfrm>
            <a:off x="9643711" y="3551063"/>
            <a:ext cx="72267" cy="424726"/>
          </a:xfrm>
          <a:custGeom>
            <a:avLst/>
            <a:gdLst>
              <a:gd name="T0" fmla="*/ 24 w 28"/>
              <a:gd name="T1" fmla="*/ 4 h 167"/>
              <a:gd name="T2" fmla="*/ 12 w 28"/>
              <a:gd name="T3" fmla="*/ 8 h 167"/>
              <a:gd name="T4" fmla="*/ 5 w 28"/>
              <a:gd name="T5" fmla="*/ 31 h 167"/>
              <a:gd name="T6" fmla="*/ 0 w 28"/>
              <a:gd name="T7" fmla="*/ 60 h 167"/>
              <a:gd name="T8" fmla="*/ 0 w 28"/>
              <a:gd name="T9" fmla="*/ 167 h 167"/>
              <a:gd name="T10" fmla="*/ 28 w 28"/>
              <a:gd name="T11" fmla="*/ 167 h 167"/>
              <a:gd name="T12" fmla="*/ 28 w 28"/>
              <a:gd name="T13" fmla="*/ 15 h 167"/>
              <a:gd name="T14" fmla="*/ 24 w 28"/>
              <a:gd name="T15" fmla="*/ 4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" h="167">
                <a:moveTo>
                  <a:pt x="24" y="4"/>
                </a:moveTo>
                <a:cubicBezTo>
                  <a:pt x="19" y="0"/>
                  <a:pt x="13" y="2"/>
                  <a:pt x="12" y="8"/>
                </a:cubicBezTo>
                <a:cubicBezTo>
                  <a:pt x="5" y="31"/>
                  <a:pt x="5" y="31"/>
                  <a:pt x="5" y="31"/>
                </a:cubicBezTo>
                <a:cubicBezTo>
                  <a:pt x="2" y="41"/>
                  <a:pt x="0" y="50"/>
                  <a:pt x="0" y="60"/>
                </a:cubicBezTo>
                <a:cubicBezTo>
                  <a:pt x="0" y="167"/>
                  <a:pt x="0" y="167"/>
                  <a:pt x="0" y="167"/>
                </a:cubicBezTo>
                <a:cubicBezTo>
                  <a:pt x="28" y="167"/>
                  <a:pt x="28" y="167"/>
                  <a:pt x="28" y="167"/>
                </a:cubicBezTo>
                <a:cubicBezTo>
                  <a:pt x="28" y="15"/>
                  <a:pt x="28" y="15"/>
                  <a:pt x="28" y="15"/>
                </a:cubicBezTo>
                <a:cubicBezTo>
                  <a:pt x="28" y="10"/>
                  <a:pt x="27" y="6"/>
                  <a:pt x="24" y="4"/>
                </a:cubicBezTo>
                <a:close/>
              </a:path>
            </a:pathLst>
          </a:custGeom>
          <a:solidFill>
            <a:srgbClr val="F0F1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6981250" y="1944712"/>
            <a:ext cx="2576248" cy="3042812"/>
          </a:xfrm>
          <a:custGeom>
            <a:avLst/>
            <a:gdLst>
              <a:gd name="T0" fmla="*/ 856 w 1011"/>
              <a:gd name="T1" fmla="*/ 1197 h 1197"/>
              <a:gd name="T2" fmla="*/ 156 w 1011"/>
              <a:gd name="T3" fmla="*/ 1197 h 1197"/>
              <a:gd name="T4" fmla="*/ 0 w 1011"/>
              <a:gd name="T5" fmla="*/ 1042 h 1197"/>
              <a:gd name="T6" fmla="*/ 0 w 1011"/>
              <a:gd name="T7" fmla="*/ 155 h 1197"/>
              <a:gd name="T8" fmla="*/ 156 w 1011"/>
              <a:gd name="T9" fmla="*/ 0 h 1197"/>
              <a:gd name="T10" fmla="*/ 856 w 1011"/>
              <a:gd name="T11" fmla="*/ 0 h 1197"/>
              <a:gd name="T12" fmla="*/ 1011 w 1011"/>
              <a:gd name="T13" fmla="*/ 155 h 1197"/>
              <a:gd name="T14" fmla="*/ 1011 w 1011"/>
              <a:gd name="T15" fmla="*/ 1042 h 1197"/>
              <a:gd name="T16" fmla="*/ 856 w 1011"/>
              <a:gd name="T17" fmla="*/ 1197 h 1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11" h="1197">
                <a:moveTo>
                  <a:pt x="856" y="1197"/>
                </a:moveTo>
                <a:cubicBezTo>
                  <a:pt x="156" y="1197"/>
                  <a:pt x="156" y="1197"/>
                  <a:pt x="156" y="1197"/>
                </a:cubicBezTo>
                <a:cubicBezTo>
                  <a:pt x="70" y="1197"/>
                  <a:pt x="0" y="1128"/>
                  <a:pt x="0" y="1042"/>
                </a:cubicBezTo>
                <a:cubicBezTo>
                  <a:pt x="0" y="155"/>
                  <a:pt x="0" y="155"/>
                  <a:pt x="0" y="155"/>
                </a:cubicBezTo>
                <a:cubicBezTo>
                  <a:pt x="0" y="70"/>
                  <a:pt x="70" y="0"/>
                  <a:pt x="156" y="0"/>
                </a:cubicBezTo>
                <a:cubicBezTo>
                  <a:pt x="856" y="0"/>
                  <a:pt x="856" y="0"/>
                  <a:pt x="856" y="0"/>
                </a:cubicBezTo>
                <a:cubicBezTo>
                  <a:pt x="942" y="0"/>
                  <a:pt x="1011" y="70"/>
                  <a:pt x="1011" y="155"/>
                </a:cubicBezTo>
                <a:cubicBezTo>
                  <a:pt x="1011" y="1042"/>
                  <a:pt x="1011" y="1042"/>
                  <a:pt x="1011" y="1042"/>
                </a:cubicBezTo>
                <a:cubicBezTo>
                  <a:pt x="1011" y="1128"/>
                  <a:pt x="942" y="1197"/>
                  <a:pt x="856" y="1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45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6981250" y="1944712"/>
            <a:ext cx="2576248" cy="3042812"/>
          </a:xfrm>
          <a:prstGeom prst="roundRect">
            <a:avLst>
              <a:gd name="adj" fmla="val 15188"/>
            </a:avLst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63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- Text Righ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20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- 3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44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064400" y="0"/>
            <a:ext cx="40644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128800" y="0"/>
            <a:ext cx="40632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79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- 6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4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0" y="0"/>
            <a:ext cx="4064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128000" y="0"/>
            <a:ext cx="4064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3429000"/>
            <a:ext cx="4064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3429000"/>
            <a:ext cx="4064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29000"/>
            <a:ext cx="4064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9608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- Fullscreen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cover</a:t>
            </a:r>
            <a:r>
              <a:rPr lang="fr-FR"/>
              <a:t>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31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- 2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Neue-UltraLight" panose="02000206000000020004" pitchFamily="50"/>
                <a:cs typeface="Segoe UI Light" panose="020B0502040204020203" pitchFamily="34" charset="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insert a </a:t>
            </a:r>
            <a:r>
              <a:rPr lang="fr-FR" err="1"/>
              <a:t>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686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660400"/>
            <a:ext cx="448151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400" b="0" i="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</a:lstStyle>
          <a:p>
            <a:pPr lvl="0"/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goes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1762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ors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660400"/>
            <a:ext cx="448151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400" b="0" i="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</a:lstStyle>
          <a:p>
            <a:pPr lvl="0"/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goes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1172069" y="2515800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830366" y="2515800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6488663" y="2515800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46960" y="2515800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172069" y="4167046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3830366" y="4167046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6488663" y="4167046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9146960" y="4167046"/>
            <a:ext cx="1872972" cy="113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HelveticaNeue-UltraLight" panose="02000206000000020004" pitchFamily="50"/>
              </a:defRPr>
            </a:lvl1pPr>
          </a:lstStyle>
          <a:p>
            <a:r>
              <a:rPr lang="fr-FR"/>
              <a:t>Click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competitor</a:t>
            </a:r>
            <a:r>
              <a:rPr lang="fr-FR"/>
              <a:t> logo</a:t>
            </a:r>
          </a:p>
        </p:txBody>
      </p:sp>
    </p:spTree>
    <p:extLst>
      <p:ext uri="{BB962C8B-B14F-4D97-AF65-F5344CB8AC3E}">
        <p14:creationId xmlns:p14="http://schemas.microsoft.com/office/powerpoint/2010/main" val="1541456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nders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660400"/>
            <a:ext cx="448151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400" b="0" i="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</a:lstStyle>
          <a:p>
            <a:pPr lvl="0"/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goes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1413649" y="1907253"/>
            <a:ext cx="1588275" cy="15882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HelveticaNeue-UltraLight" panose="02000206000000020004" pitchFamily="50"/>
              </a:defRPr>
            </a:lvl1pPr>
          </a:lstStyle>
          <a:p>
            <a:r>
              <a:rPr lang="fr-FR"/>
              <a:t>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303478" y="1907253"/>
            <a:ext cx="1588275" cy="15882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HelveticaNeue-UltraLight" panose="02000206000000020004" pitchFamily="50"/>
              </a:defRPr>
            </a:lvl1pPr>
          </a:lstStyle>
          <a:p>
            <a:r>
              <a:rPr lang="fr-FR"/>
              <a:t>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9193307" y="1907253"/>
            <a:ext cx="1588275" cy="15882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HelveticaNeue-UltraLight" panose="02000206000000020004" pitchFamily="50"/>
              </a:defRPr>
            </a:lvl1pPr>
          </a:lstStyle>
          <a:p>
            <a:r>
              <a:rPr lang="fr-FR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279063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095500" y="2084199"/>
            <a:ext cx="1961858" cy="1961858"/>
          </a:xfrm>
          <a:prstGeom prst="ellipse">
            <a:avLst/>
          </a:prstGeom>
        </p:spPr>
        <p:txBody>
          <a:bodyPr/>
          <a:lstStyle>
            <a:lvl1pPr>
              <a:defRPr>
                <a:latin typeface="HelveticaNeue-UltraLight" panose="02000206000000020004" pitchFamily="50"/>
              </a:defRPr>
            </a:lvl1pPr>
          </a:lstStyle>
          <a:p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134642" y="2149621"/>
            <a:ext cx="1961858" cy="1961858"/>
          </a:xfrm>
          <a:prstGeom prst="ellipse">
            <a:avLst/>
          </a:prstGeom>
        </p:spPr>
        <p:txBody>
          <a:bodyPr/>
          <a:lstStyle>
            <a:lvl1pPr>
              <a:defRPr>
                <a:latin typeface="HelveticaNeue-UltraLight" panose="02000206000000020004" pitchFamily="50"/>
              </a:defRPr>
            </a:lvl1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9788" y="660400"/>
            <a:ext cx="448151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400" b="0" i="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</a:lstStyle>
          <a:p>
            <a:pPr lvl="0"/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goes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6326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38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or.fr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839788" y="1600200"/>
            <a:ext cx="4413250" cy="193899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fr-FR" sz="4000" err="1">
                <a:latin typeface="HelveticaNeue-UltraLight" panose="02000206000000020004" pitchFamily="50"/>
              </a:rPr>
              <a:t>Proudly</a:t>
            </a:r>
            <a:r>
              <a:rPr lang="fr-FR" sz="4000">
                <a:latin typeface="HelveticaNeue-UltraLight" panose="02000206000000020004" pitchFamily="50"/>
              </a:rPr>
              <a:t> made </a:t>
            </a:r>
            <a:br>
              <a:rPr lang="fr-FR" sz="4000">
                <a:latin typeface="HelveticaNeue-UltraLight" panose="02000206000000020004" pitchFamily="50"/>
              </a:rPr>
            </a:br>
            <a:r>
              <a:rPr lang="fr-FR" sz="4000">
                <a:latin typeface="HelveticaNeue-UltraLight" panose="02000206000000020004" pitchFamily="50"/>
              </a:rPr>
              <a:t>by</a:t>
            </a:r>
            <a:r>
              <a:rPr lang="fr-FR" sz="4000">
                <a:solidFill>
                  <a:schemeClr val="tx1">
                    <a:lumMod val="60000"/>
                    <a:lumOff val="40000"/>
                  </a:schemeClr>
                </a:solidFill>
                <a:latin typeface="HelveticaNeue-UltraLight" panose="02000206000000020004" pitchFamily="50"/>
              </a:rPr>
              <a:t> </a:t>
            </a:r>
            <a:r>
              <a:rPr lang="fr-FR" sz="4000">
                <a:solidFill>
                  <a:schemeClr val="bg1"/>
                </a:solidFill>
                <a:latin typeface="HelveticaNeue-UltraLight" panose="02000206000000020004" pitchFamily="50"/>
              </a:rPr>
              <a:t>Slidor.</a:t>
            </a:r>
          </a:p>
          <a:p>
            <a:r>
              <a:rPr lang="fr-FR" sz="4000" err="1">
                <a:latin typeface="HelveticaNeue-UltraLight" panose="02000206000000020004" pitchFamily="50"/>
              </a:rPr>
              <a:t>With</a:t>
            </a:r>
            <a:r>
              <a:rPr lang="fr-FR" sz="4000">
                <a:solidFill>
                  <a:schemeClr val="bg1"/>
                </a:solidFill>
                <a:latin typeface="HelveticaNeue-UltraLight" panose="02000206000000020004" pitchFamily="50"/>
              </a:rPr>
              <a:t> </a:t>
            </a:r>
          </a:p>
        </p:txBody>
      </p:sp>
      <p:sp>
        <p:nvSpPr>
          <p:cNvPr id="3" name="Freeform 111"/>
          <p:cNvSpPr>
            <a:spLocks/>
          </p:cNvSpPr>
          <p:nvPr userDrawn="1"/>
        </p:nvSpPr>
        <p:spPr bwMode="auto">
          <a:xfrm>
            <a:off x="2047875" y="2983070"/>
            <a:ext cx="468680" cy="410716"/>
          </a:xfrm>
          <a:custGeom>
            <a:avLst/>
            <a:gdLst>
              <a:gd name="T0" fmla="*/ 0 w 248"/>
              <a:gd name="T1" fmla="*/ 64 h 217"/>
              <a:gd name="T2" fmla="*/ 123 w 248"/>
              <a:gd name="T3" fmla="*/ 217 h 217"/>
              <a:gd name="T4" fmla="*/ 248 w 248"/>
              <a:gd name="T5" fmla="*/ 66 h 217"/>
              <a:gd name="T6" fmla="*/ 189 w 248"/>
              <a:gd name="T7" fmla="*/ 1 h 217"/>
              <a:gd name="T8" fmla="*/ 124 w 248"/>
              <a:gd name="T9" fmla="*/ 57 h 217"/>
              <a:gd name="T10" fmla="*/ 61 w 248"/>
              <a:gd name="T11" fmla="*/ 1 h 217"/>
              <a:gd name="T12" fmla="*/ 0 w 248"/>
              <a:gd name="T13" fmla="*/ 64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8" h="217">
                <a:moveTo>
                  <a:pt x="0" y="64"/>
                </a:moveTo>
                <a:cubicBezTo>
                  <a:pt x="0" y="144"/>
                  <a:pt x="123" y="217"/>
                  <a:pt x="123" y="217"/>
                </a:cubicBezTo>
                <a:cubicBezTo>
                  <a:pt x="123" y="217"/>
                  <a:pt x="248" y="146"/>
                  <a:pt x="248" y="66"/>
                </a:cubicBezTo>
                <a:cubicBezTo>
                  <a:pt x="248" y="33"/>
                  <a:pt x="225" y="2"/>
                  <a:pt x="189" y="1"/>
                </a:cubicBezTo>
                <a:cubicBezTo>
                  <a:pt x="155" y="1"/>
                  <a:pt x="124" y="24"/>
                  <a:pt x="124" y="57"/>
                </a:cubicBezTo>
                <a:cubicBezTo>
                  <a:pt x="124" y="24"/>
                  <a:pt x="94" y="1"/>
                  <a:pt x="61" y="1"/>
                </a:cubicBezTo>
                <a:cubicBezTo>
                  <a:pt x="25" y="0"/>
                  <a:pt x="0" y="31"/>
                  <a:pt x="0" y="64"/>
                </a:cubicBezTo>
                <a:close/>
              </a:path>
            </a:pathLst>
          </a:custGeom>
          <a:noFill/>
          <a:ln w="28575" cap="flat">
            <a:solidFill>
              <a:srgbClr val="FE135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375" y="6438900"/>
            <a:ext cx="1235204" cy="25400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2773363" y="2831306"/>
            <a:ext cx="2630487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fr-FR" sz="4000">
                <a:latin typeface="HelveticaNeue-UltraLight" panose="02000206000000020004" pitchFamily="50"/>
              </a:rPr>
              <a:t>from Paris.</a:t>
            </a:r>
          </a:p>
        </p:txBody>
      </p:sp>
      <p:sp>
        <p:nvSpPr>
          <p:cNvPr id="6" name="Rectangle 5">
            <a:hlinkClick r:id="rId3"/>
          </p:cNvPr>
          <p:cNvSpPr/>
          <p:nvPr userDrawn="1"/>
        </p:nvSpPr>
        <p:spPr>
          <a:xfrm>
            <a:off x="839788" y="4083862"/>
            <a:ext cx="3770312" cy="838200"/>
          </a:xfrm>
          <a:prstGeom prst="rect">
            <a:avLst/>
          </a:prstGeom>
          <a:noFill/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0" i="0" spc="600">
                <a:solidFill>
                  <a:schemeClr val="tx1">
                    <a:lumMod val="60000"/>
                    <a:lumOff val="40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  <a:sym typeface="Wingdings" panose="05000000000000000000" pitchFamily="2" charset="2"/>
              </a:rPr>
              <a:t>SAY HELLO</a:t>
            </a:r>
            <a:endParaRPr lang="fr-FR" b="0" i="0" spc="600">
              <a:solidFill>
                <a:schemeClr val="tx1">
                  <a:lumMod val="60000"/>
                  <a:lumOff val="40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6535172" y="3836900"/>
            <a:ext cx="5656828" cy="3021100"/>
            <a:chOff x="5818189" y="1958042"/>
            <a:chExt cx="5656828" cy="3021100"/>
          </a:xfrm>
        </p:grpSpPr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8927532" y="2652277"/>
              <a:ext cx="673642" cy="267693"/>
            </a:xfrm>
            <a:custGeom>
              <a:avLst/>
              <a:gdLst>
                <a:gd name="T0" fmla="*/ 91 w 114"/>
                <a:gd name="T1" fmla="*/ 45 h 45"/>
                <a:gd name="T2" fmla="*/ 20 w 114"/>
                <a:gd name="T3" fmla="*/ 45 h 45"/>
                <a:gd name="T4" fmla="*/ 0 w 114"/>
                <a:gd name="T5" fmla="*/ 25 h 45"/>
                <a:gd name="T6" fmla="*/ 20 w 114"/>
                <a:gd name="T7" fmla="*/ 5 h 45"/>
                <a:gd name="T8" fmla="*/ 33 w 114"/>
                <a:gd name="T9" fmla="*/ 10 h 45"/>
                <a:gd name="T10" fmla="*/ 34 w 114"/>
                <a:gd name="T11" fmla="*/ 16 h 45"/>
                <a:gd name="T12" fmla="*/ 28 w 114"/>
                <a:gd name="T13" fmla="*/ 16 h 45"/>
                <a:gd name="T14" fmla="*/ 20 w 114"/>
                <a:gd name="T15" fmla="*/ 13 h 45"/>
                <a:gd name="T16" fmla="*/ 8 w 114"/>
                <a:gd name="T17" fmla="*/ 25 h 45"/>
                <a:gd name="T18" fmla="*/ 20 w 114"/>
                <a:gd name="T19" fmla="*/ 37 h 45"/>
                <a:gd name="T20" fmla="*/ 91 w 114"/>
                <a:gd name="T21" fmla="*/ 37 h 45"/>
                <a:gd name="T22" fmla="*/ 106 w 114"/>
                <a:gd name="T23" fmla="*/ 22 h 45"/>
                <a:gd name="T24" fmla="*/ 91 w 114"/>
                <a:gd name="T25" fmla="*/ 8 h 45"/>
                <a:gd name="T26" fmla="*/ 81 w 114"/>
                <a:gd name="T27" fmla="*/ 13 h 45"/>
                <a:gd name="T28" fmla="*/ 75 w 114"/>
                <a:gd name="T29" fmla="*/ 13 h 45"/>
                <a:gd name="T30" fmla="*/ 75 w 114"/>
                <a:gd name="T31" fmla="*/ 8 h 45"/>
                <a:gd name="T32" fmla="*/ 91 w 114"/>
                <a:gd name="T33" fmla="*/ 0 h 45"/>
                <a:gd name="T34" fmla="*/ 114 w 114"/>
                <a:gd name="T35" fmla="*/ 22 h 45"/>
                <a:gd name="T36" fmla="*/ 91 w 114"/>
                <a:gd name="T3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45">
                  <a:moveTo>
                    <a:pt x="91" y="45"/>
                  </a:moveTo>
                  <a:cubicBezTo>
                    <a:pt x="20" y="45"/>
                    <a:pt x="20" y="45"/>
                    <a:pt x="20" y="45"/>
                  </a:cubicBezTo>
                  <a:cubicBezTo>
                    <a:pt x="9" y="45"/>
                    <a:pt x="0" y="36"/>
                    <a:pt x="0" y="25"/>
                  </a:cubicBezTo>
                  <a:cubicBezTo>
                    <a:pt x="0" y="14"/>
                    <a:pt x="9" y="5"/>
                    <a:pt x="20" y="5"/>
                  </a:cubicBezTo>
                  <a:cubicBezTo>
                    <a:pt x="25" y="5"/>
                    <a:pt x="30" y="7"/>
                    <a:pt x="33" y="10"/>
                  </a:cubicBezTo>
                  <a:cubicBezTo>
                    <a:pt x="35" y="12"/>
                    <a:pt x="35" y="14"/>
                    <a:pt x="34" y="16"/>
                  </a:cubicBezTo>
                  <a:cubicBezTo>
                    <a:pt x="32" y="17"/>
                    <a:pt x="30" y="18"/>
                    <a:pt x="28" y="16"/>
                  </a:cubicBezTo>
                  <a:cubicBezTo>
                    <a:pt x="26" y="14"/>
                    <a:pt x="23" y="13"/>
                    <a:pt x="20" y="13"/>
                  </a:cubicBezTo>
                  <a:cubicBezTo>
                    <a:pt x="13" y="13"/>
                    <a:pt x="8" y="18"/>
                    <a:pt x="8" y="25"/>
                  </a:cubicBezTo>
                  <a:cubicBezTo>
                    <a:pt x="8" y="31"/>
                    <a:pt x="13" y="37"/>
                    <a:pt x="20" y="37"/>
                  </a:cubicBezTo>
                  <a:cubicBezTo>
                    <a:pt x="91" y="37"/>
                    <a:pt x="91" y="37"/>
                    <a:pt x="91" y="37"/>
                  </a:cubicBezTo>
                  <a:cubicBezTo>
                    <a:pt x="99" y="37"/>
                    <a:pt x="106" y="30"/>
                    <a:pt x="106" y="22"/>
                  </a:cubicBezTo>
                  <a:cubicBezTo>
                    <a:pt x="106" y="14"/>
                    <a:pt x="99" y="8"/>
                    <a:pt x="91" y="8"/>
                  </a:cubicBezTo>
                  <a:cubicBezTo>
                    <a:pt x="87" y="8"/>
                    <a:pt x="83" y="10"/>
                    <a:pt x="81" y="13"/>
                  </a:cubicBezTo>
                  <a:cubicBezTo>
                    <a:pt x="79" y="14"/>
                    <a:pt x="77" y="15"/>
                    <a:pt x="75" y="13"/>
                  </a:cubicBezTo>
                  <a:cubicBezTo>
                    <a:pt x="73" y="12"/>
                    <a:pt x="73" y="9"/>
                    <a:pt x="75" y="8"/>
                  </a:cubicBezTo>
                  <a:cubicBezTo>
                    <a:pt x="79" y="3"/>
                    <a:pt x="85" y="0"/>
                    <a:pt x="91" y="0"/>
                  </a:cubicBezTo>
                  <a:cubicBezTo>
                    <a:pt x="104" y="0"/>
                    <a:pt x="114" y="10"/>
                    <a:pt x="114" y="22"/>
                  </a:cubicBezTo>
                  <a:cubicBezTo>
                    <a:pt x="114" y="35"/>
                    <a:pt x="104" y="45"/>
                    <a:pt x="91" y="45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9168749" y="2516960"/>
              <a:ext cx="308875" cy="185326"/>
            </a:xfrm>
            <a:custGeom>
              <a:avLst/>
              <a:gdLst>
                <a:gd name="T0" fmla="*/ 48 w 52"/>
                <a:gd name="T1" fmla="*/ 31 h 31"/>
                <a:gd name="T2" fmla="*/ 48 w 52"/>
                <a:gd name="T3" fmla="*/ 31 h 31"/>
                <a:gd name="T4" fmla="*/ 44 w 52"/>
                <a:gd name="T5" fmla="*/ 27 h 31"/>
                <a:gd name="T6" fmla="*/ 44 w 52"/>
                <a:gd name="T7" fmla="*/ 26 h 31"/>
                <a:gd name="T8" fmla="*/ 26 w 52"/>
                <a:gd name="T9" fmla="*/ 8 h 31"/>
                <a:gd name="T10" fmla="*/ 8 w 52"/>
                <a:gd name="T11" fmla="*/ 23 h 31"/>
                <a:gd name="T12" fmla="*/ 3 w 52"/>
                <a:gd name="T13" fmla="*/ 26 h 31"/>
                <a:gd name="T14" fmla="*/ 0 w 52"/>
                <a:gd name="T15" fmla="*/ 21 h 31"/>
                <a:gd name="T16" fmla="*/ 26 w 52"/>
                <a:gd name="T17" fmla="*/ 0 h 31"/>
                <a:gd name="T18" fmla="*/ 52 w 52"/>
                <a:gd name="T19" fmla="*/ 26 h 31"/>
                <a:gd name="T20" fmla="*/ 52 w 52"/>
                <a:gd name="T21" fmla="*/ 27 h 31"/>
                <a:gd name="T22" fmla="*/ 48 w 52"/>
                <a:gd name="T2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31"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5" y="31"/>
                    <a:pt x="44" y="29"/>
                    <a:pt x="44" y="27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4" y="16"/>
                    <a:pt x="36" y="8"/>
                    <a:pt x="26" y="8"/>
                  </a:cubicBezTo>
                  <a:cubicBezTo>
                    <a:pt x="17" y="8"/>
                    <a:pt x="10" y="14"/>
                    <a:pt x="8" y="23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1" y="25"/>
                    <a:pt x="0" y="23"/>
                    <a:pt x="0" y="21"/>
                  </a:cubicBezTo>
                  <a:cubicBezTo>
                    <a:pt x="3" y="9"/>
                    <a:pt x="13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9"/>
                    <a:pt x="50" y="31"/>
                    <a:pt x="48" y="3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9033432" y="2552260"/>
              <a:ext cx="205917" cy="179443"/>
            </a:xfrm>
            <a:custGeom>
              <a:avLst/>
              <a:gdLst>
                <a:gd name="T0" fmla="*/ 5 w 35"/>
                <a:gd name="T1" fmla="*/ 30 h 30"/>
                <a:gd name="T2" fmla="*/ 2 w 35"/>
                <a:gd name="T3" fmla="*/ 28 h 30"/>
                <a:gd name="T4" fmla="*/ 0 w 35"/>
                <a:gd name="T5" fmla="*/ 20 h 30"/>
                <a:gd name="T6" fmla="*/ 20 w 35"/>
                <a:gd name="T7" fmla="*/ 0 h 30"/>
                <a:gd name="T8" fmla="*/ 33 w 35"/>
                <a:gd name="T9" fmla="*/ 5 h 30"/>
                <a:gd name="T10" fmla="*/ 33 w 35"/>
                <a:gd name="T11" fmla="*/ 11 h 30"/>
                <a:gd name="T12" fmla="*/ 28 w 35"/>
                <a:gd name="T13" fmla="*/ 11 h 30"/>
                <a:gd name="T14" fmla="*/ 20 w 35"/>
                <a:gd name="T15" fmla="*/ 8 h 30"/>
                <a:gd name="T16" fmla="*/ 8 w 35"/>
                <a:gd name="T17" fmla="*/ 20 h 30"/>
                <a:gd name="T18" fmla="*/ 9 w 35"/>
                <a:gd name="T19" fmla="*/ 25 h 30"/>
                <a:gd name="T20" fmla="*/ 7 w 35"/>
                <a:gd name="T21" fmla="*/ 30 h 30"/>
                <a:gd name="T22" fmla="*/ 5 w 35"/>
                <a:gd name="T2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30">
                  <a:moveTo>
                    <a:pt x="5" y="30"/>
                  </a:moveTo>
                  <a:cubicBezTo>
                    <a:pt x="4" y="30"/>
                    <a:pt x="2" y="29"/>
                    <a:pt x="2" y="28"/>
                  </a:cubicBezTo>
                  <a:cubicBezTo>
                    <a:pt x="1" y="25"/>
                    <a:pt x="0" y="23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5" y="0"/>
                    <a:pt x="29" y="2"/>
                    <a:pt x="33" y="5"/>
                  </a:cubicBezTo>
                  <a:cubicBezTo>
                    <a:pt x="35" y="7"/>
                    <a:pt x="35" y="9"/>
                    <a:pt x="33" y="11"/>
                  </a:cubicBezTo>
                  <a:cubicBezTo>
                    <a:pt x="32" y="13"/>
                    <a:pt x="29" y="13"/>
                    <a:pt x="28" y="11"/>
                  </a:cubicBezTo>
                  <a:cubicBezTo>
                    <a:pt x="26" y="10"/>
                    <a:pt x="24" y="8"/>
                    <a:pt x="20" y="8"/>
                  </a:cubicBezTo>
                  <a:cubicBezTo>
                    <a:pt x="13" y="8"/>
                    <a:pt x="8" y="14"/>
                    <a:pt x="8" y="20"/>
                  </a:cubicBezTo>
                  <a:cubicBezTo>
                    <a:pt x="8" y="22"/>
                    <a:pt x="8" y="23"/>
                    <a:pt x="9" y="25"/>
                  </a:cubicBezTo>
                  <a:cubicBezTo>
                    <a:pt x="10" y="27"/>
                    <a:pt x="9" y="29"/>
                    <a:pt x="7" y="30"/>
                  </a:cubicBezTo>
                  <a:cubicBezTo>
                    <a:pt x="6" y="30"/>
                    <a:pt x="6" y="30"/>
                    <a:pt x="5" y="3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7965606" y="3102353"/>
              <a:ext cx="123550" cy="200034"/>
            </a:xfrm>
            <a:custGeom>
              <a:avLst/>
              <a:gdLst>
                <a:gd name="T0" fmla="*/ 4 w 21"/>
                <a:gd name="T1" fmla="*/ 34 h 34"/>
                <a:gd name="T2" fmla="*/ 0 w 21"/>
                <a:gd name="T3" fmla="*/ 30 h 34"/>
                <a:gd name="T4" fmla="*/ 4 w 21"/>
                <a:gd name="T5" fmla="*/ 26 h 34"/>
                <a:gd name="T6" fmla="*/ 13 w 21"/>
                <a:gd name="T7" fmla="*/ 17 h 34"/>
                <a:gd name="T8" fmla="*/ 4 w 21"/>
                <a:gd name="T9" fmla="*/ 8 h 34"/>
                <a:gd name="T10" fmla="*/ 0 w 21"/>
                <a:gd name="T11" fmla="*/ 4 h 34"/>
                <a:gd name="T12" fmla="*/ 4 w 21"/>
                <a:gd name="T13" fmla="*/ 0 h 34"/>
                <a:gd name="T14" fmla="*/ 21 w 21"/>
                <a:gd name="T15" fmla="*/ 17 h 34"/>
                <a:gd name="T16" fmla="*/ 4 w 21"/>
                <a:gd name="T1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4">
                  <a:moveTo>
                    <a:pt x="4" y="34"/>
                  </a:moveTo>
                  <a:cubicBezTo>
                    <a:pt x="1" y="34"/>
                    <a:pt x="0" y="33"/>
                    <a:pt x="0" y="30"/>
                  </a:cubicBezTo>
                  <a:cubicBezTo>
                    <a:pt x="0" y="28"/>
                    <a:pt x="1" y="26"/>
                    <a:pt x="4" y="26"/>
                  </a:cubicBezTo>
                  <a:cubicBezTo>
                    <a:pt x="9" y="26"/>
                    <a:pt x="13" y="22"/>
                    <a:pt x="13" y="17"/>
                  </a:cubicBezTo>
                  <a:cubicBezTo>
                    <a:pt x="13" y="12"/>
                    <a:pt x="9" y="8"/>
                    <a:pt x="4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13" y="0"/>
                    <a:pt x="21" y="8"/>
                    <a:pt x="21" y="17"/>
                  </a:cubicBezTo>
                  <a:cubicBezTo>
                    <a:pt x="21" y="27"/>
                    <a:pt x="13" y="34"/>
                    <a:pt x="4" y="34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7633198" y="3078820"/>
              <a:ext cx="455958" cy="223567"/>
            </a:xfrm>
            <a:custGeom>
              <a:avLst/>
              <a:gdLst>
                <a:gd name="T0" fmla="*/ 60 w 77"/>
                <a:gd name="T1" fmla="*/ 38 h 38"/>
                <a:gd name="T2" fmla="*/ 19 w 77"/>
                <a:gd name="T3" fmla="*/ 38 h 38"/>
                <a:gd name="T4" fmla="*/ 0 w 77"/>
                <a:gd name="T5" fmla="*/ 19 h 38"/>
                <a:gd name="T6" fmla="*/ 19 w 77"/>
                <a:gd name="T7" fmla="*/ 0 h 38"/>
                <a:gd name="T8" fmla="*/ 31 w 77"/>
                <a:gd name="T9" fmla="*/ 4 h 38"/>
                <a:gd name="T10" fmla="*/ 32 w 77"/>
                <a:gd name="T11" fmla="*/ 10 h 38"/>
                <a:gd name="T12" fmla="*/ 26 w 77"/>
                <a:gd name="T13" fmla="*/ 10 h 38"/>
                <a:gd name="T14" fmla="*/ 19 w 77"/>
                <a:gd name="T15" fmla="*/ 8 h 38"/>
                <a:gd name="T16" fmla="*/ 8 w 77"/>
                <a:gd name="T17" fmla="*/ 19 h 38"/>
                <a:gd name="T18" fmla="*/ 19 w 77"/>
                <a:gd name="T19" fmla="*/ 30 h 38"/>
                <a:gd name="T20" fmla="*/ 60 w 77"/>
                <a:gd name="T21" fmla="*/ 30 h 38"/>
                <a:gd name="T22" fmla="*/ 69 w 77"/>
                <a:gd name="T23" fmla="*/ 21 h 38"/>
                <a:gd name="T24" fmla="*/ 60 w 77"/>
                <a:gd name="T25" fmla="*/ 12 h 38"/>
                <a:gd name="T26" fmla="*/ 54 w 77"/>
                <a:gd name="T27" fmla="*/ 14 h 38"/>
                <a:gd name="T28" fmla="*/ 48 w 77"/>
                <a:gd name="T29" fmla="*/ 13 h 38"/>
                <a:gd name="T30" fmla="*/ 49 w 77"/>
                <a:gd name="T31" fmla="*/ 7 h 38"/>
                <a:gd name="T32" fmla="*/ 60 w 77"/>
                <a:gd name="T33" fmla="*/ 4 h 38"/>
                <a:gd name="T34" fmla="*/ 77 w 77"/>
                <a:gd name="T35" fmla="*/ 21 h 38"/>
                <a:gd name="T36" fmla="*/ 60 w 77"/>
                <a:gd name="T3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38">
                  <a:moveTo>
                    <a:pt x="60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8" y="38"/>
                    <a:pt x="0" y="30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23" y="0"/>
                    <a:pt x="28" y="1"/>
                    <a:pt x="31" y="4"/>
                  </a:cubicBezTo>
                  <a:cubicBezTo>
                    <a:pt x="33" y="5"/>
                    <a:pt x="33" y="8"/>
                    <a:pt x="32" y="10"/>
                  </a:cubicBezTo>
                  <a:cubicBezTo>
                    <a:pt x="30" y="11"/>
                    <a:pt x="28" y="12"/>
                    <a:pt x="26" y="10"/>
                  </a:cubicBezTo>
                  <a:cubicBezTo>
                    <a:pt x="24" y="9"/>
                    <a:pt x="22" y="8"/>
                    <a:pt x="19" y="8"/>
                  </a:cubicBezTo>
                  <a:cubicBezTo>
                    <a:pt x="13" y="8"/>
                    <a:pt x="8" y="13"/>
                    <a:pt x="8" y="19"/>
                  </a:cubicBezTo>
                  <a:cubicBezTo>
                    <a:pt x="8" y="25"/>
                    <a:pt x="13" y="30"/>
                    <a:pt x="19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5" y="30"/>
                    <a:pt x="69" y="26"/>
                    <a:pt x="69" y="21"/>
                  </a:cubicBezTo>
                  <a:cubicBezTo>
                    <a:pt x="69" y="16"/>
                    <a:pt x="65" y="12"/>
                    <a:pt x="60" y="12"/>
                  </a:cubicBezTo>
                  <a:cubicBezTo>
                    <a:pt x="57" y="12"/>
                    <a:pt x="56" y="13"/>
                    <a:pt x="54" y="14"/>
                  </a:cubicBezTo>
                  <a:cubicBezTo>
                    <a:pt x="52" y="15"/>
                    <a:pt x="50" y="15"/>
                    <a:pt x="48" y="13"/>
                  </a:cubicBezTo>
                  <a:cubicBezTo>
                    <a:pt x="47" y="11"/>
                    <a:pt x="47" y="9"/>
                    <a:pt x="49" y="7"/>
                  </a:cubicBezTo>
                  <a:cubicBezTo>
                    <a:pt x="52" y="5"/>
                    <a:pt x="56" y="4"/>
                    <a:pt x="60" y="4"/>
                  </a:cubicBezTo>
                  <a:cubicBezTo>
                    <a:pt x="69" y="4"/>
                    <a:pt x="77" y="12"/>
                    <a:pt x="77" y="21"/>
                  </a:cubicBezTo>
                  <a:cubicBezTo>
                    <a:pt x="77" y="31"/>
                    <a:pt x="69" y="38"/>
                    <a:pt x="60" y="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7703798" y="2990570"/>
              <a:ext cx="285341" cy="158850"/>
            </a:xfrm>
            <a:custGeom>
              <a:avLst/>
              <a:gdLst>
                <a:gd name="T0" fmla="*/ 44 w 48"/>
                <a:gd name="T1" fmla="*/ 27 h 27"/>
                <a:gd name="T2" fmla="*/ 40 w 48"/>
                <a:gd name="T3" fmla="*/ 23 h 27"/>
                <a:gd name="T4" fmla="*/ 24 w 48"/>
                <a:gd name="T5" fmla="*/ 8 h 27"/>
                <a:gd name="T6" fmla="*/ 9 w 48"/>
                <a:gd name="T7" fmla="*/ 20 h 27"/>
                <a:gd name="T8" fmla="*/ 4 w 48"/>
                <a:gd name="T9" fmla="*/ 23 h 27"/>
                <a:gd name="T10" fmla="*/ 1 w 48"/>
                <a:gd name="T11" fmla="*/ 18 h 27"/>
                <a:gd name="T12" fmla="*/ 24 w 48"/>
                <a:gd name="T13" fmla="*/ 0 h 27"/>
                <a:gd name="T14" fmla="*/ 48 w 48"/>
                <a:gd name="T15" fmla="*/ 23 h 27"/>
                <a:gd name="T16" fmla="*/ 44 w 48"/>
                <a:gd name="T17" fmla="*/ 27 h 27"/>
                <a:gd name="T18" fmla="*/ 44 w 4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27">
                  <a:moveTo>
                    <a:pt x="44" y="27"/>
                  </a:moveTo>
                  <a:cubicBezTo>
                    <a:pt x="42" y="27"/>
                    <a:pt x="40" y="26"/>
                    <a:pt x="40" y="23"/>
                  </a:cubicBezTo>
                  <a:cubicBezTo>
                    <a:pt x="40" y="15"/>
                    <a:pt x="33" y="8"/>
                    <a:pt x="24" y="8"/>
                  </a:cubicBezTo>
                  <a:cubicBezTo>
                    <a:pt x="17" y="8"/>
                    <a:pt x="10" y="13"/>
                    <a:pt x="9" y="20"/>
                  </a:cubicBezTo>
                  <a:cubicBezTo>
                    <a:pt x="8" y="22"/>
                    <a:pt x="6" y="23"/>
                    <a:pt x="4" y="23"/>
                  </a:cubicBezTo>
                  <a:cubicBezTo>
                    <a:pt x="2" y="22"/>
                    <a:pt x="0" y="20"/>
                    <a:pt x="1" y="18"/>
                  </a:cubicBezTo>
                  <a:cubicBezTo>
                    <a:pt x="4" y="7"/>
                    <a:pt x="13" y="0"/>
                    <a:pt x="24" y="0"/>
                  </a:cubicBezTo>
                  <a:cubicBezTo>
                    <a:pt x="37" y="0"/>
                    <a:pt x="48" y="10"/>
                    <a:pt x="48" y="23"/>
                  </a:cubicBezTo>
                  <a:cubicBezTo>
                    <a:pt x="48" y="26"/>
                    <a:pt x="46" y="27"/>
                    <a:pt x="44" y="27"/>
                  </a:cubicBezTo>
                  <a:cubicBezTo>
                    <a:pt x="44" y="27"/>
                    <a:pt x="44" y="27"/>
                    <a:pt x="44" y="2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9139333" y="3881897"/>
              <a:ext cx="114724" cy="176500"/>
            </a:xfrm>
            <a:custGeom>
              <a:avLst/>
              <a:gdLst>
                <a:gd name="T0" fmla="*/ 15 w 19"/>
                <a:gd name="T1" fmla="*/ 30 h 30"/>
                <a:gd name="T2" fmla="*/ 0 w 19"/>
                <a:gd name="T3" fmla="*/ 15 h 30"/>
                <a:gd name="T4" fmla="*/ 15 w 19"/>
                <a:gd name="T5" fmla="*/ 0 h 30"/>
                <a:gd name="T6" fmla="*/ 19 w 19"/>
                <a:gd name="T7" fmla="*/ 4 h 30"/>
                <a:gd name="T8" fmla="*/ 15 w 19"/>
                <a:gd name="T9" fmla="*/ 8 h 30"/>
                <a:gd name="T10" fmla="*/ 8 w 19"/>
                <a:gd name="T11" fmla="*/ 15 h 30"/>
                <a:gd name="T12" fmla="*/ 15 w 19"/>
                <a:gd name="T13" fmla="*/ 22 h 30"/>
                <a:gd name="T14" fmla="*/ 19 w 19"/>
                <a:gd name="T15" fmla="*/ 26 h 30"/>
                <a:gd name="T16" fmla="*/ 15 w 19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30">
                  <a:moveTo>
                    <a:pt x="15" y="30"/>
                  </a:move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17" y="0"/>
                    <a:pt x="19" y="2"/>
                    <a:pt x="19" y="4"/>
                  </a:cubicBezTo>
                  <a:cubicBezTo>
                    <a:pt x="19" y="6"/>
                    <a:pt x="17" y="8"/>
                    <a:pt x="15" y="8"/>
                  </a:cubicBezTo>
                  <a:cubicBezTo>
                    <a:pt x="11" y="8"/>
                    <a:pt x="8" y="11"/>
                    <a:pt x="8" y="15"/>
                  </a:cubicBezTo>
                  <a:cubicBezTo>
                    <a:pt x="8" y="19"/>
                    <a:pt x="11" y="22"/>
                    <a:pt x="15" y="22"/>
                  </a:cubicBezTo>
                  <a:cubicBezTo>
                    <a:pt x="17" y="22"/>
                    <a:pt x="19" y="23"/>
                    <a:pt x="19" y="26"/>
                  </a:cubicBezTo>
                  <a:cubicBezTo>
                    <a:pt x="19" y="28"/>
                    <a:pt x="17" y="30"/>
                    <a:pt x="15" y="3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9139333" y="3864247"/>
              <a:ext cx="379475" cy="194150"/>
            </a:xfrm>
            <a:custGeom>
              <a:avLst/>
              <a:gdLst>
                <a:gd name="T0" fmla="*/ 48 w 64"/>
                <a:gd name="T1" fmla="*/ 33 h 33"/>
                <a:gd name="T2" fmla="*/ 15 w 64"/>
                <a:gd name="T3" fmla="*/ 33 h 33"/>
                <a:gd name="T4" fmla="*/ 0 w 64"/>
                <a:gd name="T5" fmla="*/ 18 h 33"/>
                <a:gd name="T6" fmla="*/ 15 w 64"/>
                <a:gd name="T7" fmla="*/ 3 h 33"/>
                <a:gd name="T8" fmla="*/ 24 w 64"/>
                <a:gd name="T9" fmla="*/ 6 h 33"/>
                <a:gd name="T10" fmla="*/ 25 w 64"/>
                <a:gd name="T11" fmla="*/ 12 h 33"/>
                <a:gd name="T12" fmla="*/ 19 w 64"/>
                <a:gd name="T13" fmla="*/ 12 h 33"/>
                <a:gd name="T14" fmla="*/ 15 w 64"/>
                <a:gd name="T15" fmla="*/ 11 h 33"/>
                <a:gd name="T16" fmla="*/ 8 w 64"/>
                <a:gd name="T17" fmla="*/ 18 h 33"/>
                <a:gd name="T18" fmla="*/ 15 w 64"/>
                <a:gd name="T19" fmla="*/ 25 h 33"/>
                <a:gd name="T20" fmla="*/ 48 w 64"/>
                <a:gd name="T21" fmla="*/ 25 h 33"/>
                <a:gd name="T22" fmla="*/ 56 w 64"/>
                <a:gd name="T23" fmla="*/ 16 h 33"/>
                <a:gd name="T24" fmla="*/ 48 w 64"/>
                <a:gd name="T25" fmla="*/ 8 h 33"/>
                <a:gd name="T26" fmla="*/ 42 w 64"/>
                <a:gd name="T27" fmla="*/ 10 h 33"/>
                <a:gd name="T28" fmla="*/ 37 w 64"/>
                <a:gd name="T29" fmla="*/ 9 h 33"/>
                <a:gd name="T30" fmla="*/ 37 w 64"/>
                <a:gd name="T31" fmla="*/ 3 h 33"/>
                <a:gd name="T32" fmla="*/ 48 w 64"/>
                <a:gd name="T33" fmla="*/ 0 h 33"/>
                <a:gd name="T34" fmla="*/ 64 w 64"/>
                <a:gd name="T35" fmla="*/ 16 h 33"/>
                <a:gd name="T36" fmla="*/ 48 w 64"/>
                <a:gd name="T3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33">
                  <a:moveTo>
                    <a:pt x="48" y="33"/>
                  </a:moveTo>
                  <a:cubicBezTo>
                    <a:pt x="15" y="33"/>
                    <a:pt x="15" y="33"/>
                    <a:pt x="15" y="33"/>
                  </a:cubicBezTo>
                  <a:cubicBezTo>
                    <a:pt x="7" y="33"/>
                    <a:pt x="0" y="26"/>
                    <a:pt x="0" y="18"/>
                  </a:cubicBezTo>
                  <a:cubicBezTo>
                    <a:pt x="0" y="10"/>
                    <a:pt x="7" y="3"/>
                    <a:pt x="15" y="3"/>
                  </a:cubicBezTo>
                  <a:cubicBezTo>
                    <a:pt x="18" y="3"/>
                    <a:pt x="21" y="4"/>
                    <a:pt x="24" y="6"/>
                  </a:cubicBezTo>
                  <a:cubicBezTo>
                    <a:pt x="26" y="7"/>
                    <a:pt x="26" y="10"/>
                    <a:pt x="25" y="12"/>
                  </a:cubicBezTo>
                  <a:cubicBezTo>
                    <a:pt x="23" y="13"/>
                    <a:pt x="21" y="14"/>
                    <a:pt x="19" y="12"/>
                  </a:cubicBezTo>
                  <a:cubicBezTo>
                    <a:pt x="18" y="12"/>
                    <a:pt x="16" y="11"/>
                    <a:pt x="15" y="11"/>
                  </a:cubicBezTo>
                  <a:cubicBezTo>
                    <a:pt x="11" y="11"/>
                    <a:pt x="8" y="14"/>
                    <a:pt x="8" y="18"/>
                  </a:cubicBezTo>
                  <a:cubicBezTo>
                    <a:pt x="8" y="22"/>
                    <a:pt x="11" y="25"/>
                    <a:pt x="15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52" y="25"/>
                    <a:pt x="56" y="21"/>
                    <a:pt x="56" y="16"/>
                  </a:cubicBezTo>
                  <a:cubicBezTo>
                    <a:pt x="56" y="12"/>
                    <a:pt x="52" y="8"/>
                    <a:pt x="48" y="8"/>
                  </a:cubicBezTo>
                  <a:cubicBezTo>
                    <a:pt x="46" y="8"/>
                    <a:pt x="44" y="8"/>
                    <a:pt x="42" y="10"/>
                  </a:cubicBezTo>
                  <a:cubicBezTo>
                    <a:pt x="41" y="11"/>
                    <a:pt x="38" y="11"/>
                    <a:pt x="37" y="9"/>
                  </a:cubicBezTo>
                  <a:cubicBezTo>
                    <a:pt x="35" y="7"/>
                    <a:pt x="36" y="5"/>
                    <a:pt x="37" y="3"/>
                  </a:cubicBezTo>
                  <a:cubicBezTo>
                    <a:pt x="40" y="1"/>
                    <a:pt x="44" y="0"/>
                    <a:pt x="48" y="0"/>
                  </a:cubicBezTo>
                  <a:cubicBezTo>
                    <a:pt x="57" y="0"/>
                    <a:pt x="64" y="7"/>
                    <a:pt x="64" y="16"/>
                  </a:cubicBezTo>
                  <a:cubicBezTo>
                    <a:pt x="64" y="25"/>
                    <a:pt x="57" y="33"/>
                    <a:pt x="48" y="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9221700" y="3793647"/>
              <a:ext cx="238275" cy="135317"/>
            </a:xfrm>
            <a:custGeom>
              <a:avLst/>
              <a:gdLst>
                <a:gd name="T0" fmla="*/ 4 w 40"/>
                <a:gd name="T1" fmla="*/ 23 h 23"/>
                <a:gd name="T2" fmla="*/ 4 w 40"/>
                <a:gd name="T3" fmla="*/ 23 h 23"/>
                <a:gd name="T4" fmla="*/ 0 w 40"/>
                <a:gd name="T5" fmla="*/ 19 h 23"/>
                <a:gd name="T6" fmla="*/ 20 w 40"/>
                <a:gd name="T7" fmla="*/ 0 h 23"/>
                <a:gd name="T8" fmla="*/ 39 w 40"/>
                <a:gd name="T9" fmla="*/ 15 h 23"/>
                <a:gd name="T10" fmla="*/ 36 w 40"/>
                <a:gd name="T11" fmla="*/ 20 h 23"/>
                <a:gd name="T12" fmla="*/ 32 w 40"/>
                <a:gd name="T13" fmla="*/ 17 h 23"/>
                <a:gd name="T14" fmla="*/ 20 w 40"/>
                <a:gd name="T15" fmla="*/ 8 h 23"/>
                <a:gd name="T16" fmla="*/ 8 w 40"/>
                <a:gd name="T17" fmla="*/ 20 h 23"/>
                <a:gd name="T18" fmla="*/ 4 w 40"/>
                <a:gd name="T1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23">
                  <a:moveTo>
                    <a:pt x="4" y="23"/>
                  </a:moveTo>
                  <a:cubicBezTo>
                    <a:pt x="4" y="23"/>
                    <a:pt x="4" y="23"/>
                    <a:pt x="4" y="23"/>
                  </a:cubicBezTo>
                  <a:cubicBezTo>
                    <a:pt x="1" y="23"/>
                    <a:pt x="0" y="22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9" y="0"/>
                    <a:pt x="37" y="6"/>
                    <a:pt x="39" y="15"/>
                  </a:cubicBezTo>
                  <a:cubicBezTo>
                    <a:pt x="40" y="17"/>
                    <a:pt x="39" y="19"/>
                    <a:pt x="36" y="20"/>
                  </a:cubicBezTo>
                  <a:cubicBezTo>
                    <a:pt x="34" y="20"/>
                    <a:pt x="32" y="19"/>
                    <a:pt x="32" y="17"/>
                  </a:cubicBezTo>
                  <a:cubicBezTo>
                    <a:pt x="30" y="11"/>
                    <a:pt x="25" y="8"/>
                    <a:pt x="20" y="8"/>
                  </a:cubicBezTo>
                  <a:cubicBezTo>
                    <a:pt x="13" y="8"/>
                    <a:pt x="8" y="13"/>
                    <a:pt x="8" y="20"/>
                  </a:cubicBezTo>
                  <a:cubicBezTo>
                    <a:pt x="8" y="22"/>
                    <a:pt x="6" y="23"/>
                    <a:pt x="4" y="2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7" name="Freeform 16"/>
            <p:cNvSpPr>
              <a:spLocks noEditPoints="1"/>
            </p:cNvSpPr>
            <p:nvPr/>
          </p:nvSpPr>
          <p:spPr bwMode="auto">
            <a:xfrm>
              <a:off x="5818189" y="1958042"/>
              <a:ext cx="5656828" cy="3021100"/>
            </a:xfrm>
            <a:custGeom>
              <a:avLst/>
              <a:gdLst>
                <a:gd name="T0" fmla="*/ 531 w 957"/>
                <a:gd name="T1" fmla="*/ 375 h 512"/>
                <a:gd name="T2" fmla="*/ 499 w 957"/>
                <a:gd name="T3" fmla="*/ 292 h 512"/>
                <a:gd name="T4" fmla="*/ 477 w 957"/>
                <a:gd name="T5" fmla="*/ 84 h 512"/>
                <a:gd name="T6" fmla="*/ 467 w 957"/>
                <a:gd name="T7" fmla="*/ 53 h 512"/>
                <a:gd name="T8" fmla="*/ 455 w 957"/>
                <a:gd name="T9" fmla="*/ 53 h 512"/>
                <a:gd name="T10" fmla="*/ 450 w 957"/>
                <a:gd name="T11" fmla="*/ 86 h 512"/>
                <a:gd name="T12" fmla="*/ 431 w 957"/>
                <a:gd name="T13" fmla="*/ 296 h 512"/>
                <a:gd name="T14" fmla="*/ 396 w 957"/>
                <a:gd name="T15" fmla="*/ 399 h 512"/>
                <a:gd name="T16" fmla="*/ 4 w 957"/>
                <a:gd name="T17" fmla="*/ 512 h 512"/>
                <a:gd name="T18" fmla="*/ 583 w 957"/>
                <a:gd name="T19" fmla="*/ 512 h 512"/>
                <a:gd name="T20" fmla="*/ 377 w 957"/>
                <a:gd name="T21" fmla="*/ 456 h 512"/>
                <a:gd name="T22" fmla="*/ 392 w 957"/>
                <a:gd name="T23" fmla="*/ 429 h 512"/>
                <a:gd name="T24" fmla="*/ 510 w 957"/>
                <a:gd name="T25" fmla="*/ 429 h 512"/>
                <a:gd name="T26" fmla="*/ 506 w 957"/>
                <a:gd name="T27" fmla="*/ 421 h 512"/>
                <a:gd name="T28" fmla="*/ 523 w 957"/>
                <a:gd name="T29" fmla="*/ 395 h 512"/>
                <a:gd name="T30" fmla="*/ 404 w 957"/>
                <a:gd name="T31" fmla="*/ 395 h 512"/>
                <a:gd name="T32" fmla="*/ 420 w 957"/>
                <a:gd name="T33" fmla="*/ 421 h 512"/>
                <a:gd name="T34" fmla="*/ 432 w 957"/>
                <a:gd name="T35" fmla="*/ 429 h 512"/>
                <a:gd name="T36" fmla="*/ 489 w 957"/>
                <a:gd name="T37" fmla="*/ 403 h 512"/>
                <a:gd name="T38" fmla="*/ 495 w 957"/>
                <a:gd name="T39" fmla="*/ 429 h 512"/>
                <a:gd name="T40" fmla="*/ 532 w 957"/>
                <a:gd name="T41" fmla="*/ 475 h 512"/>
                <a:gd name="T42" fmla="*/ 419 w 957"/>
                <a:gd name="T43" fmla="*/ 370 h 512"/>
                <a:gd name="T44" fmla="*/ 424 w 957"/>
                <a:gd name="T45" fmla="*/ 350 h 512"/>
                <a:gd name="T46" fmla="*/ 430 w 957"/>
                <a:gd name="T47" fmla="*/ 330 h 512"/>
                <a:gd name="T48" fmla="*/ 446 w 957"/>
                <a:gd name="T49" fmla="*/ 370 h 512"/>
                <a:gd name="T50" fmla="*/ 489 w 957"/>
                <a:gd name="T51" fmla="*/ 370 h 512"/>
                <a:gd name="T52" fmla="*/ 502 w 957"/>
                <a:gd name="T53" fmla="*/ 350 h 512"/>
                <a:gd name="T54" fmla="*/ 493 w 957"/>
                <a:gd name="T55" fmla="*/ 318 h 512"/>
                <a:gd name="T56" fmla="*/ 435 w 957"/>
                <a:gd name="T57" fmla="*/ 288 h 512"/>
                <a:gd name="T58" fmla="*/ 490 w 957"/>
                <a:gd name="T59" fmla="*/ 288 h 512"/>
                <a:gd name="T60" fmla="*/ 484 w 957"/>
                <a:gd name="T61" fmla="*/ 276 h 512"/>
                <a:gd name="T62" fmla="*/ 453 w 957"/>
                <a:gd name="T63" fmla="*/ 208 h 512"/>
                <a:gd name="T64" fmla="*/ 448 w 957"/>
                <a:gd name="T65" fmla="*/ 216 h 512"/>
                <a:gd name="T66" fmla="*/ 453 w 957"/>
                <a:gd name="T67" fmla="*/ 233 h 512"/>
                <a:gd name="T68" fmla="*/ 452 w 957"/>
                <a:gd name="T69" fmla="*/ 250 h 512"/>
                <a:gd name="T70" fmla="*/ 473 w 957"/>
                <a:gd name="T71" fmla="*/ 200 h 512"/>
                <a:gd name="T72" fmla="*/ 475 w 957"/>
                <a:gd name="T73" fmla="*/ 250 h 512"/>
                <a:gd name="T74" fmla="*/ 475 w 957"/>
                <a:gd name="T75" fmla="*/ 242 h 512"/>
                <a:gd name="T76" fmla="*/ 474 w 957"/>
                <a:gd name="T77" fmla="*/ 225 h 512"/>
                <a:gd name="T78" fmla="*/ 473 w 957"/>
                <a:gd name="T79" fmla="*/ 192 h 512"/>
                <a:gd name="T80" fmla="*/ 469 w 957"/>
                <a:gd name="T81" fmla="*/ 80 h 512"/>
                <a:gd name="T82" fmla="*/ 469 w 957"/>
                <a:gd name="T83" fmla="*/ 72 h 512"/>
                <a:gd name="T84" fmla="*/ 457 w 957"/>
                <a:gd name="T85" fmla="*/ 99 h 512"/>
                <a:gd name="T86" fmla="*/ 454 w 957"/>
                <a:gd name="T87" fmla="*/ 183 h 512"/>
                <a:gd name="T88" fmla="*/ 444 w 957"/>
                <a:gd name="T89" fmla="*/ 266 h 512"/>
                <a:gd name="T90" fmla="*/ 466 w 957"/>
                <a:gd name="T91" fmla="*/ 212 h 512"/>
                <a:gd name="T92" fmla="*/ 467 w 957"/>
                <a:gd name="T93" fmla="*/ 230 h 512"/>
                <a:gd name="T94" fmla="*/ 467 w 957"/>
                <a:gd name="T95" fmla="*/ 61 h 512"/>
                <a:gd name="T96" fmla="*/ 491 w 957"/>
                <a:gd name="T97" fmla="*/ 310 h 512"/>
                <a:gd name="T98" fmla="*/ 523 w 957"/>
                <a:gd name="T99" fmla="*/ 383 h 512"/>
                <a:gd name="T100" fmla="*/ 391 w 957"/>
                <a:gd name="T101" fmla="*/ 483 h 512"/>
                <a:gd name="T102" fmla="*/ 409 w 957"/>
                <a:gd name="T103" fmla="*/ 464 h 512"/>
                <a:gd name="T104" fmla="*/ 537 w 957"/>
                <a:gd name="T105" fmla="*/ 504 h 512"/>
                <a:gd name="T106" fmla="*/ 577 w 957"/>
                <a:gd name="T107" fmla="*/ 504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57" h="512">
                  <a:moveTo>
                    <a:pt x="953" y="504"/>
                  </a:moveTo>
                  <a:cubicBezTo>
                    <a:pt x="586" y="504"/>
                    <a:pt x="586" y="504"/>
                    <a:pt x="586" y="504"/>
                  </a:cubicBezTo>
                  <a:cubicBezTo>
                    <a:pt x="528" y="402"/>
                    <a:pt x="528" y="402"/>
                    <a:pt x="528" y="402"/>
                  </a:cubicBezTo>
                  <a:cubicBezTo>
                    <a:pt x="530" y="402"/>
                    <a:pt x="531" y="400"/>
                    <a:pt x="531" y="399"/>
                  </a:cubicBezTo>
                  <a:cubicBezTo>
                    <a:pt x="531" y="375"/>
                    <a:pt x="531" y="375"/>
                    <a:pt x="531" y="375"/>
                  </a:cubicBezTo>
                  <a:cubicBezTo>
                    <a:pt x="531" y="373"/>
                    <a:pt x="529" y="371"/>
                    <a:pt x="527" y="371"/>
                  </a:cubicBezTo>
                  <a:cubicBezTo>
                    <a:pt x="517" y="371"/>
                    <a:pt x="517" y="371"/>
                    <a:pt x="517" y="371"/>
                  </a:cubicBezTo>
                  <a:cubicBezTo>
                    <a:pt x="495" y="296"/>
                    <a:pt x="495" y="296"/>
                    <a:pt x="495" y="296"/>
                  </a:cubicBezTo>
                  <a:cubicBezTo>
                    <a:pt x="495" y="296"/>
                    <a:pt x="495" y="296"/>
                    <a:pt x="495" y="296"/>
                  </a:cubicBezTo>
                  <a:cubicBezTo>
                    <a:pt x="498" y="296"/>
                    <a:pt x="499" y="294"/>
                    <a:pt x="499" y="292"/>
                  </a:cubicBezTo>
                  <a:cubicBezTo>
                    <a:pt x="499" y="280"/>
                    <a:pt x="499" y="280"/>
                    <a:pt x="499" y="280"/>
                  </a:cubicBezTo>
                  <a:cubicBezTo>
                    <a:pt x="499" y="278"/>
                    <a:pt x="498" y="276"/>
                    <a:pt x="495" y="276"/>
                  </a:cubicBezTo>
                  <a:cubicBezTo>
                    <a:pt x="492" y="276"/>
                    <a:pt x="492" y="276"/>
                    <a:pt x="492" y="276"/>
                  </a:cubicBezTo>
                  <a:cubicBezTo>
                    <a:pt x="477" y="86"/>
                    <a:pt x="477" y="86"/>
                    <a:pt x="477" y="86"/>
                  </a:cubicBezTo>
                  <a:cubicBezTo>
                    <a:pt x="477" y="85"/>
                    <a:pt x="477" y="85"/>
                    <a:pt x="477" y="84"/>
                  </a:cubicBezTo>
                  <a:cubicBezTo>
                    <a:pt x="477" y="68"/>
                    <a:pt x="477" y="68"/>
                    <a:pt x="477" y="68"/>
                  </a:cubicBezTo>
                  <a:cubicBezTo>
                    <a:pt x="477" y="67"/>
                    <a:pt x="477" y="66"/>
                    <a:pt x="475" y="65"/>
                  </a:cubicBezTo>
                  <a:cubicBezTo>
                    <a:pt x="475" y="57"/>
                    <a:pt x="475" y="57"/>
                    <a:pt x="475" y="57"/>
                  </a:cubicBezTo>
                  <a:cubicBezTo>
                    <a:pt x="475" y="55"/>
                    <a:pt x="474" y="53"/>
                    <a:pt x="471" y="53"/>
                  </a:cubicBezTo>
                  <a:cubicBezTo>
                    <a:pt x="467" y="53"/>
                    <a:pt x="467" y="53"/>
                    <a:pt x="467" y="53"/>
                  </a:cubicBezTo>
                  <a:cubicBezTo>
                    <a:pt x="467" y="4"/>
                    <a:pt x="467" y="4"/>
                    <a:pt x="467" y="4"/>
                  </a:cubicBezTo>
                  <a:cubicBezTo>
                    <a:pt x="467" y="2"/>
                    <a:pt x="465" y="0"/>
                    <a:pt x="463" y="0"/>
                  </a:cubicBezTo>
                  <a:cubicBezTo>
                    <a:pt x="461" y="0"/>
                    <a:pt x="459" y="2"/>
                    <a:pt x="459" y="4"/>
                  </a:cubicBezTo>
                  <a:cubicBezTo>
                    <a:pt x="459" y="53"/>
                    <a:pt x="459" y="53"/>
                    <a:pt x="459" y="53"/>
                  </a:cubicBezTo>
                  <a:cubicBezTo>
                    <a:pt x="455" y="53"/>
                    <a:pt x="455" y="53"/>
                    <a:pt x="455" y="53"/>
                  </a:cubicBezTo>
                  <a:cubicBezTo>
                    <a:pt x="453" y="53"/>
                    <a:pt x="451" y="55"/>
                    <a:pt x="451" y="57"/>
                  </a:cubicBezTo>
                  <a:cubicBezTo>
                    <a:pt x="451" y="65"/>
                    <a:pt x="451" y="65"/>
                    <a:pt x="451" y="65"/>
                  </a:cubicBezTo>
                  <a:cubicBezTo>
                    <a:pt x="450" y="66"/>
                    <a:pt x="449" y="67"/>
                    <a:pt x="449" y="68"/>
                  </a:cubicBezTo>
                  <a:cubicBezTo>
                    <a:pt x="449" y="84"/>
                    <a:pt x="449" y="84"/>
                    <a:pt x="449" y="84"/>
                  </a:cubicBezTo>
                  <a:cubicBezTo>
                    <a:pt x="449" y="85"/>
                    <a:pt x="450" y="86"/>
                    <a:pt x="450" y="86"/>
                  </a:cubicBezTo>
                  <a:cubicBezTo>
                    <a:pt x="435" y="276"/>
                    <a:pt x="435" y="276"/>
                    <a:pt x="435" y="276"/>
                  </a:cubicBezTo>
                  <a:cubicBezTo>
                    <a:pt x="431" y="276"/>
                    <a:pt x="431" y="276"/>
                    <a:pt x="431" y="276"/>
                  </a:cubicBezTo>
                  <a:cubicBezTo>
                    <a:pt x="429" y="276"/>
                    <a:pt x="427" y="278"/>
                    <a:pt x="427" y="280"/>
                  </a:cubicBezTo>
                  <a:cubicBezTo>
                    <a:pt x="427" y="292"/>
                    <a:pt x="427" y="292"/>
                    <a:pt x="427" y="292"/>
                  </a:cubicBezTo>
                  <a:cubicBezTo>
                    <a:pt x="427" y="294"/>
                    <a:pt x="429" y="296"/>
                    <a:pt x="431" y="296"/>
                  </a:cubicBezTo>
                  <a:cubicBezTo>
                    <a:pt x="432" y="296"/>
                    <a:pt x="432" y="296"/>
                    <a:pt x="432" y="296"/>
                  </a:cubicBezTo>
                  <a:cubicBezTo>
                    <a:pt x="410" y="371"/>
                    <a:pt x="410" y="371"/>
                    <a:pt x="410" y="371"/>
                  </a:cubicBezTo>
                  <a:cubicBezTo>
                    <a:pt x="400" y="371"/>
                    <a:pt x="400" y="371"/>
                    <a:pt x="400" y="371"/>
                  </a:cubicBezTo>
                  <a:cubicBezTo>
                    <a:pt x="398" y="371"/>
                    <a:pt x="396" y="373"/>
                    <a:pt x="396" y="375"/>
                  </a:cubicBezTo>
                  <a:cubicBezTo>
                    <a:pt x="396" y="399"/>
                    <a:pt x="396" y="399"/>
                    <a:pt x="396" y="399"/>
                  </a:cubicBezTo>
                  <a:cubicBezTo>
                    <a:pt x="396" y="400"/>
                    <a:pt x="397" y="402"/>
                    <a:pt x="398" y="402"/>
                  </a:cubicBezTo>
                  <a:cubicBezTo>
                    <a:pt x="341" y="504"/>
                    <a:pt x="341" y="504"/>
                    <a:pt x="341" y="504"/>
                  </a:cubicBezTo>
                  <a:cubicBezTo>
                    <a:pt x="4" y="504"/>
                    <a:pt x="4" y="504"/>
                    <a:pt x="4" y="504"/>
                  </a:cubicBezTo>
                  <a:cubicBezTo>
                    <a:pt x="2" y="504"/>
                    <a:pt x="0" y="506"/>
                    <a:pt x="0" y="508"/>
                  </a:cubicBezTo>
                  <a:cubicBezTo>
                    <a:pt x="0" y="510"/>
                    <a:pt x="2" y="512"/>
                    <a:pt x="4" y="512"/>
                  </a:cubicBezTo>
                  <a:cubicBezTo>
                    <a:pt x="343" y="512"/>
                    <a:pt x="343" y="512"/>
                    <a:pt x="343" y="512"/>
                  </a:cubicBezTo>
                  <a:cubicBezTo>
                    <a:pt x="383" y="512"/>
                    <a:pt x="383" y="512"/>
                    <a:pt x="383" y="512"/>
                  </a:cubicBezTo>
                  <a:cubicBezTo>
                    <a:pt x="543" y="512"/>
                    <a:pt x="543" y="512"/>
                    <a:pt x="543" y="512"/>
                  </a:cubicBezTo>
                  <a:cubicBezTo>
                    <a:pt x="543" y="512"/>
                    <a:pt x="543" y="512"/>
                    <a:pt x="543" y="512"/>
                  </a:cubicBezTo>
                  <a:cubicBezTo>
                    <a:pt x="583" y="512"/>
                    <a:pt x="583" y="512"/>
                    <a:pt x="583" y="512"/>
                  </a:cubicBezTo>
                  <a:cubicBezTo>
                    <a:pt x="583" y="512"/>
                    <a:pt x="583" y="512"/>
                    <a:pt x="583" y="512"/>
                  </a:cubicBezTo>
                  <a:cubicBezTo>
                    <a:pt x="953" y="512"/>
                    <a:pt x="953" y="512"/>
                    <a:pt x="953" y="512"/>
                  </a:cubicBezTo>
                  <a:cubicBezTo>
                    <a:pt x="956" y="512"/>
                    <a:pt x="957" y="510"/>
                    <a:pt x="957" y="508"/>
                  </a:cubicBezTo>
                  <a:cubicBezTo>
                    <a:pt x="957" y="506"/>
                    <a:pt x="956" y="504"/>
                    <a:pt x="953" y="504"/>
                  </a:cubicBezTo>
                  <a:close/>
                  <a:moveTo>
                    <a:pt x="377" y="456"/>
                  </a:moveTo>
                  <a:cubicBezTo>
                    <a:pt x="404" y="456"/>
                    <a:pt x="404" y="456"/>
                    <a:pt x="404" y="456"/>
                  </a:cubicBezTo>
                  <a:cubicBezTo>
                    <a:pt x="395" y="475"/>
                    <a:pt x="395" y="475"/>
                    <a:pt x="395" y="475"/>
                  </a:cubicBezTo>
                  <a:cubicBezTo>
                    <a:pt x="367" y="475"/>
                    <a:pt x="367" y="475"/>
                    <a:pt x="367" y="475"/>
                  </a:cubicBezTo>
                  <a:lnTo>
                    <a:pt x="377" y="456"/>
                  </a:lnTo>
                  <a:close/>
                  <a:moveTo>
                    <a:pt x="392" y="429"/>
                  </a:moveTo>
                  <a:cubicBezTo>
                    <a:pt x="417" y="429"/>
                    <a:pt x="417" y="429"/>
                    <a:pt x="417" y="429"/>
                  </a:cubicBezTo>
                  <a:cubicBezTo>
                    <a:pt x="408" y="448"/>
                    <a:pt x="408" y="448"/>
                    <a:pt x="408" y="448"/>
                  </a:cubicBezTo>
                  <a:cubicBezTo>
                    <a:pt x="382" y="448"/>
                    <a:pt x="382" y="448"/>
                    <a:pt x="382" y="448"/>
                  </a:cubicBezTo>
                  <a:lnTo>
                    <a:pt x="392" y="429"/>
                  </a:lnTo>
                  <a:close/>
                  <a:moveTo>
                    <a:pt x="510" y="429"/>
                  </a:moveTo>
                  <a:cubicBezTo>
                    <a:pt x="534" y="429"/>
                    <a:pt x="534" y="429"/>
                    <a:pt x="534" y="429"/>
                  </a:cubicBezTo>
                  <a:cubicBezTo>
                    <a:pt x="545" y="448"/>
                    <a:pt x="545" y="448"/>
                    <a:pt x="545" y="448"/>
                  </a:cubicBezTo>
                  <a:cubicBezTo>
                    <a:pt x="519" y="448"/>
                    <a:pt x="519" y="448"/>
                    <a:pt x="519" y="448"/>
                  </a:cubicBezTo>
                  <a:lnTo>
                    <a:pt x="510" y="429"/>
                  </a:lnTo>
                  <a:close/>
                  <a:moveTo>
                    <a:pt x="506" y="421"/>
                  </a:moveTo>
                  <a:cubicBezTo>
                    <a:pt x="498" y="403"/>
                    <a:pt x="498" y="403"/>
                    <a:pt x="498" y="403"/>
                  </a:cubicBezTo>
                  <a:cubicBezTo>
                    <a:pt x="519" y="403"/>
                    <a:pt x="519" y="403"/>
                    <a:pt x="519" y="403"/>
                  </a:cubicBezTo>
                  <a:cubicBezTo>
                    <a:pt x="530" y="421"/>
                    <a:pt x="530" y="421"/>
                    <a:pt x="530" y="421"/>
                  </a:cubicBezTo>
                  <a:lnTo>
                    <a:pt x="506" y="421"/>
                  </a:lnTo>
                  <a:close/>
                  <a:moveTo>
                    <a:pt x="523" y="395"/>
                  </a:moveTo>
                  <a:cubicBezTo>
                    <a:pt x="522" y="395"/>
                    <a:pt x="522" y="395"/>
                    <a:pt x="522" y="395"/>
                  </a:cubicBezTo>
                  <a:cubicBezTo>
                    <a:pt x="491" y="395"/>
                    <a:pt x="491" y="395"/>
                    <a:pt x="491" y="395"/>
                  </a:cubicBezTo>
                  <a:cubicBezTo>
                    <a:pt x="435" y="395"/>
                    <a:pt x="435" y="395"/>
                    <a:pt x="435" y="395"/>
                  </a:cubicBezTo>
                  <a:cubicBezTo>
                    <a:pt x="405" y="395"/>
                    <a:pt x="405" y="395"/>
                    <a:pt x="405" y="395"/>
                  </a:cubicBezTo>
                  <a:cubicBezTo>
                    <a:pt x="404" y="395"/>
                    <a:pt x="404" y="395"/>
                    <a:pt x="404" y="395"/>
                  </a:cubicBezTo>
                  <a:cubicBezTo>
                    <a:pt x="404" y="391"/>
                    <a:pt x="404" y="391"/>
                    <a:pt x="404" y="391"/>
                  </a:cubicBezTo>
                  <a:cubicBezTo>
                    <a:pt x="523" y="391"/>
                    <a:pt x="523" y="391"/>
                    <a:pt x="523" y="391"/>
                  </a:cubicBezTo>
                  <a:lnTo>
                    <a:pt x="523" y="395"/>
                  </a:lnTo>
                  <a:close/>
                  <a:moveTo>
                    <a:pt x="429" y="403"/>
                  </a:moveTo>
                  <a:cubicBezTo>
                    <a:pt x="420" y="421"/>
                    <a:pt x="420" y="421"/>
                    <a:pt x="420" y="421"/>
                  </a:cubicBezTo>
                  <a:cubicBezTo>
                    <a:pt x="397" y="421"/>
                    <a:pt x="397" y="421"/>
                    <a:pt x="397" y="421"/>
                  </a:cubicBezTo>
                  <a:cubicBezTo>
                    <a:pt x="407" y="403"/>
                    <a:pt x="407" y="403"/>
                    <a:pt x="407" y="403"/>
                  </a:cubicBezTo>
                  <a:lnTo>
                    <a:pt x="429" y="403"/>
                  </a:lnTo>
                  <a:close/>
                  <a:moveTo>
                    <a:pt x="425" y="429"/>
                  </a:moveTo>
                  <a:cubicBezTo>
                    <a:pt x="432" y="429"/>
                    <a:pt x="432" y="429"/>
                    <a:pt x="432" y="429"/>
                  </a:cubicBezTo>
                  <a:cubicBezTo>
                    <a:pt x="429" y="431"/>
                    <a:pt x="425" y="433"/>
                    <a:pt x="422" y="436"/>
                  </a:cubicBezTo>
                  <a:lnTo>
                    <a:pt x="425" y="429"/>
                  </a:lnTo>
                  <a:close/>
                  <a:moveTo>
                    <a:pt x="429" y="421"/>
                  </a:moveTo>
                  <a:cubicBezTo>
                    <a:pt x="438" y="403"/>
                    <a:pt x="438" y="403"/>
                    <a:pt x="438" y="403"/>
                  </a:cubicBezTo>
                  <a:cubicBezTo>
                    <a:pt x="489" y="403"/>
                    <a:pt x="489" y="403"/>
                    <a:pt x="489" y="403"/>
                  </a:cubicBezTo>
                  <a:cubicBezTo>
                    <a:pt x="498" y="421"/>
                    <a:pt x="498" y="421"/>
                    <a:pt x="498" y="421"/>
                  </a:cubicBezTo>
                  <a:lnTo>
                    <a:pt x="429" y="421"/>
                  </a:lnTo>
                  <a:close/>
                  <a:moveTo>
                    <a:pt x="501" y="429"/>
                  </a:moveTo>
                  <a:cubicBezTo>
                    <a:pt x="504" y="435"/>
                    <a:pt x="504" y="435"/>
                    <a:pt x="504" y="435"/>
                  </a:cubicBezTo>
                  <a:cubicBezTo>
                    <a:pt x="502" y="433"/>
                    <a:pt x="499" y="431"/>
                    <a:pt x="495" y="429"/>
                  </a:cubicBezTo>
                  <a:lnTo>
                    <a:pt x="501" y="429"/>
                  </a:lnTo>
                  <a:close/>
                  <a:moveTo>
                    <a:pt x="523" y="456"/>
                  </a:moveTo>
                  <a:cubicBezTo>
                    <a:pt x="549" y="456"/>
                    <a:pt x="549" y="456"/>
                    <a:pt x="549" y="456"/>
                  </a:cubicBezTo>
                  <a:cubicBezTo>
                    <a:pt x="560" y="475"/>
                    <a:pt x="560" y="475"/>
                    <a:pt x="560" y="475"/>
                  </a:cubicBezTo>
                  <a:cubicBezTo>
                    <a:pt x="532" y="475"/>
                    <a:pt x="532" y="475"/>
                    <a:pt x="532" y="475"/>
                  </a:cubicBezTo>
                  <a:lnTo>
                    <a:pt x="523" y="456"/>
                  </a:lnTo>
                  <a:close/>
                  <a:moveTo>
                    <a:pt x="422" y="358"/>
                  </a:moveTo>
                  <a:cubicBezTo>
                    <a:pt x="440" y="358"/>
                    <a:pt x="440" y="358"/>
                    <a:pt x="440" y="358"/>
                  </a:cubicBezTo>
                  <a:cubicBezTo>
                    <a:pt x="438" y="370"/>
                    <a:pt x="438" y="370"/>
                    <a:pt x="438" y="370"/>
                  </a:cubicBezTo>
                  <a:cubicBezTo>
                    <a:pt x="419" y="370"/>
                    <a:pt x="419" y="370"/>
                    <a:pt x="419" y="370"/>
                  </a:cubicBezTo>
                  <a:lnTo>
                    <a:pt x="422" y="358"/>
                  </a:lnTo>
                  <a:close/>
                  <a:moveTo>
                    <a:pt x="428" y="338"/>
                  </a:moveTo>
                  <a:cubicBezTo>
                    <a:pt x="443" y="338"/>
                    <a:pt x="443" y="338"/>
                    <a:pt x="443" y="338"/>
                  </a:cubicBezTo>
                  <a:cubicBezTo>
                    <a:pt x="441" y="350"/>
                    <a:pt x="441" y="350"/>
                    <a:pt x="441" y="350"/>
                  </a:cubicBezTo>
                  <a:cubicBezTo>
                    <a:pt x="424" y="350"/>
                    <a:pt x="424" y="350"/>
                    <a:pt x="424" y="350"/>
                  </a:cubicBezTo>
                  <a:lnTo>
                    <a:pt x="428" y="338"/>
                  </a:lnTo>
                  <a:close/>
                  <a:moveTo>
                    <a:pt x="434" y="318"/>
                  </a:moveTo>
                  <a:cubicBezTo>
                    <a:pt x="446" y="318"/>
                    <a:pt x="446" y="318"/>
                    <a:pt x="446" y="318"/>
                  </a:cubicBezTo>
                  <a:cubicBezTo>
                    <a:pt x="444" y="330"/>
                    <a:pt x="444" y="330"/>
                    <a:pt x="444" y="330"/>
                  </a:cubicBezTo>
                  <a:cubicBezTo>
                    <a:pt x="430" y="330"/>
                    <a:pt x="430" y="330"/>
                    <a:pt x="430" y="330"/>
                  </a:cubicBezTo>
                  <a:lnTo>
                    <a:pt x="434" y="318"/>
                  </a:lnTo>
                  <a:close/>
                  <a:moveTo>
                    <a:pt x="454" y="318"/>
                  </a:moveTo>
                  <a:cubicBezTo>
                    <a:pt x="473" y="318"/>
                    <a:pt x="473" y="318"/>
                    <a:pt x="473" y="318"/>
                  </a:cubicBezTo>
                  <a:cubicBezTo>
                    <a:pt x="481" y="370"/>
                    <a:pt x="481" y="370"/>
                    <a:pt x="481" y="370"/>
                  </a:cubicBezTo>
                  <a:cubicBezTo>
                    <a:pt x="446" y="370"/>
                    <a:pt x="446" y="370"/>
                    <a:pt x="446" y="370"/>
                  </a:cubicBezTo>
                  <a:lnTo>
                    <a:pt x="454" y="318"/>
                  </a:lnTo>
                  <a:close/>
                  <a:moveTo>
                    <a:pt x="487" y="358"/>
                  </a:moveTo>
                  <a:cubicBezTo>
                    <a:pt x="505" y="358"/>
                    <a:pt x="505" y="358"/>
                    <a:pt x="505" y="358"/>
                  </a:cubicBezTo>
                  <a:cubicBezTo>
                    <a:pt x="508" y="370"/>
                    <a:pt x="508" y="370"/>
                    <a:pt x="508" y="370"/>
                  </a:cubicBezTo>
                  <a:cubicBezTo>
                    <a:pt x="489" y="370"/>
                    <a:pt x="489" y="370"/>
                    <a:pt x="489" y="370"/>
                  </a:cubicBezTo>
                  <a:lnTo>
                    <a:pt x="487" y="358"/>
                  </a:lnTo>
                  <a:close/>
                  <a:moveTo>
                    <a:pt x="486" y="350"/>
                  </a:moveTo>
                  <a:cubicBezTo>
                    <a:pt x="484" y="338"/>
                    <a:pt x="484" y="338"/>
                    <a:pt x="484" y="338"/>
                  </a:cubicBezTo>
                  <a:cubicBezTo>
                    <a:pt x="499" y="338"/>
                    <a:pt x="499" y="338"/>
                    <a:pt x="499" y="338"/>
                  </a:cubicBezTo>
                  <a:cubicBezTo>
                    <a:pt x="502" y="350"/>
                    <a:pt x="502" y="350"/>
                    <a:pt x="502" y="350"/>
                  </a:cubicBezTo>
                  <a:lnTo>
                    <a:pt x="486" y="350"/>
                  </a:lnTo>
                  <a:close/>
                  <a:moveTo>
                    <a:pt x="497" y="330"/>
                  </a:moveTo>
                  <a:cubicBezTo>
                    <a:pt x="483" y="330"/>
                    <a:pt x="483" y="330"/>
                    <a:pt x="483" y="330"/>
                  </a:cubicBezTo>
                  <a:cubicBezTo>
                    <a:pt x="481" y="318"/>
                    <a:pt x="481" y="318"/>
                    <a:pt x="481" y="318"/>
                  </a:cubicBezTo>
                  <a:cubicBezTo>
                    <a:pt x="493" y="318"/>
                    <a:pt x="493" y="318"/>
                    <a:pt x="493" y="318"/>
                  </a:cubicBezTo>
                  <a:lnTo>
                    <a:pt x="497" y="330"/>
                  </a:lnTo>
                  <a:close/>
                  <a:moveTo>
                    <a:pt x="490" y="288"/>
                  </a:moveTo>
                  <a:cubicBezTo>
                    <a:pt x="437" y="288"/>
                    <a:pt x="437" y="288"/>
                    <a:pt x="437" y="288"/>
                  </a:cubicBezTo>
                  <a:cubicBezTo>
                    <a:pt x="437" y="288"/>
                    <a:pt x="437" y="288"/>
                    <a:pt x="437" y="288"/>
                  </a:cubicBezTo>
                  <a:cubicBezTo>
                    <a:pt x="435" y="288"/>
                    <a:pt x="435" y="288"/>
                    <a:pt x="435" y="288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91" y="284"/>
                    <a:pt x="491" y="284"/>
                    <a:pt x="491" y="284"/>
                  </a:cubicBezTo>
                  <a:cubicBezTo>
                    <a:pt x="491" y="288"/>
                    <a:pt x="491" y="288"/>
                    <a:pt x="491" y="288"/>
                  </a:cubicBezTo>
                  <a:cubicBezTo>
                    <a:pt x="490" y="288"/>
                    <a:pt x="490" y="288"/>
                    <a:pt x="490" y="288"/>
                  </a:cubicBezTo>
                  <a:cubicBezTo>
                    <a:pt x="490" y="288"/>
                    <a:pt x="490" y="288"/>
                    <a:pt x="490" y="288"/>
                  </a:cubicBezTo>
                  <a:close/>
                  <a:moveTo>
                    <a:pt x="484" y="276"/>
                  </a:moveTo>
                  <a:cubicBezTo>
                    <a:pt x="476" y="276"/>
                    <a:pt x="476" y="276"/>
                    <a:pt x="476" y="276"/>
                  </a:cubicBezTo>
                  <a:cubicBezTo>
                    <a:pt x="476" y="266"/>
                    <a:pt x="476" y="266"/>
                    <a:pt x="476" y="266"/>
                  </a:cubicBezTo>
                  <a:cubicBezTo>
                    <a:pt x="483" y="266"/>
                    <a:pt x="483" y="266"/>
                    <a:pt x="483" y="266"/>
                  </a:cubicBezTo>
                  <a:lnTo>
                    <a:pt x="484" y="276"/>
                  </a:lnTo>
                  <a:close/>
                  <a:moveTo>
                    <a:pt x="453" y="208"/>
                  </a:moveTo>
                  <a:cubicBezTo>
                    <a:pt x="449" y="208"/>
                    <a:pt x="449" y="208"/>
                    <a:pt x="449" y="208"/>
                  </a:cubicBezTo>
                  <a:cubicBezTo>
                    <a:pt x="449" y="200"/>
                    <a:pt x="449" y="200"/>
                    <a:pt x="449" y="200"/>
                  </a:cubicBezTo>
                  <a:cubicBezTo>
                    <a:pt x="454" y="200"/>
                    <a:pt x="454" y="200"/>
                    <a:pt x="454" y="200"/>
                  </a:cubicBezTo>
                  <a:lnTo>
                    <a:pt x="453" y="208"/>
                  </a:lnTo>
                  <a:close/>
                  <a:moveTo>
                    <a:pt x="448" y="216"/>
                  </a:moveTo>
                  <a:cubicBezTo>
                    <a:pt x="453" y="216"/>
                    <a:pt x="453" y="216"/>
                    <a:pt x="453" y="216"/>
                  </a:cubicBezTo>
                  <a:cubicBezTo>
                    <a:pt x="453" y="225"/>
                    <a:pt x="453" y="225"/>
                    <a:pt x="453" y="225"/>
                  </a:cubicBezTo>
                  <a:cubicBezTo>
                    <a:pt x="447" y="225"/>
                    <a:pt x="447" y="225"/>
                    <a:pt x="447" y="225"/>
                  </a:cubicBezTo>
                  <a:lnTo>
                    <a:pt x="448" y="216"/>
                  </a:lnTo>
                  <a:close/>
                  <a:moveTo>
                    <a:pt x="453" y="233"/>
                  </a:moveTo>
                  <a:cubicBezTo>
                    <a:pt x="452" y="242"/>
                    <a:pt x="452" y="242"/>
                    <a:pt x="452" y="242"/>
                  </a:cubicBezTo>
                  <a:cubicBezTo>
                    <a:pt x="446" y="242"/>
                    <a:pt x="446" y="242"/>
                    <a:pt x="446" y="242"/>
                  </a:cubicBezTo>
                  <a:cubicBezTo>
                    <a:pt x="447" y="233"/>
                    <a:pt x="447" y="233"/>
                    <a:pt x="447" y="233"/>
                  </a:cubicBezTo>
                  <a:lnTo>
                    <a:pt x="453" y="233"/>
                  </a:lnTo>
                  <a:close/>
                  <a:moveTo>
                    <a:pt x="452" y="250"/>
                  </a:moveTo>
                  <a:cubicBezTo>
                    <a:pt x="452" y="258"/>
                    <a:pt x="452" y="258"/>
                    <a:pt x="452" y="258"/>
                  </a:cubicBezTo>
                  <a:cubicBezTo>
                    <a:pt x="445" y="258"/>
                    <a:pt x="445" y="258"/>
                    <a:pt x="445" y="258"/>
                  </a:cubicBezTo>
                  <a:cubicBezTo>
                    <a:pt x="445" y="250"/>
                    <a:pt x="445" y="250"/>
                    <a:pt x="445" y="250"/>
                  </a:cubicBezTo>
                  <a:lnTo>
                    <a:pt x="452" y="250"/>
                  </a:lnTo>
                  <a:close/>
                  <a:moveTo>
                    <a:pt x="473" y="200"/>
                  </a:moveTo>
                  <a:cubicBezTo>
                    <a:pt x="478" y="200"/>
                    <a:pt x="478" y="200"/>
                    <a:pt x="478" y="200"/>
                  </a:cubicBezTo>
                  <a:cubicBezTo>
                    <a:pt x="479" y="208"/>
                    <a:pt x="479" y="208"/>
                    <a:pt x="479" y="208"/>
                  </a:cubicBezTo>
                  <a:cubicBezTo>
                    <a:pt x="474" y="208"/>
                    <a:pt x="474" y="208"/>
                    <a:pt x="474" y="208"/>
                  </a:cubicBezTo>
                  <a:lnTo>
                    <a:pt x="473" y="200"/>
                  </a:lnTo>
                  <a:close/>
                  <a:moveTo>
                    <a:pt x="475" y="250"/>
                  </a:moveTo>
                  <a:cubicBezTo>
                    <a:pt x="482" y="250"/>
                    <a:pt x="482" y="250"/>
                    <a:pt x="482" y="250"/>
                  </a:cubicBezTo>
                  <a:cubicBezTo>
                    <a:pt x="483" y="258"/>
                    <a:pt x="483" y="258"/>
                    <a:pt x="483" y="258"/>
                  </a:cubicBezTo>
                  <a:cubicBezTo>
                    <a:pt x="476" y="258"/>
                    <a:pt x="476" y="258"/>
                    <a:pt x="476" y="258"/>
                  </a:cubicBezTo>
                  <a:lnTo>
                    <a:pt x="475" y="250"/>
                  </a:lnTo>
                  <a:close/>
                  <a:moveTo>
                    <a:pt x="475" y="242"/>
                  </a:moveTo>
                  <a:cubicBezTo>
                    <a:pt x="475" y="233"/>
                    <a:pt x="475" y="233"/>
                    <a:pt x="475" y="233"/>
                  </a:cubicBezTo>
                  <a:cubicBezTo>
                    <a:pt x="481" y="233"/>
                    <a:pt x="481" y="233"/>
                    <a:pt x="481" y="233"/>
                  </a:cubicBezTo>
                  <a:cubicBezTo>
                    <a:pt x="481" y="242"/>
                    <a:pt x="481" y="242"/>
                    <a:pt x="481" y="242"/>
                  </a:cubicBezTo>
                  <a:lnTo>
                    <a:pt x="475" y="242"/>
                  </a:lnTo>
                  <a:close/>
                  <a:moveTo>
                    <a:pt x="474" y="225"/>
                  </a:moveTo>
                  <a:cubicBezTo>
                    <a:pt x="474" y="216"/>
                    <a:pt x="474" y="216"/>
                    <a:pt x="474" y="216"/>
                  </a:cubicBezTo>
                  <a:cubicBezTo>
                    <a:pt x="479" y="216"/>
                    <a:pt x="479" y="216"/>
                    <a:pt x="479" y="216"/>
                  </a:cubicBezTo>
                  <a:cubicBezTo>
                    <a:pt x="480" y="225"/>
                    <a:pt x="480" y="225"/>
                    <a:pt x="480" y="225"/>
                  </a:cubicBezTo>
                  <a:lnTo>
                    <a:pt x="474" y="225"/>
                  </a:lnTo>
                  <a:close/>
                  <a:moveTo>
                    <a:pt x="473" y="192"/>
                  </a:moveTo>
                  <a:cubicBezTo>
                    <a:pt x="473" y="183"/>
                    <a:pt x="473" y="183"/>
                    <a:pt x="473" y="183"/>
                  </a:cubicBezTo>
                  <a:cubicBezTo>
                    <a:pt x="477" y="183"/>
                    <a:pt x="477" y="183"/>
                    <a:pt x="477" y="183"/>
                  </a:cubicBezTo>
                  <a:cubicBezTo>
                    <a:pt x="477" y="192"/>
                    <a:pt x="477" y="192"/>
                    <a:pt x="477" y="192"/>
                  </a:cubicBezTo>
                  <a:lnTo>
                    <a:pt x="473" y="192"/>
                  </a:lnTo>
                  <a:close/>
                  <a:moveTo>
                    <a:pt x="473" y="175"/>
                  </a:moveTo>
                  <a:cubicBezTo>
                    <a:pt x="470" y="99"/>
                    <a:pt x="470" y="99"/>
                    <a:pt x="470" y="99"/>
                  </a:cubicBezTo>
                  <a:cubicBezTo>
                    <a:pt x="476" y="175"/>
                    <a:pt x="476" y="175"/>
                    <a:pt x="476" y="175"/>
                  </a:cubicBezTo>
                  <a:lnTo>
                    <a:pt x="473" y="175"/>
                  </a:lnTo>
                  <a:close/>
                  <a:moveTo>
                    <a:pt x="469" y="80"/>
                  </a:moveTo>
                  <a:cubicBezTo>
                    <a:pt x="465" y="80"/>
                    <a:pt x="465" y="80"/>
                    <a:pt x="465" y="80"/>
                  </a:cubicBezTo>
                  <a:cubicBezTo>
                    <a:pt x="462" y="80"/>
                    <a:pt x="462" y="80"/>
                    <a:pt x="462" y="80"/>
                  </a:cubicBezTo>
                  <a:cubicBezTo>
                    <a:pt x="457" y="80"/>
                    <a:pt x="457" y="80"/>
                    <a:pt x="457" y="80"/>
                  </a:cubicBezTo>
                  <a:cubicBezTo>
                    <a:pt x="457" y="72"/>
                    <a:pt x="457" y="72"/>
                    <a:pt x="457" y="72"/>
                  </a:cubicBezTo>
                  <a:cubicBezTo>
                    <a:pt x="469" y="72"/>
                    <a:pt x="469" y="72"/>
                    <a:pt x="469" y="72"/>
                  </a:cubicBezTo>
                  <a:lnTo>
                    <a:pt x="469" y="80"/>
                  </a:lnTo>
                  <a:close/>
                  <a:moveTo>
                    <a:pt x="457" y="99"/>
                  </a:moveTo>
                  <a:cubicBezTo>
                    <a:pt x="455" y="175"/>
                    <a:pt x="455" y="175"/>
                    <a:pt x="455" y="175"/>
                  </a:cubicBezTo>
                  <a:cubicBezTo>
                    <a:pt x="451" y="175"/>
                    <a:pt x="451" y="175"/>
                    <a:pt x="451" y="175"/>
                  </a:cubicBezTo>
                  <a:lnTo>
                    <a:pt x="457" y="99"/>
                  </a:lnTo>
                  <a:close/>
                  <a:moveTo>
                    <a:pt x="454" y="183"/>
                  </a:moveTo>
                  <a:cubicBezTo>
                    <a:pt x="454" y="192"/>
                    <a:pt x="454" y="192"/>
                    <a:pt x="454" y="192"/>
                  </a:cubicBezTo>
                  <a:cubicBezTo>
                    <a:pt x="450" y="192"/>
                    <a:pt x="450" y="192"/>
                    <a:pt x="450" y="192"/>
                  </a:cubicBezTo>
                  <a:cubicBezTo>
                    <a:pt x="450" y="183"/>
                    <a:pt x="450" y="183"/>
                    <a:pt x="450" y="183"/>
                  </a:cubicBezTo>
                  <a:lnTo>
                    <a:pt x="454" y="183"/>
                  </a:lnTo>
                  <a:close/>
                  <a:moveTo>
                    <a:pt x="444" y="266"/>
                  </a:moveTo>
                  <a:cubicBezTo>
                    <a:pt x="451" y="266"/>
                    <a:pt x="451" y="266"/>
                    <a:pt x="451" y="266"/>
                  </a:cubicBezTo>
                  <a:cubicBezTo>
                    <a:pt x="451" y="276"/>
                    <a:pt x="451" y="276"/>
                    <a:pt x="451" y="276"/>
                  </a:cubicBezTo>
                  <a:cubicBezTo>
                    <a:pt x="443" y="276"/>
                    <a:pt x="443" y="276"/>
                    <a:pt x="443" y="276"/>
                  </a:cubicBezTo>
                  <a:lnTo>
                    <a:pt x="444" y="266"/>
                  </a:lnTo>
                  <a:close/>
                  <a:moveTo>
                    <a:pt x="464" y="147"/>
                  </a:moveTo>
                  <a:cubicBezTo>
                    <a:pt x="465" y="195"/>
                    <a:pt x="465" y="195"/>
                    <a:pt x="465" y="195"/>
                  </a:cubicBezTo>
                  <a:cubicBezTo>
                    <a:pt x="465" y="195"/>
                    <a:pt x="465" y="196"/>
                    <a:pt x="465" y="196"/>
                  </a:cubicBezTo>
                  <a:cubicBezTo>
                    <a:pt x="465" y="196"/>
                    <a:pt x="465" y="196"/>
                    <a:pt x="465" y="196"/>
                  </a:cubicBezTo>
                  <a:cubicBezTo>
                    <a:pt x="466" y="212"/>
                    <a:pt x="466" y="212"/>
                    <a:pt x="466" y="212"/>
                  </a:cubicBezTo>
                  <a:cubicBezTo>
                    <a:pt x="466" y="212"/>
                    <a:pt x="466" y="212"/>
                    <a:pt x="466" y="212"/>
                  </a:cubicBezTo>
                  <a:cubicBezTo>
                    <a:pt x="466" y="213"/>
                    <a:pt x="466" y="213"/>
                    <a:pt x="466" y="213"/>
                  </a:cubicBezTo>
                  <a:cubicBezTo>
                    <a:pt x="466" y="229"/>
                    <a:pt x="466" y="229"/>
                    <a:pt x="466" y="229"/>
                  </a:cubicBezTo>
                  <a:cubicBezTo>
                    <a:pt x="466" y="229"/>
                    <a:pt x="466" y="229"/>
                    <a:pt x="466" y="229"/>
                  </a:cubicBezTo>
                  <a:cubicBezTo>
                    <a:pt x="466" y="229"/>
                    <a:pt x="466" y="230"/>
                    <a:pt x="467" y="230"/>
                  </a:cubicBezTo>
                  <a:cubicBezTo>
                    <a:pt x="468" y="276"/>
                    <a:pt x="468" y="276"/>
                    <a:pt x="468" y="276"/>
                  </a:cubicBezTo>
                  <a:cubicBezTo>
                    <a:pt x="459" y="276"/>
                    <a:pt x="459" y="276"/>
                    <a:pt x="459" y="276"/>
                  </a:cubicBezTo>
                  <a:lnTo>
                    <a:pt x="464" y="147"/>
                  </a:lnTo>
                  <a:close/>
                  <a:moveTo>
                    <a:pt x="459" y="61"/>
                  </a:moveTo>
                  <a:cubicBezTo>
                    <a:pt x="467" y="61"/>
                    <a:pt x="467" y="61"/>
                    <a:pt x="467" y="61"/>
                  </a:cubicBezTo>
                  <a:cubicBezTo>
                    <a:pt x="467" y="64"/>
                    <a:pt x="467" y="64"/>
                    <a:pt x="467" y="64"/>
                  </a:cubicBezTo>
                  <a:cubicBezTo>
                    <a:pt x="459" y="64"/>
                    <a:pt x="459" y="64"/>
                    <a:pt x="459" y="64"/>
                  </a:cubicBezTo>
                  <a:lnTo>
                    <a:pt x="459" y="61"/>
                  </a:lnTo>
                  <a:close/>
                  <a:moveTo>
                    <a:pt x="487" y="296"/>
                  </a:moveTo>
                  <a:cubicBezTo>
                    <a:pt x="491" y="310"/>
                    <a:pt x="491" y="310"/>
                    <a:pt x="491" y="310"/>
                  </a:cubicBezTo>
                  <a:cubicBezTo>
                    <a:pt x="436" y="310"/>
                    <a:pt x="436" y="310"/>
                    <a:pt x="436" y="310"/>
                  </a:cubicBezTo>
                  <a:cubicBezTo>
                    <a:pt x="440" y="296"/>
                    <a:pt x="440" y="296"/>
                    <a:pt x="440" y="296"/>
                  </a:cubicBezTo>
                  <a:lnTo>
                    <a:pt x="487" y="296"/>
                  </a:lnTo>
                  <a:close/>
                  <a:moveTo>
                    <a:pt x="523" y="379"/>
                  </a:moveTo>
                  <a:cubicBezTo>
                    <a:pt x="523" y="383"/>
                    <a:pt x="523" y="383"/>
                    <a:pt x="523" y="383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404" y="379"/>
                    <a:pt x="404" y="379"/>
                    <a:pt x="404" y="379"/>
                  </a:cubicBezTo>
                  <a:lnTo>
                    <a:pt x="523" y="379"/>
                  </a:lnTo>
                  <a:close/>
                  <a:moveTo>
                    <a:pt x="362" y="483"/>
                  </a:moveTo>
                  <a:cubicBezTo>
                    <a:pt x="391" y="483"/>
                    <a:pt x="391" y="483"/>
                    <a:pt x="391" y="483"/>
                  </a:cubicBezTo>
                  <a:cubicBezTo>
                    <a:pt x="381" y="504"/>
                    <a:pt x="381" y="504"/>
                    <a:pt x="381" y="504"/>
                  </a:cubicBezTo>
                  <a:cubicBezTo>
                    <a:pt x="350" y="504"/>
                    <a:pt x="350" y="504"/>
                    <a:pt x="350" y="504"/>
                  </a:cubicBezTo>
                  <a:lnTo>
                    <a:pt x="362" y="483"/>
                  </a:lnTo>
                  <a:close/>
                  <a:moveTo>
                    <a:pt x="390" y="504"/>
                  </a:moveTo>
                  <a:cubicBezTo>
                    <a:pt x="409" y="464"/>
                    <a:pt x="409" y="464"/>
                    <a:pt x="409" y="464"/>
                  </a:cubicBezTo>
                  <a:cubicBezTo>
                    <a:pt x="409" y="464"/>
                    <a:pt x="409" y="464"/>
                    <a:pt x="409" y="464"/>
                  </a:cubicBezTo>
                  <a:cubicBezTo>
                    <a:pt x="409" y="464"/>
                    <a:pt x="426" y="429"/>
                    <a:pt x="463" y="429"/>
                  </a:cubicBezTo>
                  <a:cubicBezTo>
                    <a:pt x="502" y="429"/>
                    <a:pt x="518" y="463"/>
                    <a:pt x="518" y="464"/>
                  </a:cubicBezTo>
                  <a:cubicBezTo>
                    <a:pt x="518" y="464"/>
                    <a:pt x="518" y="464"/>
                    <a:pt x="518" y="464"/>
                  </a:cubicBezTo>
                  <a:cubicBezTo>
                    <a:pt x="537" y="504"/>
                    <a:pt x="537" y="504"/>
                    <a:pt x="537" y="504"/>
                  </a:cubicBezTo>
                  <a:lnTo>
                    <a:pt x="390" y="504"/>
                  </a:lnTo>
                  <a:close/>
                  <a:moveTo>
                    <a:pt x="546" y="504"/>
                  </a:moveTo>
                  <a:cubicBezTo>
                    <a:pt x="536" y="483"/>
                    <a:pt x="536" y="483"/>
                    <a:pt x="536" y="483"/>
                  </a:cubicBezTo>
                  <a:cubicBezTo>
                    <a:pt x="565" y="483"/>
                    <a:pt x="565" y="483"/>
                    <a:pt x="565" y="483"/>
                  </a:cubicBezTo>
                  <a:cubicBezTo>
                    <a:pt x="577" y="504"/>
                    <a:pt x="577" y="504"/>
                    <a:pt x="577" y="504"/>
                  </a:cubicBezTo>
                  <a:lnTo>
                    <a:pt x="546" y="504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100012" y="6804000"/>
            <a:ext cx="12091987" cy="54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HelveticaNeue-UltraLight" panose="02000206000000020004" pitchFamily="50"/>
            </a:endParaRPr>
          </a:p>
        </p:txBody>
      </p:sp>
    </p:spTree>
    <p:extLst>
      <p:ext uri="{BB962C8B-B14F-4D97-AF65-F5344CB8AC3E}">
        <p14:creationId xmlns:p14="http://schemas.microsoft.com/office/powerpoint/2010/main" val="43633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</a:lstStyle>
          <a:p>
            <a:fld id="{8E77ADC1-6FC9-463B-95FF-779DD7154547}" type="datetimeFigureOut">
              <a:rPr lang="fr-FR" smtClean="0"/>
              <a:pPr/>
              <a:t>05/02/2026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</a:lstStyle>
          <a:p>
            <a:fld id="{6F0746BA-D1AA-4FF4-8D48-BDBC7FF48778}" type="slidenum">
              <a:rPr lang="fr-FR" smtClean="0"/>
              <a:pPr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32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9" r:id="rId4"/>
    <p:sldLayoutId id="2147483660" r:id="rId5"/>
    <p:sldLayoutId id="2147483661" r:id="rId6"/>
    <p:sldLayoutId id="2147483662" r:id="rId7"/>
    <p:sldLayoutId id="2147483666" r:id="rId8"/>
    <p:sldLayoutId id="2147483651" r:id="rId9"/>
    <p:sldLayoutId id="2147483653" r:id="rId10"/>
    <p:sldLayoutId id="2147483663" r:id="rId11"/>
    <p:sldLayoutId id="2147483664" r:id="rId12"/>
    <p:sldLayoutId id="2147483667" r:id="rId13"/>
    <p:sldLayoutId id="2147483652" r:id="rId14"/>
    <p:sldLayoutId id="2147483668" r:id="rId15"/>
    <p:sldLayoutId id="2147483657" r:id="rId16"/>
    <p:sldLayoutId id="2147483655" r:id="rId17"/>
    <p:sldLayoutId id="2147483656" r:id="rId18"/>
    <p:sldLayoutId id="214748366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61317" y="3777000"/>
            <a:ext cx="10469366" cy="135703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fr-FR" sz="3600" spc="600" dirty="0" err="1">
                <a:latin typeface="Helvetica Neue" charset="0"/>
                <a:ea typeface="Helvetica Neue" charset="0"/>
                <a:cs typeface="Helvetica Neue" charset="0"/>
              </a:rPr>
              <a:t>Evaluating</a:t>
            </a:r>
            <a:r>
              <a:rPr lang="fr-FR" sz="3600" spc="600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fr-FR" sz="3600" spc="600" dirty="0" err="1">
                <a:latin typeface="Helvetica Neue" charset="0"/>
                <a:ea typeface="Helvetica Neue" charset="0"/>
                <a:cs typeface="Helvetica Neue" charset="0"/>
              </a:rPr>
              <a:t>Generative</a:t>
            </a:r>
            <a:r>
              <a:rPr lang="fr-FR" sz="3600" spc="600" dirty="0">
                <a:latin typeface="Helvetica Neue" charset="0"/>
                <a:ea typeface="Helvetica Neue" charset="0"/>
                <a:cs typeface="Helvetica Neue" charset="0"/>
              </a:rPr>
              <a:t> Agent Simulation Performance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53002" y="1005004"/>
            <a:ext cx="2285998" cy="2285996"/>
            <a:chOff x="4761188" y="954891"/>
            <a:chExt cx="2669626" cy="2669624"/>
          </a:xfrm>
        </p:grpSpPr>
        <p:sp>
          <p:nvSpPr>
            <p:cNvPr id="3" name="Oval 2"/>
            <p:cNvSpPr/>
            <p:nvPr/>
          </p:nvSpPr>
          <p:spPr>
            <a:xfrm>
              <a:off x="4761188" y="954891"/>
              <a:ext cx="2669626" cy="2669624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 w="76200">
              <a:noFill/>
            </a:ln>
            <a:effectLst>
              <a:outerShdw blurRad="889000" sx="109000" sy="109000" algn="ctr" rotWithShape="0">
                <a:schemeClr val="accent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328746" y="1522450"/>
              <a:ext cx="1534508" cy="1534506"/>
            </a:xfrm>
            <a:prstGeom prst="ellipse">
              <a:avLst/>
            </a:prstGeom>
            <a:solidFill>
              <a:schemeClr val="accent1">
                <a:alpha val="48000"/>
              </a:schemeClr>
            </a:solidFill>
            <a:ln w="76200">
              <a:noFill/>
            </a:ln>
            <a:effectLst>
              <a:outerShdw blurRad="889000" sx="109000" sy="109000" algn="ctr" rotWithShape="0">
                <a:schemeClr val="accent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738650" y="1932353"/>
              <a:ext cx="714700" cy="714700"/>
            </a:xfrm>
            <a:prstGeom prst="ellipse">
              <a:avLst/>
            </a:prstGeom>
            <a:solidFill>
              <a:schemeClr val="accent1">
                <a:alpha val="48000"/>
              </a:schemeClr>
            </a:solidFill>
            <a:ln w="76200">
              <a:noFill/>
            </a:ln>
            <a:effectLst>
              <a:outerShdw blurRad="889000" sx="109000" sy="109000" algn="ctr" rotWithShape="0">
                <a:schemeClr val="accent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HelveticaNeue-UltraLight" panose="02000206000000020004" pitchFamily="5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8729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22776" y="1855766"/>
            <a:ext cx="9876747" cy="4247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2400" b="1" dirty="0">
                <a:latin typeface="Helvetica Neue Light" charset="0"/>
                <a:ea typeface="Helvetica Neue Light" charset="0"/>
                <a:cs typeface="Helvetica Neue Light" charset="0"/>
              </a:rPr>
              <a:t>Goal: </a:t>
            </a:r>
            <a:r>
              <a:rPr lang="fr-FR" sz="2400" dirty="0" err="1">
                <a:solidFill>
                  <a:schemeClr val="accent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Increase</a:t>
            </a:r>
            <a:r>
              <a:rPr lang="fr-FR" sz="2400" dirty="0">
                <a:solidFill>
                  <a:schemeClr val="accent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sales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with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young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consumers</a:t>
            </a:r>
            <a:endParaRPr lang="fr-FR" sz="2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C5BBCFD1-D806-601D-4264-3F44A86C1E49}"/>
              </a:ext>
            </a:extLst>
          </p:cNvPr>
          <p:cNvSpPr txBox="1"/>
          <p:nvPr/>
        </p:nvSpPr>
        <p:spPr>
          <a:xfrm>
            <a:off x="1722776" y="2844136"/>
            <a:ext cx="9876747" cy="7571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2400" b="1" dirty="0" err="1">
                <a:latin typeface="Helvetica Neue Light" charset="0"/>
                <a:ea typeface="Helvetica Neue Light" charset="0"/>
                <a:cs typeface="Helvetica Neue Light" charset="0"/>
              </a:rPr>
              <a:t>Approach</a:t>
            </a:r>
            <a:r>
              <a:rPr lang="fr-FR" sz="2400" b="1" dirty="0">
                <a:latin typeface="Helvetica Neue Light" charset="0"/>
                <a:ea typeface="Helvetica Neue Light" charset="0"/>
                <a:cs typeface="Helvetica Neue Light" charset="0"/>
              </a:rPr>
              <a:t>: 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Run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human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simulations to gain insights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into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consumer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behaviour</a:t>
            </a:r>
            <a:endParaRPr lang="fr-FR" sz="2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242ECAFA-6D61-CAC2-B632-9B1D6B4A86EE}"/>
              </a:ext>
            </a:extLst>
          </p:cNvPr>
          <p:cNvSpPr txBox="1"/>
          <p:nvPr/>
        </p:nvSpPr>
        <p:spPr>
          <a:xfrm>
            <a:off x="1722776" y="4154630"/>
            <a:ext cx="9876746" cy="4247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2400" b="1" dirty="0" err="1">
                <a:latin typeface="Helvetica Neue Light" charset="0"/>
                <a:ea typeface="Helvetica Neue Light" charset="0"/>
                <a:cs typeface="Helvetica Neue Light" charset="0"/>
              </a:rPr>
              <a:t>Problem</a:t>
            </a:r>
            <a:r>
              <a:rPr lang="fr-FR" sz="2400" b="1" dirty="0">
                <a:latin typeface="Helvetica Neue Light" charset="0"/>
                <a:ea typeface="Helvetica Neue Light" charset="0"/>
                <a:cs typeface="Helvetica Neue Light" charset="0"/>
              </a:rPr>
              <a:t>: 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How can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we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evaluate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the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quality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of the </a:t>
            </a:r>
            <a:r>
              <a:rPr lang="fr-FR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human</a:t>
            </a:r>
            <a:r>
              <a:rPr lang="fr-FR" sz="2400" dirty="0">
                <a:latin typeface="Helvetica Neue Light" charset="0"/>
                <a:ea typeface="Helvetica Neue Light" charset="0"/>
                <a:cs typeface="Helvetica Neue Light" charset="0"/>
              </a:rPr>
              <a:t> simulations?</a:t>
            </a:r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F8446089-2020-5E3F-EB6E-5092F2603882}"/>
              </a:ext>
            </a:extLst>
          </p:cNvPr>
          <p:cNvSpPr txBox="1"/>
          <p:nvPr/>
        </p:nvSpPr>
        <p:spPr>
          <a:xfrm>
            <a:off x="1722776" y="4536983"/>
            <a:ext cx="7904111" cy="434478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  <a:sym typeface="Wingdings" pitchFamily="2" charset="2"/>
              </a:rPr>
              <a:t>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We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want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to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ensure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decisions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are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based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on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accurate</a:t>
            </a:r>
            <a:r>
              <a:rPr lang="de-DE" sz="2000" u="none" strike="noStrike" dirty="0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 and reliable </a:t>
            </a:r>
            <a:r>
              <a:rPr lang="de-DE" sz="2000" u="none" strike="noStrike" dirty="0" err="1">
                <a:effectLst/>
                <a:latin typeface="Helvetica Neue UltraLight" panose="02000206000000020004" pitchFamily="2" charset="0"/>
                <a:ea typeface="Helvetica Neue UltraLight" panose="02000206000000020004" pitchFamily="2" charset="0"/>
              </a:rPr>
              <a:t>data</a:t>
            </a:r>
            <a:endParaRPr lang="fr-FR" sz="2000" dirty="0">
              <a:latin typeface="Helvetica Neue UltraLight" panose="02000206000000020004" pitchFamily="2" charset="0"/>
              <a:ea typeface="Helvetica Neue UltraLight" panose="02000206000000020004" pitchFamily="2" charset="0"/>
              <a:cs typeface="Helvetica Neue Thin" charset="0"/>
            </a:endParaRPr>
          </a:p>
        </p:txBody>
      </p:sp>
      <p:grpSp>
        <p:nvGrpSpPr>
          <p:cNvPr id="7" name="Group 2345">
            <a:extLst>
              <a:ext uri="{FF2B5EF4-FFF2-40B4-BE49-F238E27FC236}">
                <a16:creationId xmlns:a16="http://schemas.microsoft.com/office/drawing/2014/main" id="{A4CC526D-206B-E220-A729-3BF2D5DD976A}"/>
              </a:ext>
            </a:extLst>
          </p:cNvPr>
          <p:cNvGrpSpPr/>
          <p:nvPr/>
        </p:nvGrpSpPr>
        <p:grpSpPr>
          <a:xfrm>
            <a:off x="1140208" y="1855766"/>
            <a:ext cx="412922" cy="411208"/>
            <a:chOff x="6383340" y="8029576"/>
            <a:chExt cx="765176" cy="762000"/>
          </a:xfrm>
          <a:solidFill>
            <a:schemeClr val="accent1"/>
          </a:solidFill>
        </p:grpSpPr>
        <p:sp>
          <p:nvSpPr>
            <p:cNvPr id="8" name="Freeform 918">
              <a:extLst>
                <a:ext uri="{FF2B5EF4-FFF2-40B4-BE49-F238E27FC236}">
                  <a16:creationId xmlns:a16="http://schemas.microsoft.com/office/drawing/2014/main" id="{62667115-3E49-4A65-6971-E1CD60D6E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6528" y="8131176"/>
              <a:ext cx="560388" cy="558800"/>
            </a:xfrm>
            <a:custGeom>
              <a:avLst/>
              <a:gdLst>
                <a:gd name="T0" fmla="*/ 88 w 176"/>
                <a:gd name="T1" fmla="*/ 176 h 176"/>
                <a:gd name="T2" fmla="*/ 0 w 176"/>
                <a:gd name="T3" fmla="*/ 88 h 176"/>
                <a:gd name="T4" fmla="*/ 88 w 176"/>
                <a:gd name="T5" fmla="*/ 0 h 176"/>
                <a:gd name="T6" fmla="*/ 176 w 176"/>
                <a:gd name="T7" fmla="*/ 88 h 176"/>
                <a:gd name="T8" fmla="*/ 88 w 176"/>
                <a:gd name="T9" fmla="*/ 176 h 176"/>
                <a:gd name="T10" fmla="*/ 88 w 176"/>
                <a:gd name="T11" fmla="*/ 8 h 176"/>
                <a:gd name="T12" fmla="*/ 8 w 176"/>
                <a:gd name="T13" fmla="*/ 88 h 176"/>
                <a:gd name="T14" fmla="*/ 88 w 176"/>
                <a:gd name="T15" fmla="*/ 168 h 176"/>
                <a:gd name="T16" fmla="*/ 168 w 176"/>
                <a:gd name="T17" fmla="*/ 88 h 176"/>
                <a:gd name="T18" fmla="*/ 88 w 176"/>
                <a:gd name="T19" fmla="*/ 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76">
                  <a:moveTo>
                    <a:pt x="88" y="176"/>
                  </a:moveTo>
                  <a:cubicBezTo>
                    <a:pt x="39" y="176"/>
                    <a:pt x="0" y="137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137" y="0"/>
                    <a:pt x="176" y="39"/>
                    <a:pt x="176" y="88"/>
                  </a:cubicBezTo>
                  <a:cubicBezTo>
                    <a:pt x="176" y="137"/>
                    <a:pt x="137" y="176"/>
                    <a:pt x="88" y="176"/>
                  </a:cubicBezTo>
                  <a:close/>
                  <a:moveTo>
                    <a:pt x="88" y="8"/>
                  </a:moveTo>
                  <a:cubicBezTo>
                    <a:pt x="44" y="8"/>
                    <a:pt x="8" y="44"/>
                    <a:pt x="8" y="88"/>
                  </a:cubicBezTo>
                  <a:cubicBezTo>
                    <a:pt x="8" y="132"/>
                    <a:pt x="44" y="168"/>
                    <a:pt x="88" y="168"/>
                  </a:cubicBezTo>
                  <a:cubicBezTo>
                    <a:pt x="132" y="168"/>
                    <a:pt x="168" y="132"/>
                    <a:pt x="168" y="88"/>
                  </a:cubicBezTo>
                  <a:cubicBezTo>
                    <a:pt x="168" y="44"/>
                    <a:pt x="132" y="8"/>
                    <a:pt x="8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9" name="Freeform 919">
              <a:extLst>
                <a:ext uri="{FF2B5EF4-FFF2-40B4-BE49-F238E27FC236}">
                  <a16:creationId xmlns:a16="http://schemas.microsoft.com/office/drawing/2014/main" id="{FB0FE978-7B95-86BE-786D-FBC2BFD639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3528" y="8258176"/>
              <a:ext cx="306388" cy="3048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0" name="Freeform 920">
              <a:extLst>
                <a:ext uri="{FF2B5EF4-FFF2-40B4-BE49-F238E27FC236}">
                  <a16:creationId xmlns:a16="http://schemas.microsoft.com/office/drawing/2014/main" id="{29B8AB6C-0520-98EB-7251-92E08DAA1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228" y="8029576"/>
              <a:ext cx="25400" cy="762000"/>
            </a:xfrm>
            <a:custGeom>
              <a:avLst/>
              <a:gdLst>
                <a:gd name="T0" fmla="*/ 4 w 8"/>
                <a:gd name="T1" fmla="*/ 240 h 240"/>
                <a:gd name="T2" fmla="*/ 0 w 8"/>
                <a:gd name="T3" fmla="*/ 236 h 240"/>
                <a:gd name="T4" fmla="*/ 0 w 8"/>
                <a:gd name="T5" fmla="*/ 4 h 240"/>
                <a:gd name="T6" fmla="*/ 4 w 8"/>
                <a:gd name="T7" fmla="*/ 0 h 240"/>
                <a:gd name="T8" fmla="*/ 8 w 8"/>
                <a:gd name="T9" fmla="*/ 4 h 240"/>
                <a:gd name="T10" fmla="*/ 8 w 8"/>
                <a:gd name="T11" fmla="*/ 236 h 240"/>
                <a:gd name="T12" fmla="*/ 4 w 8"/>
                <a:gd name="T1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40">
                  <a:moveTo>
                    <a:pt x="4" y="240"/>
                  </a:move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8"/>
                    <a:pt x="6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1" name="Freeform 921">
              <a:extLst>
                <a:ext uri="{FF2B5EF4-FFF2-40B4-BE49-F238E27FC236}">
                  <a16:creationId xmlns:a16="http://schemas.microsoft.com/office/drawing/2014/main" id="{F72FE9F0-7F84-E66B-3773-C7625C96D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340" y="8397876"/>
              <a:ext cx="765176" cy="25400"/>
            </a:xfrm>
            <a:custGeom>
              <a:avLst/>
              <a:gdLst>
                <a:gd name="T0" fmla="*/ 236 w 240"/>
                <a:gd name="T1" fmla="*/ 8 h 8"/>
                <a:gd name="T2" fmla="*/ 4 w 240"/>
                <a:gd name="T3" fmla="*/ 8 h 8"/>
                <a:gd name="T4" fmla="*/ 0 w 240"/>
                <a:gd name="T5" fmla="*/ 4 h 8"/>
                <a:gd name="T6" fmla="*/ 4 w 240"/>
                <a:gd name="T7" fmla="*/ 0 h 8"/>
                <a:gd name="T8" fmla="*/ 236 w 240"/>
                <a:gd name="T9" fmla="*/ 0 h 8"/>
                <a:gd name="T10" fmla="*/ 240 w 240"/>
                <a:gd name="T11" fmla="*/ 4 h 8"/>
                <a:gd name="T12" fmla="*/ 236 w 24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8">
                  <a:moveTo>
                    <a:pt x="23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6"/>
                    <a:pt x="238" y="8"/>
                    <a:pt x="2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grpSp>
        <p:nvGrpSpPr>
          <p:cNvPr id="12" name="Group 886">
            <a:extLst>
              <a:ext uri="{FF2B5EF4-FFF2-40B4-BE49-F238E27FC236}">
                <a16:creationId xmlns:a16="http://schemas.microsoft.com/office/drawing/2014/main" id="{911DE950-EBF1-7CB1-01B6-4308FEB72E0B}"/>
              </a:ext>
            </a:extLst>
          </p:cNvPr>
          <p:cNvGrpSpPr/>
          <p:nvPr/>
        </p:nvGrpSpPr>
        <p:grpSpPr>
          <a:xfrm>
            <a:off x="1127357" y="3016668"/>
            <a:ext cx="424917" cy="412065"/>
            <a:chOff x="5430930" y="8170886"/>
            <a:chExt cx="787403" cy="763589"/>
          </a:xfrm>
          <a:solidFill>
            <a:schemeClr val="accent1"/>
          </a:solidFill>
        </p:grpSpPr>
        <p:sp>
          <p:nvSpPr>
            <p:cNvPr id="13" name="Freeform 1476">
              <a:extLst>
                <a:ext uri="{FF2B5EF4-FFF2-40B4-BE49-F238E27FC236}">
                  <a16:creationId xmlns:a16="http://schemas.microsoft.com/office/drawing/2014/main" id="{98294B21-8250-83E4-3A84-908C925879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0930" y="8170886"/>
              <a:ext cx="787403" cy="763589"/>
            </a:xfrm>
            <a:custGeom>
              <a:avLst/>
              <a:gdLst>
                <a:gd name="T0" fmla="*/ 105 w 247"/>
                <a:gd name="T1" fmla="*/ 240 h 240"/>
                <a:gd name="T2" fmla="*/ 104 w 247"/>
                <a:gd name="T3" fmla="*/ 240 h 240"/>
                <a:gd name="T4" fmla="*/ 101 w 247"/>
                <a:gd name="T5" fmla="*/ 237 h 240"/>
                <a:gd name="T6" fmla="*/ 86 w 247"/>
                <a:gd name="T7" fmla="*/ 192 h 240"/>
                <a:gd name="T8" fmla="*/ 48 w 247"/>
                <a:gd name="T9" fmla="*/ 154 h 240"/>
                <a:gd name="T10" fmla="*/ 3 w 247"/>
                <a:gd name="T11" fmla="*/ 139 h 240"/>
                <a:gd name="T12" fmla="*/ 0 w 247"/>
                <a:gd name="T13" fmla="*/ 136 h 240"/>
                <a:gd name="T14" fmla="*/ 2 w 247"/>
                <a:gd name="T15" fmla="*/ 132 h 240"/>
                <a:gd name="T16" fmla="*/ 33 w 247"/>
                <a:gd name="T17" fmla="*/ 109 h 240"/>
                <a:gd name="T18" fmla="*/ 35 w 247"/>
                <a:gd name="T19" fmla="*/ 108 h 240"/>
                <a:gd name="T20" fmla="*/ 71 w 247"/>
                <a:gd name="T21" fmla="*/ 108 h 240"/>
                <a:gd name="T22" fmla="*/ 72 w 247"/>
                <a:gd name="T23" fmla="*/ 107 h 240"/>
                <a:gd name="T24" fmla="*/ 131 w 247"/>
                <a:gd name="T25" fmla="*/ 19 h 240"/>
                <a:gd name="T26" fmla="*/ 206 w 247"/>
                <a:gd name="T27" fmla="*/ 0 h 240"/>
                <a:gd name="T28" fmla="*/ 235 w 247"/>
                <a:gd name="T29" fmla="*/ 1 h 240"/>
                <a:gd name="T30" fmla="*/ 239 w 247"/>
                <a:gd name="T31" fmla="*/ 5 h 240"/>
                <a:gd name="T32" fmla="*/ 221 w 247"/>
                <a:gd name="T33" fmla="*/ 109 h 240"/>
                <a:gd name="T34" fmla="*/ 133 w 247"/>
                <a:gd name="T35" fmla="*/ 168 h 240"/>
                <a:gd name="T36" fmla="*/ 132 w 247"/>
                <a:gd name="T37" fmla="*/ 169 h 240"/>
                <a:gd name="T38" fmla="*/ 132 w 247"/>
                <a:gd name="T39" fmla="*/ 205 h 240"/>
                <a:gd name="T40" fmla="*/ 131 w 247"/>
                <a:gd name="T41" fmla="*/ 207 h 240"/>
                <a:gd name="T42" fmla="*/ 108 w 247"/>
                <a:gd name="T43" fmla="*/ 238 h 240"/>
                <a:gd name="T44" fmla="*/ 105 w 247"/>
                <a:gd name="T45" fmla="*/ 240 h 240"/>
                <a:gd name="T46" fmla="*/ 12 w 247"/>
                <a:gd name="T47" fmla="*/ 134 h 240"/>
                <a:gd name="T48" fmla="*/ 52 w 247"/>
                <a:gd name="T49" fmla="*/ 147 h 240"/>
                <a:gd name="T50" fmla="*/ 53 w 247"/>
                <a:gd name="T51" fmla="*/ 148 h 240"/>
                <a:gd name="T52" fmla="*/ 92 w 247"/>
                <a:gd name="T53" fmla="*/ 187 h 240"/>
                <a:gd name="T54" fmla="*/ 93 w 247"/>
                <a:gd name="T55" fmla="*/ 188 h 240"/>
                <a:gd name="T56" fmla="*/ 106 w 247"/>
                <a:gd name="T57" fmla="*/ 228 h 240"/>
                <a:gd name="T58" fmla="*/ 124 w 247"/>
                <a:gd name="T59" fmla="*/ 204 h 240"/>
                <a:gd name="T60" fmla="*/ 124 w 247"/>
                <a:gd name="T61" fmla="*/ 166 h 240"/>
                <a:gd name="T62" fmla="*/ 126 w 247"/>
                <a:gd name="T63" fmla="*/ 163 h 240"/>
                <a:gd name="T64" fmla="*/ 129 w 247"/>
                <a:gd name="T65" fmla="*/ 161 h 240"/>
                <a:gd name="T66" fmla="*/ 216 w 247"/>
                <a:gd name="T67" fmla="*/ 103 h 240"/>
                <a:gd name="T68" fmla="*/ 231 w 247"/>
                <a:gd name="T69" fmla="*/ 9 h 240"/>
                <a:gd name="T70" fmla="*/ 206 w 247"/>
                <a:gd name="T71" fmla="*/ 8 h 240"/>
                <a:gd name="T72" fmla="*/ 137 w 247"/>
                <a:gd name="T73" fmla="*/ 24 h 240"/>
                <a:gd name="T74" fmla="*/ 79 w 247"/>
                <a:gd name="T75" fmla="*/ 111 h 240"/>
                <a:gd name="T76" fmla="*/ 77 w 247"/>
                <a:gd name="T77" fmla="*/ 114 h 240"/>
                <a:gd name="T78" fmla="*/ 74 w 247"/>
                <a:gd name="T79" fmla="*/ 116 h 240"/>
                <a:gd name="T80" fmla="*/ 36 w 247"/>
                <a:gd name="T81" fmla="*/ 116 h 240"/>
                <a:gd name="T82" fmla="*/ 12 w 247"/>
                <a:gd name="T83" fmla="*/ 134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7" h="240">
                  <a:moveTo>
                    <a:pt x="105" y="240"/>
                  </a:moveTo>
                  <a:cubicBezTo>
                    <a:pt x="104" y="240"/>
                    <a:pt x="104" y="240"/>
                    <a:pt x="104" y="240"/>
                  </a:cubicBezTo>
                  <a:cubicBezTo>
                    <a:pt x="102" y="240"/>
                    <a:pt x="101" y="239"/>
                    <a:pt x="101" y="237"/>
                  </a:cubicBezTo>
                  <a:cubicBezTo>
                    <a:pt x="86" y="192"/>
                    <a:pt x="86" y="192"/>
                    <a:pt x="86" y="19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1" y="139"/>
                    <a:pt x="0" y="138"/>
                    <a:pt x="0" y="136"/>
                  </a:cubicBezTo>
                  <a:cubicBezTo>
                    <a:pt x="0" y="135"/>
                    <a:pt x="0" y="133"/>
                    <a:pt x="2" y="132"/>
                  </a:cubicBezTo>
                  <a:cubicBezTo>
                    <a:pt x="33" y="109"/>
                    <a:pt x="33" y="109"/>
                    <a:pt x="33" y="109"/>
                  </a:cubicBezTo>
                  <a:cubicBezTo>
                    <a:pt x="33" y="108"/>
                    <a:pt x="34" y="108"/>
                    <a:pt x="35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72" y="107"/>
                    <a:pt x="72" y="107"/>
                    <a:pt x="72" y="107"/>
                  </a:cubicBezTo>
                  <a:cubicBezTo>
                    <a:pt x="86" y="78"/>
                    <a:pt x="99" y="50"/>
                    <a:pt x="131" y="19"/>
                  </a:cubicBezTo>
                  <a:cubicBezTo>
                    <a:pt x="146" y="3"/>
                    <a:pt x="180" y="0"/>
                    <a:pt x="206" y="0"/>
                  </a:cubicBezTo>
                  <a:cubicBezTo>
                    <a:pt x="222" y="0"/>
                    <a:pt x="235" y="1"/>
                    <a:pt x="235" y="1"/>
                  </a:cubicBezTo>
                  <a:cubicBezTo>
                    <a:pt x="237" y="2"/>
                    <a:pt x="238" y="3"/>
                    <a:pt x="239" y="5"/>
                  </a:cubicBezTo>
                  <a:cubicBezTo>
                    <a:pt x="239" y="8"/>
                    <a:pt x="247" y="84"/>
                    <a:pt x="221" y="109"/>
                  </a:cubicBezTo>
                  <a:cubicBezTo>
                    <a:pt x="190" y="141"/>
                    <a:pt x="162" y="154"/>
                    <a:pt x="133" y="168"/>
                  </a:cubicBezTo>
                  <a:cubicBezTo>
                    <a:pt x="132" y="169"/>
                    <a:pt x="132" y="169"/>
                    <a:pt x="132" y="169"/>
                  </a:cubicBezTo>
                  <a:cubicBezTo>
                    <a:pt x="132" y="205"/>
                    <a:pt x="132" y="205"/>
                    <a:pt x="132" y="205"/>
                  </a:cubicBezTo>
                  <a:cubicBezTo>
                    <a:pt x="132" y="206"/>
                    <a:pt x="132" y="207"/>
                    <a:pt x="131" y="207"/>
                  </a:cubicBezTo>
                  <a:cubicBezTo>
                    <a:pt x="108" y="238"/>
                    <a:pt x="108" y="238"/>
                    <a:pt x="108" y="238"/>
                  </a:cubicBezTo>
                  <a:cubicBezTo>
                    <a:pt x="107" y="239"/>
                    <a:pt x="106" y="240"/>
                    <a:pt x="105" y="240"/>
                  </a:cubicBezTo>
                  <a:close/>
                  <a:moveTo>
                    <a:pt x="12" y="134"/>
                  </a:move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3" y="148"/>
                    <a:pt x="53" y="148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3" y="188"/>
                    <a:pt x="93" y="188"/>
                  </a:cubicBezTo>
                  <a:cubicBezTo>
                    <a:pt x="106" y="228"/>
                    <a:pt x="106" y="228"/>
                    <a:pt x="106" y="228"/>
                  </a:cubicBezTo>
                  <a:cubicBezTo>
                    <a:pt x="124" y="204"/>
                    <a:pt x="124" y="204"/>
                    <a:pt x="124" y="204"/>
                  </a:cubicBezTo>
                  <a:cubicBezTo>
                    <a:pt x="124" y="166"/>
                    <a:pt x="124" y="166"/>
                    <a:pt x="124" y="166"/>
                  </a:cubicBezTo>
                  <a:cubicBezTo>
                    <a:pt x="124" y="165"/>
                    <a:pt x="125" y="163"/>
                    <a:pt x="126" y="163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58" y="147"/>
                    <a:pt x="185" y="134"/>
                    <a:pt x="216" y="103"/>
                  </a:cubicBezTo>
                  <a:cubicBezTo>
                    <a:pt x="236" y="84"/>
                    <a:pt x="232" y="24"/>
                    <a:pt x="231" y="9"/>
                  </a:cubicBezTo>
                  <a:cubicBezTo>
                    <a:pt x="226" y="9"/>
                    <a:pt x="217" y="8"/>
                    <a:pt x="206" y="8"/>
                  </a:cubicBezTo>
                  <a:cubicBezTo>
                    <a:pt x="171" y="8"/>
                    <a:pt x="147" y="14"/>
                    <a:pt x="137" y="24"/>
                  </a:cubicBezTo>
                  <a:cubicBezTo>
                    <a:pt x="106" y="55"/>
                    <a:pt x="93" y="82"/>
                    <a:pt x="79" y="111"/>
                  </a:cubicBezTo>
                  <a:cubicBezTo>
                    <a:pt x="77" y="114"/>
                    <a:pt x="77" y="114"/>
                    <a:pt x="77" y="114"/>
                  </a:cubicBezTo>
                  <a:cubicBezTo>
                    <a:pt x="77" y="115"/>
                    <a:pt x="75" y="116"/>
                    <a:pt x="74" y="116"/>
                  </a:cubicBezTo>
                  <a:cubicBezTo>
                    <a:pt x="36" y="116"/>
                    <a:pt x="36" y="116"/>
                    <a:pt x="36" y="116"/>
                  </a:cubicBezTo>
                  <a:lnTo>
                    <a:pt x="12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4" name="Freeform 1477">
              <a:extLst>
                <a:ext uri="{FF2B5EF4-FFF2-40B4-BE49-F238E27FC236}">
                  <a16:creationId xmlns:a16="http://schemas.microsoft.com/office/drawing/2014/main" id="{CD3B797A-9446-415C-C775-51389C882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0930" y="8731275"/>
              <a:ext cx="204788" cy="203200"/>
            </a:xfrm>
            <a:custGeom>
              <a:avLst/>
              <a:gdLst>
                <a:gd name="T0" fmla="*/ 5 w 64"/>
                <a:gd name="T1" fmla="*/ 64 h 64"/>
                <a:gd name="T2" fmla="*/ 4 w 64"/>
                <a:gd name="T3" fmla="*/ 64 h 64"/>
                <a:gd name="T4" fmla="*/ 1 w 64"/>
                <a:gd name="T5" fmla="*/ 63 h 64"/>
                <a:gd name="T6" fmla="*/ 0 w 64"/>
                <a:gd name="T7" fmla="*/ 60 h 64"/>
                <a:gd name="T8" fmla="*/ 12 w 64"/>
                <a:gd name="T9" fmla="*/ 16 h 64"/>
                <a:gd name="T10" fmla="*/ 43 w 64"/>
                <a:gd name="T11" fmla="*/ 0 h 64"/>
                <a:gd name="T12" fmla="*/ 48 w 64"/>
                <a:gd name="T13" fmla="*/ 3 h 64"/>
                <a:gd name="T14" fmla="*/ 45 w 64"/>
                <a:gd name="T15" fmla="*/ 8 h 64"/>
                <a:gd name="T16" fmla="*/ 18 w 64"/>
                <a:gd name="T17" fmla="*/ 21 h 64"/>
                <a:gd name="T18" fmla="*/ 8 w 64"/>
                <a:gd name="T19" fmla="*/ 56 h 64"/>
                <a:gd name="T20" fmla="*/ 45 w 64"/>
                <a:gd name="T21" fmla="*/ 48 h 64"/>
                <a:gd name="T22" fmla="*/ 56 w 64"/>
                <a:gd name="T23" fmla="*/ 19 h 64"/>
                <a:gd name="T24" fmla="*/ 61 w 64"/>
                <a:gd name="T25" fmla="*/ 16 h 64"/>
                <a:gd name="T26" fmla="*/ 64 w 64"/>
                <a:gd name="T27" fmla="*/ 21 h 64"/>
                <a:gd name="T28" fmla="*/ 51 w 64"/>
                <a:gd name="T29" fmla="*/ 54 h 64"/>
                <a:gd name="T30" fmla="*/ 5 w 64"/>
                <a:gd name="T3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64">
                  <a:moveTo>
                    <a:pt x="5" y="64"/>
                  </a:moveTo>
                  <a:cubicBezTo>
                    <a:pt x="5" y="64"/>
                    <a:pt x="4" y="64"/>
                    <a:pt x="4" y="64"/>
                  </a:cubicBezTo>
                  <a:cubicBezTo>
                    <a:pt x="3" y="64"/>
                    <a:pt x="2" y="64"/>
                    <a:pt x="1" y="63"/>
                  </a:cubicBezTo>
                  <a:cubicBezTo>
                    <a:pt x="0" y="62"/>
                    <a:pt x="0" y="61"/>
                    <a:pt x="0" y="60"/>
                  </a:cubicBezTo>
                  <a:cubicBezTo>
                    <a:pt x="0" y="56"/>
                    <a:pt x="2" y="26"/>
                    <a:pt x="12" y="16"/>
                  </a:cubicBezTo>
                  <a:cubicBezTo>
                    <a:pt x="22" y="6"/>
                    <a:pt x="42" y="0"/>
                    <a:pt x="43" y="0"/>
                  </a:cubicBezTo>
                  <a:cubicBezTo>
                    <a:pt x="45" y="0"/>
                    <a:pt x="47" y="1"/>
                    <a:pt x="48" y="3"/>
                  </a:cubicBezTo>
                  <a:cubicBezTo>
                    <a:pt x="48" y="5"/>
                    <a:pt x="47" y="7"/>
                    <a:pt x="45" y="8"/>
                  </a:cubicBezTo>
                  <a:cubicBezTo>
                    <a:pt x="45" y="8"/>
                    <a:pt x="26" y="13"/>
                    <a:pt x="18" y="21"/>
                  </a:cubicBezTo>
                  <a:cubicBezTo>
                    <a:pt x="12" y="26"/>
                    <a:pt x="9" y="44"/>
                    <a:pt x="8" y="56"/>
                  </a:cubicBezTo>
                  <a:cubicBezTo>
                    <a:pt x="21" y="56"/>
                    <a:pt x="40" y="54"/>
                    <a:pt x="45" y="48"/>
                  </a:cubicBezTo>
                  <a:cubicBezTo>
                    <a:pt x="52" y="42"/>
                    <a:pt x="55" y="25"/>
                    <a:pt x="56" y="19"/>
                  </a:cubicBezTo>
                  <a:cubicBezTo>
                    <a:pt x="56" y="17"/>
                    <a:pt x="58" y="16"/>
                    <a:pt x="61" y="16"/>
                  </a:cubicBezTo>
                  <a:cubicBezTo>
                    <a:pt x="63" y="16"/>
                    <a:pt x="64" y="18"/>
                    <a:pt x="64" y="21"/>
                  </a:cubicBezTo>
                  <a:cubicBezTo>
                    <a:pt x="64" y="22"/>
                    <a:pt x="61" y="44"/>
                    <a:pt x="51" y="54"/>
                  </a:cubicBezTo>
                  <a:cubicBezTo>
                    <a:pt x="41" y="63"/>
                    <a:pt x="13" y="64"/>
                    <a:pt x="5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5" name="Freeform 1478">
              <a:extLst>
                <a:ext uri="{FF2B5EF4-FFF2-40B4-BE49-F238E27FC236}">
                  <a16:creationId xmlns:a16="http://schemas.microsoft.com/office/drawing/2014/main" id="{CFED8DE5-DEE4-E514-0405-1EA0F5756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77019" y="8310586"/>
              <a:ext cx="179388" cy="179388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3" y="0"/>
                    <a:pt x="56" y="13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grpSp>
        <p:nvGrpSpPr>
          <p:cNvPr id="16" name="Group 2311">
            <a:extLst>
              <a:ext uri="{FF2B5EF4-FFF2-40B4-BE49-F238E27FC236}">
                <a16:creationId xmlns:a16="http://schemas.microsoft.com/office/drawing/2014/main" id="{6073E51C-4D89-D856-444A-D015FED18A70}"/>
              </a:ext>
            </a:extLst>
          </p:cNvPr>
          <p:cNvGrpSpPr/>
          <p:nvPr/>
        </p:nvGrpSpPr>
        <p:grpSpPr>
          <a:xfrm>
            <a:off x="1085381" y="4289854"/>
            <a:ext cx="412922" cy="412065"/>
            <a:chOff x="3579812" y="-368300"/>
            <a:chExt cx="765176" cy="763588"/>
          </a:xfrm>
          <a:solidFill>
            <a:schemeClr val="accent1"/>
          </a:solidFill>
        </p:grpSpPr>
        <p:sp>
          <p:nvSpPr>
            <p:cNvPr id="17" name="Freeform 813">
              <a:extLst>
                <a:ext uri="{FF2B5EF4-FFF2-40B4-BE49-F238E27FC236}">
                  <a16:creationId xmlns:a16="http://schemas.microsoft.com/office/drawing/2014/main" id="{584FE60F-2A4B-0248-F35E-08529A5711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9812" y="-368300"/>
              <a:ext cx="765176" cy="763588"/>
            </a:xfrm>
            <a:custGeom>
              <a:avLst/>
              <a:gdLst>
                <a:gd name="T0" fmla="*/ 120 w 240"/>
                <a:gd name="T1" fmla="*/ 240 h 240"/>
                <a:gd name="T2" fmla="*/ 0 w 240"/>
                <a:gd name="T3" fmla="*/ 120 h 240"/>
                <a:gd name="T4" fmla="*/ 120 w 240"/>
                <a:gd name="T5" fmla="*/ 0 h 240"/>
                <a:gd name="T6" fmla="*/ 240 w 240"/>
                <a:gd name="T7" fmla="*/ 120 h 240"/>
                <a:gd name="T8" fmla="*/ 120 w 240"/>
                <a:gd name="T9" fmla="*/ 240 h 240"/>
                <a:gd name="T10" fmla="*/ 120 w 240"/>
                <a:gd name="T11" fmla="*/ 8 h 240"/>
                <a:gd name="T12" fmla="*/ 8 w 240"/>
                <a:gd name="T13" fmla="*/ 120 h 240"/>
                <a:gd name="T14" fmla="*/ 120 w 240"/>
                <a:gd name="T15" fmla="*/ 232 h 240"/>
                <a:gd name="T16" fmla="*/ 232 w 240"/>
                <a:gd name="T17" fmla="*/ 120 h 240"/>
                <a:gd name="T18" fmla="*/ 120 w 240"/>
                <a:gd name="T19" fmla="*/ 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240">
                  <a:moveTo>
                    <a:pt x="120" y="240"/>
                  </a:moveTo>
                  <a:cubicBezTo>
                    <a:pt x="54" y="240"/>
                    <a:pt x="0" y="186"/>
                    <a:pt x="0" y="120"/>
                  </a:cubicBezTo>
                  <a:cubicBezTo>
                    <a:pt x="0" y="54"/>
                    <a:pt x="54" y="0"/>
                    <a:pt x="120" y="0"/>
                  </a:cubicBezTo>
                  <a:cubicBezTo>
                    <a:pt x="186" y="0"/>
                    <a:pt x="240" y="54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lose/>
                  <a:moveTo>
                    <a:pt x="120" y="8"/>
                  </a:moveTo>
                  <a:cubicBezTo>
                    <a:pt x="58" y="8"/>
                    <a:pt x="8" y="58"/>
                    <a:pt x="8" y="120"/>
                  </a:cubicBezTo>
                  <a:cubicBezTo>
                    <a:pt x="8" y="182"/>
                    <a:pt x="58" y="232"/>
                    <a:pt x="120" y="232"/>
                  </a:cubicBezTo>
                  <a:cubicBezTo>
                    <a:pt x="182" y="232"/>
                    <a:pt x="232" y="182"/>
                    <a:pt x="232" y="120"/>
                  </a:cubicBezTo>
                  <a:cubicBezTo>
                    <a:pt x="232" y="58"/>
                    <a:pt x="182" y="8"/>
                    <a:pt x="1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8" name="Freeform 814">
              <a:extLst>
                <a:ext uri="{FF2B5EF4-FFF2-40B4-BE49-F238E27FC236}">
                  <a16:creationId xmlns:a16="http://schemas.microsoft.com/office/drawing/2014/main" id="{90B7F621-B36E-6E68-83B0-E4A88703A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-127000"/>
              <a:ext cx="279400" cy="280988"/>
            </a:xfrm>
            <a:custGeom>
              <a:avLst/>
              <a:gdLst>
                <a:gd name="T0" fmla="*/ 84 w 88"/>
                <a:gd name="T1" fmla="*/ 88 h 88"/>
                <a:gd name="T2" fmla="*/ 81 w 88"/>
                <a:gd name="T3" fmla="*/ 87 h 88"/>
                <a:gd name="T4" fmla="*/ 1 w 88"/>
                <a:gd name="T5" fmla="*/ 7 h 88"/>
                <a:gd name="T6" fmla="*/ 1 w 88"/>
                <a:gd name="T7" fmla="*/ 1 h 88"/>
                <a:gd name="T8" fmla="*/ 7 w 88"/>
                <a:gd name="T9" fmla="*/ 1 h 88"/>
                <a:gd name="T10" fmla="*/ 87 w 88"/>
                <a:gd name="T11" fmla="*/ 81 h 88"/>
                <a:gd name="T12" fmla="*/ 87 w 88"/>
                <a:gd name="T13" fmla="*/ 87 h 88"/>
                <a:gd name="T14" fmla="*/ 84 w 88"/>
                <a:gd name="T1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88">
                  <a:moveTo>
                    <a:pt x="84" y="88"/>
                  </a:moveTo>
                  <a:cubicBezTo>
                    <a:pt x="83" y="88"/>
                    <a:pt x="82" y="88"/>
                    <a:pt x="81" y="8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3"/>
                    <a:pt x="1" y="1"/>
                  </a:cubicBezTo>
                  <a:cubicBezTo>
                    <a:pt x="3" y="0"/>
                    <a:pt x="5" y="0"/>
                    <a:pt x="7" y="1"/>
                  </a:cubicBezTo>
                  <a:cubicBezTo>
                    <a:pt x="87" y="81"/>
                    <a:pt x="87" y="81"/>
                    <a:pt x="87" y="81"/>
                  </a:cubicBezTo>
                  <a:cubicBezTo>
                    <a:pt x="88" y="83"/>
                    <a:pt x="88" y="85"/>
                    <a:pt x="87" y="87"/>
                  </a:cubicBezTo>
                  <a:cubicBezTo>
                    <a:pt x="86" y="88"/>
                    <a:pt x="85" y="88"/>
                    <a:pt x="8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9" name="Freeform 815">
              <a:extLst>
                <a:ext uri="{FF2B5EF4-FFF2-40B4-BE49-F238E27FC236}">
                  <a16:creationId xmlns:a16="http://schemas.microsoft.com/office/drawing/2014/main" id="{B41A0278-540F-4E94-1417-E1C050BA2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-127000"/>
              <a:ext cx="279400" cy="280988"/>
            </a:xfrm>
            <a:custGeom>
              <a:avLst/>
              <a:gdLst>
                <a:gd name="T0" fmla="*/ 4 w 88"/>
                <a:gd name="T1" fmla="*/ 88 h 88"/>
                <a:gd name="T2" fmla="*/ 1 w 88"/>
                <a:gd name="T3" fmla="*/ 87 h 88"/>
                <a:gd name="T4" fmla="*/ 1 w 88"/>
                <a:gd name="T5" fmla="*/ 81 h 88"/>
                <a:gd name="T6" fmla="*/ 81 w 88"/>
                <a:gd name="T7" fmla="*/ 1 h 88"/>
                <a:gd name="T8" fmla="*/ 87 w 88"/>
                <a:gd name="T9" fmla="*/ 1 h 88"/>
                <a:gd name="T10" fmla="*/ 87 w 88"/>
                <a:gd name="T11" fmla="*/ 7 h 88"/>
                <a:gd name="T12" fmla="*/ 7 w 88"/>
                <a:gd name="T13" fmla="*/ 87 h 88"/>
                <a:gd name="T14" fmla="*/ 4 w 88"/>
                <a:gd name="T1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88">
                  <a:moveTo>
                    <a:pt x="4" y="88"/>
                  </a:moveTo>
                  <a:cubicBezTo>
                    <a:pt x="3" y="88"/>
                    <a:pt x="2" y="88"/>
                    <a:pt x="1" y="87"/>
                  </a:cubicBezTo>
                  <a:cubicBezTo>
                    <a:pt x="0" y="85"/>
                    <a:pt x="0" y="83"/>
                    <a:pt x="1" y="81"/>
                  </a:cubicBezTo>
                  <a:cubicBezTo>
                    <a:pt x="81" y="1"/>
                    <a:pt x="81" y="1"/>
                    <a:pt x="81" y="1"/>
                  </a:cubicBezTo>
                  <a:cubicBezTo>
                    <a:pt x="83" y="0"/>
                    <a:pt x="85" y="0"/>
                    <a:pt x="87" y="1"/>
                  </a:cubicBezTo>
                  <a:cubicBezTo>
                    <a:pt x="88" y="3"/>
                    <a:pt x="88" y="5"/>
                    <a:pt x="87" y="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6" y="88"/>
                    <a:pt x="5" y="88"/>
                    <a:pt x="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869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/>
          <p:cNvSpPr txBox="1"/>
          <p:nvPr/>
        </p:nvSpPr>
        <p:spPr>
          <a:xfrm>
            <a:off x="651062" y="5157057"/>
            <a:ext cx="2979592" cy="46166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- Ignores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semantics</a:t>
            </a:r>
            <a:endParaRPr lang="fr-FR" sz="2400" dirty="0"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9788" y="660400"/>
            <a:ext cx="10924122" cy="1311128"/>
          </a:xfrm>
        </p:spPr>
        <p:txBody>
          <a:bodyPr/>
          <a:lstStyle/>
          <a:p>
            <a:r>
              <a:rPr lang="fr-FR" dirty="0" err="1">
                <a:cs typeface="Segoe UI Light" panose="020B0502040204020203" pitchFamily="34" charset="0"/>
              </a:rPr>
              <a:t>Existing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cs typeface="Segoe UI Light" panose="020B0502040204020203" pitchFamily="34" charset="0"/>
              </a:rPr>
              <a:t> </a:t>
            </a:r>
            <a:r>
              <a:rPr lang="fr-FR" dirty="0">
                <a:solidFill>
                  <a:schemeClr val="accent1"/>
                </a:solidFill>
                <a:cs typeface="Segoe UI Light" panose="020B0502040204020203" pitchFamily="34" charset="0"/>
              </a:rPr>
              <a:t>Evaluation </a:t>
            </a:r>
            <a:r>
              <a:rPr lang="fr-FR" dirty="0" err="1">
                <a:solidFill>
                  <a:schemeClr val="accent1"/>
                </a:solidFill>
                <a:cs typeface="Segoe UI Light" panose="020B0502040204020203" pitchFamily="34" charset="0"/>
              </a:rPr>
              <a:t>Approaches</a:t>
            </a:r>
            <a:endParaRPr lang="fr-FR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2287" y="5166761"/>
            <a:ext cx="4602865" cy="830997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- No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nuanced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evaluation</a:t>
            </a:r>
            <a:b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</a:b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- No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correlation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with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humans</a:t>
            </a:r>
            <a:endParaRPr lang="fr-FR" sz="2400" dirty="0"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78228" y="5157057"/>
            <a:ext cx="3912333" cy="830997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-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Many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stylistic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evaluations</a:t>
            </a:r>
            <a:endParaRPr lang="fr-FR" sz="2400" dirty="0"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-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Too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generic</a:t>
            </a:r>
            <a:endParaRPr lang="fr-FR" sz="2400" dirty="0"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>
            <a:off x="1868716" y="4227459"/>
            <a:ext cx="544284" cy="542842"/>
          </a:xfrm>
          <a:custGeom>
            <a:avLst/>
            <a:gdLst>
              <a:gd name="T0" fmla="*/ 4912 w 4912"/>
              <a:gd name="T1" fmla="*/ 285 h 4899"/>
              <a:gd name="T2" fmla="*/ 4627 w 4912"/>
              <a:gd name="T3" fmla="*/ 0 h 4899"/>
              <a:gd name="T4" fmla="*/ 2456 w 4912"/>
              <a:gd name="T5" fmla="*/ 2165 h 4899"/>
              <a:gd name="T6" fmla="*/ 285 w 4912"/>
              <a:gd name="T7" fmla="*/ 0 h 4899"/>
              <a:gd name="T8" fmla="*/ 0 w 4912"/>
              <a:gd name="T9" fmla="*/ 285 h 4899"/>
              <a:gd name="T10" fmla="*/ 2171 w 4912"/>
              <a:gd name="T11" fmla="*/ 2450 h 4899"/>
              <a:gd name="T12" fmla="*/ 0 w 4912"/>
              <a:gd name="T13" fmla="*/ 4614 h 4899"/>
              <a:gd name="T14" fmla="*/ 285 w 4912"/>
              <a:gd name="T15" fmla="*/ 4899 h 4899"/>
              <a:gd name="T16" fmla="*/ 2456 w 4912"/>
              <a:gd name="T17" fmla="*/ 2734 h 4899"/>
              <a:gd name="T18" fmla="*/ 4627 w 4912"/>
              <a:gd name="T19" fmla="*/ 4899 h 4899"/>
              <a:gd name="T20" fmla="*/ 4912 w 4912"/>
              <a:gd name="T21" fmla="*/ 4614 h 4899"/>
              <a:gd name="T22" fmla="*/ 2741 w 4912"/>
              <a:gd name="T23" fmla="*/ 2450 h 4899"/>
              <a:gd name="T24" fmla="*/ 4912 w 4912"/>
              <a:gd name="T25" fmla="*/ 285 h 4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12" h="4899">
                <a:moveTo>
                  <a:pt x="4912" y="285"/>
                </a:moveTo>
                <a:lnTo>
                  <a:pt x="4627" y="0"/>
                </a:lnTo>
                <a:lnTo>
                  <a:pt x="2456" y="2165"/>
                </a:lnTo>
                <a:lnTo>
                  <a:pt x="285" y="0"/>
                </a:lnTo>
                <a:lnTo>
                  <a:pt x="0" y="285"/>
                </a:lnTo>
                <a:lnTo>
                  <a:pt x="2171" y="2450"/>
                </a:lnTo>
                <a:lnTo>
                  <a:pt x="0" y="4614"/>
                </a:lnTo>
                <a:lnTo>
                  <a:pt x="285" y="4899"/>
                </a:lnTo>
                <a:lnTo>
                  <a:pt x="2456" y="2734"/>
                </a:lnTo>
                <a:lnTo>
                  <a:pt x="4627" y="4899"/>
                </a:lnTo>
                <a:lnTo>
                  <a:pt x="4912" y="4614"/>
                </a:lnTo>
                <a:lnTo>
                  <a:pt x="2741" y="2450"/>
                </a:lnTo>
                <a:lnTo>
                  <a:pt x="4912" y="2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xfrm>
            <a:off x="5417478" y="4227459"/>
            <a:ext cx="544284" cy="542842"/>
          </a:xfrm>
          <a:custGeom>
            <a:avLst/>
            <a:gdLst>
              <a:gd name="T0" fmla="*/ 4912 w 4912"/>
              <a:gd name="T1" fmla="*/ 285 h 4899"/>
              <a:gd name="T2" fmla="*/ 4627 w 4912"/>
              <a:gd name="T3" fmla="*/ 0 h 4899"/>
              <a:gd name="T4" fmla="*/ 2456 w 4912"/>
              <a:gd name="T5" fmla="*/ 2165 h 4899"/>
              <a:gd name="T6" fmla="*/ 285 w 4912"/>
              <a:gd name="T7" fmla="*/ 0 h 4899"/>
              <a:gd name="T8" fmla="*/ 0 w 4912"/>
              <a:gd name="T9" fmla="*/ 285 h 4899"/>
              <a:gd name="T10" fmla="*/ 2171 w 4912"/>
              <a:gd name="T11" fmla="*/ 2450 h 4899"/>
              <a:gd name="T12" fmla="*/ 0 w 4912"/>
              <a:gd name="T13" fmla="*/ 4614 h 4899"/>
              <a:gd name="T14" fmla="*/ 285 w 4912"/>
              <a:gd name="T15" fmla="*/ 4899 h 4899"/>
              <a:gd name="T16" fmla="*/ 2456 w 4912"/>
              <a:gd name="T17" fmla="*/ 2734 h 4899"/>
              <a:gd name="T18" fmla="*/ 4627 w 4912"/>
              <a:gd name="T19" fmla="*/ 4899 h 4899"/>
              <a:gd name="T20" fmla="*/ 4912 w 4912"/>
              <a:gd name="T21" fmla="*/ 4614 h 4899"/>
              <a:gd name="T22" fmla="*/ 2741 w 4912"/>
              <a:gd name="T23" fmla="*/ 2450 h 4899"/>
              <a:gd name="T24" fmla="*/ 4912 w 4912"/>
              <a:gd name="T25" fmla="*/ 285 h 4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12" h="4899">
                <a:moveTo>
                  <a:pt x="4912" y="285"/>
                </a:moveTo>
                <a:lnTo>
                  <a:pt x="4627" y="0"/>
                </a:lnTo>
                <a:lnTo>
                  <a:pt x="2456" y="2165"/>
                </a:lnTo>
                <a:lnTo>
                  <a:pt x="285" y="0"/>
                </a:lnTo>
                <a:lnTo>
                  <a:pt x="0" y="285"/>
                </a:lnTo>
                <a:lnTo>
                  <a:pt x="2171" y="2450"/>
                </a:lnTo>
                <a:lnTo>
                  <a:pt x="0" y="4614"/>
                </a:lnTo>
                <a:lnTo>
                  <a:pt x="285" y="4899"/>
                </a:lnTo>
                <a:lnTo>
                  <a:pt x="2456" y="2734"/>
                </a:lnTo>
                <a:lnTo>
                  <a:pt x="4627" y="4899"/>
                </a:lnTo>
                <a:lnTo>
                  <a:pt x="4912" y="4614"/>
                </a:lnTo>
                <a:lnTo>
                  <a:pt x="2741" y="2450"/>
                </a:lnTo>
                <a:lnTo>
                  <a:pt x="4912" y="2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1" name="Freeform 5"/>
          <p:cNvSpPr>
            <a:spLocks/>
          </p:cNvSpPr>
          <p:nvPr/>
        </p:nvSpPr>
        <p:spPr bwMode="auto">
          <a:xfrm>
            <a:off x="9779000" y="4227459"/>
            <a:ext cx="544284" cy="542842"/>
          </a:xfrm>
          <a:custGeom>
            <a:avLst/>
            <a:gdLst>
              <a:gd name="T0" fmla="*/ 4912 w 4912"/>
              <a:gd name="T1" fmla="*/ 285 h 4899"/>
              <a:gd name="T2" fmla="*/ 4627 w 4912"/>
              <a:gd name="T3" fmla="*/ 0 h 4899"/>
              <a:gd name="T4" fmla="*/ 2456 w 4912"/>
              <a:gd name="T5" fmla="*/ 2165 h 4899"/>
              <a:gd name="T6" fmla="*/ 285 w 4912"/>
              <a:gd name="T7" fmla="*/ 0 h 4899"/>
              <a:gd name="T8" fmla="*/ 0 w 4912"/>
              <a:gd name="T9" fmla="*/ 285 h 4899"/>
              <a:gd name="T10" fmla="*/ 2171 w 4912"/>
              <a:gd name="T11" fmla="*/ 2450 h 4899"/>
              <a:gd name="T12" fmla="*/ 0 w 4912"/>
              <a:gd name="T13" fmla="*/ 4614 h 4899"/>
              <a:gd name="T14" fmla="*/ 285 w 4912"/>
              <a:gd name="T15" fmla="*/ 4899 h 4899"/>
              <a:gd name="T16" fmla="*/ 2456 w 4912"/>
              <a:gd name="T17" fmla="*/ 2734 h 4899"/>
              <a:gd name="T18" fmla="*/ 4627 w 4912"/>
              <a:gd name="T19" fmla="*/ 4899 h 4899"/>
              <a:gd name="T20" fmla="*/ 4912 w 4912"/>
              <a:gd name="T21" fmla="*/ 4614 h 4899"/>
              <a:gd name="T22" fmla="*/ 2741 w 4912"/>
              <a:gd name="T23" fmla="*/ 2450 h 4899"/>
              <a:gd name="T24" fmla="*/ 4912 w 4912"/>
              <a:gd name="T25" fmla="*/ 285 h 4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12" h="4899">
                <a:moveTo>
                  <a:pt x="4912" y="285"/>
                </a:moveTo>
                <a:lnTo>
                  <a:pt x="4627" y="0"/>
                </a:lnTo>
                <a:lnTo>
                  <a:pt x="2456" y="2165"/>
                </a:lnTo>
                <a:lnTo>
                  <a:pt x="285" y="0"/>
                </a:lnTo>
                <a:lnTo>
                  <a:pt x="0" y="285"/>
                </a:lnTo>
                <a:lnTo>
                  <a:pt x="2171" y="2450"/>
                </a:lnTo>
                <a:lnTo>
                  <a:pt x="0" y="4614"/>
                </a:lnTo>
                <a:lnTo>
                  <a:pt x="285" y="4899"/>
                </a:lnTo>
                <a:lnTo>
                  <a:pt x="2456" y="2734"/>
                </a:lnTo>
                <a:lnTo>
                  <a:pt x="4627" y="4899"/>
                </a:lnTo>
                <a:lnTo>
                  <a:pt x="4912" y="4614"/>
                </a:lnTo>
                <a:lnTo>
                  <a:pt x="2741" y="2450"/>
                </a:lnTo>
                <a:lnTo>
                  <a:pt x="4912" y="2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3" name="TextBox 98">
            <a:extLst>
              <a:ext uri="{FF2B5EF4-FFF2-40B4-BE49-F238E27FC236}">
                <a16:creationId xmlns:a16="http://schemas.microsoft.com/office/drawing/2014/main" id="{F68F9447-4CE1-1DCE-A3FA-9C6EA4B4F136}"/>
              </a:ext>
            </a:extLst>
          </p:cNvPr>
          <p:cNvSpPr txBox="1"/>
          <p:nvPr/>
        </p:nvSpPr>
        <p:spPr>
          <a:xfrm>
            <a:off x="839788" y="2993399"/>
            <a:ext cx="2602141" cy="769441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 algn="ctr"/>
            <a:r>
              <a:rPr lang="fr-FR" sz="24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N-gram </a:t>
            </a:r>
            <a:r>
              <a:rPr lang="fr-FR" sz="24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Overlap</a:t>
            </a:r>
            <a:endParaRPr lang="fr-FR" sz="2400" b="1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 Thin" charset="0"/>
            </a:endParaRPr>
          </a:p>
          <a:p>
            <a:pPr algn="ctr"/>
            <a:r>
              <a:rPr lang="fr-FR" sz="2000" dirty="0">
                <a:latin typeface="Helvetica Neue Thin" charset="0"/>
                <a:ea typeface="Helvetica Neue Thin" charset="0"/>
                <a:cs typeface="Helvetica Neue Thin" charset="0"/>
              </a:rPr>
              <a:t>(e.g., ROUGE, BLEU)</a:t>
            </a:r>
          </a:p>
        </p:txBody>
      </p:sp>
      <p:sp>
        <p:nvSpPr>
          <p:cNvPr id="4" name="TextBox 98">
            <a:extLst>
              <a:ext uri="{FF2B5EF4-FFF2-40B4-BE49-F238E27FC236}">
                <a16:creationId xmlns:a16="http://schemas.microsoft.com/office/drawing/2014/main" id="{B1FEC8F1-0AA3-C4DE-F91D-616208ED80D1}"/>
              </a:ext>
            </a:extLst>
          </p:cNvPr>
          <p:cNvSpPr txBox="1"/>
          <p:nvPr/>
        </p:nvSpPr>
        <p:spPr>
          <a:xfrm>
            <a:off x="4436928" y="3017567"/>
            <a:ext cx="2746300" cy="769441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 algn="ctr"/>
            <a:r>
              <a:rPr lang="fr-FR" sz="24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Embedding-based</a:t>
            </a:r>
            <a:endParaRPr lang="fr-FR" sz="2400" b="1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 Thin" charset="0"/>
            </a:endParaRPr>
          </a:p>
          <a:p>
            <a:pPr algn="ctr"/>
            <a:r>
              <a:rPr lang="fr-FR" sz="2000" dirty="0">
                <a:latin typeface="Helvetica Neue Thin" charset="0"/>
                <a:ea typeface="Helvetica Neue Thin" charset="0"/>
                <a:cs typeface="Helvetica Neue Thin" charset="0"/>
              </a:rPr>
              <a:t>(e.g., </a:t>
            </a:r>
            <a:r>
              <a:rPr lang="fr-FR" sz="2000" dirty="0" err="1">
                <a:latin typeface="Helvetica Neue Thin" charset="0"/>
                <a:ea typeface="Helvetica Neue Thin" charset="0"/>
                <a:cs typeface="Helvetica Neue Thin" charset="0"/>
              </a:rPr>
              <a:t>BERTScore</a:t>
            </a:r>
            <a:r>
              <a:rPr lang="fr-FR" sz="2000" dirty="0">
                <a:latin typeface="Helvetica Neue Thin" charset="0"/>
                <a:ea typeface="Helvetica Neue Thin" charset="0"/>
                <a:cs typeface="Helvetica Neue Thin" charset="0"/>
              </a:rPr>
              <a:t>)</a:t>
            </a:r>
          </a:p>
        </p:txBody>
      </p:sp>
      <p:sp>
        <p:nvSpPr>
          <p:cNvPr id="5" name="TextBox 98">
            <a:extLst>
              <a:ext uri="{FF2B5EF4-FFF2-40B4-BE49-F238E27FC236}">
                <a16:creationId xmlns:a16="http://schemas.microsoft.com/office/drawing/2014/main" id="{25E7B575-BE35-BC97-E1DC-BAE3C0DB431E}"/>
              </a:ext>
            </a:extLst>
          </p:cNvPr>
          <p:cNvSpPr txBox="1"/>
          <p:nvPr/>
        </p:nvSpPr>
        <p:spPr>
          <a:xfrm>
            <a:off x="8178228" y="2993399"/>
            <a:ext cx="3912333" cy="769441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 algn="ctr"/>
            <a:r>
              <a:rPr lang="fr-FR" sz="24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Generic</a:t>
            </a:r>
            <a:r>
              <a:rPr lang="fr-FR" sz="24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LLM-as-a-Judge</a:t>
            </a:r>
          </a:p>
          <a:p>
            <a:pPr algn="ctr"/>
            <a:r>
              <a:rPr lang="fr-FR" sz="2000" dirty="0">
                <a:latin typeface="Helvetica Neue Thin" charset="0"/>
                <a:ea typeface="Helvetica Neue Thin" charset="0"/>
                <a:cs typeface="Helvetica Neue Thin" charset="0"/>
              </a:rPr>
              <a:t>(e.g., G-Eval, </a:t>
            </a:r>
            <a:r>
              <a:rPr lang="fr-FR" sz="2000" dirty="0" err="1">
                <a:latin typeface="Helvetica Neue Thin" charset="0"/>
                <a:ea typeface="Helvetica Neue Thin" charset="0"/>
                <a:cs typeface="Helvetica Neue Thin" charset="0"/>
              </a:rPr>
              <a:t>RAGAs</a:t>
            </a:r>
            <a:r>
              <a:rPr lang="fr-FR" sz="2000" dirty="0">
                <a:latin typeface="Helvetica Neue Thin" charset="0"/>
                <a:ea typeface="Helvetica Neue Thin" charset="0"/>
                <a:cs typeface="Helvetica Neue Thin" charset="0"/>
              </a:rPr>
              <a:t>, </a:t>
            </a:r>
            <a:r>
              <a:rPr lang="fr-FR" sz="2000" dirty="0" err="1">
                <a:latin typeface="Helvetica Neue Thin" charset="0"/>
                <a:ea typeface="Helvetica Neue Thin" charset="0"/>
                <a:cs typeface="Helvetica Neue Thin" charset="0"/>
              </a:rPr>
              <a:t>FActScore</a:t>
            </a:r>
            <a:r>
              <a:rPr lang="fr-FR" sz="2000" dirty="0">
                <a:latin typeface="Helvetica Neue Thin" charset="0"/>
                <a:ea typeface="Helvetica Neue Thin" charset="0"/>
                <a:cs typeface="Helvetica Neue Thin" charset="0"/>
              </a:rPr>
              <a:t>)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8AD40FB-A79D-2CD1-B225-EF1D7E0BD9A1}"/>
              </a:ext>
            </a:extLst>
          </p:cNvPr>
          <p:cNvSpPr txBox="1"/>
          <p:nvPr/>
        </p:nvSpPr>
        <p:spPr>
          <a:xfrm>
            <a:off x="839788" y="1525751"/>
            <a:ext cx="11125386" cy="9787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Our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evaluation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approach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must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examine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FR" sz="3200" u="none" strike="noStrike" dirty="0">
                <a:solidFill>
                  <a:schemeClr val="accent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how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human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simulations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behave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—and </a:t>
            </a:r>
            <a:r>
              <a:rPr lang="fr-FR" sz="3200" u="none" strike="noStrike" dirty="0" err="1">
                <a:solidFill>
                  <a:schemeClr val="accent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why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—in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comparison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to</a:t>
            </a:r>
            <a:r>
              <a:rPr lang="de-DE" sz="3200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real </a:t>
            </a:r>
            <a:r>
              <a:rPr lang="de-DE" sz="3200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humans</a:t>
            </a:r>
            <a:endParaRPr lang="fr-FR" sz="3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05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9" grpId="0"/>
      <p:bldP spid="20" grpId="0"/>
      <p:bldP spid="9" grpId="0" animBg="1"/>
      <p:bldP spid="10" grpId="0" animBg="1"/>
      <p:bldP spid="11" grpId="0" animBg="1"/>
      <p:bldP spid="3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13F41D1-79AC-CAC2-396D-2A333F0A595D}"/>
              </a:ext>
            </a:extLst>
          </p:cNvPr>
          <p:cNvSpPr txBox="1">
            <a:spLocks/>
          </p:cNvSpPr>
          <p:nvPr/>
        </p:nvSpPr>
        <p:spPr>
          <a:xfrm>
            <a:off x="839788" y="332601"/>
            <a:ext cx="1092412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0" i="0" kern="120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cs typeface="Segoe UI Light" panose="020B0502040204020203" pitchFamily="34" charset="0"/>
              </a:rPr>
              <a:t>Proposed</a:t>
            </a:r>
            <a:r>
              <a:rPr lang="fr-FR" dirty="0">
                <a:cs typeface="Segoe UI Light" panose="020B0502040204020203" pitchFamily="34" charset="0"/>
              </a:rPr>
              <a:t> Evaluation </a:t>
            </a:r>
            <a:r>
              <a:rPr lang="fr-FR" dirty="0" err="1">
                <a:cs typeface="Segoe UI Light" panose="020B0502040204020203" pitchFamily="34" charset="0"/>
              </a:rPr>
              <a:t>Approach</a:t>
            </a:r>
            <a:endParaRPr lang="fr-FR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B13BF5E4-8BC5-5FF8-65BC-2230BFB8AF61}"/>
              </a:ext>
            </a:extLst>
          </p:cNvPr>
          <p:cNvGrpSpPr/>
          <p:nvPr/>
        </p:nvGrpSpPr>
        <p:grpSpPr>
          <a:xfrm>
            <a:off x="839788" y="1390543"/>
            <a:ext cx="944566" cy="944566"/>
            <a:chOff x="3173014" y="2956717"/>
            <a:chExt cx="944566" cy="9445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AE8D693-AA44-4C81-4CB1-427AE007BD3C}"/>
                </a:ext>
              </a:extLst>
            </p:cNvPr>
            <p:cNvSpPr/>
            <p:nvPr/>
          </p:nvSpPr>
          <p:spPr>
            <a:xfrm>
              <a:off x="3290491" y="3074194"/>
              <a:ext cx="709612" cy="7096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796F511-0B0D-425A-80BF-1DE1492E2116}"/>
                </a:ext>
              </a:extLst>
            </p:cNvPr>
            <p:cNvSpPr/>
            <p:nvPr/>
          </p:nvSpPr>
          <p:spPr>
            <a:xfrm>
              <a:off x="3173014" y="2956717"/>
              <a:ext cx="944566" cy="944566"/>
            </a:xfrm>
            <a:prstGeom prst="ellipse">
              <a:avLst/>
            </a:prstGeom>
            <a:solidFill>
              <a:schemeClr val="bg1">
                <a:lumMod val="85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>
                  <a:solidFill>
                    <a:schemeClr val="tx1"/>
                  </a:solidFill>
                  <a:latin typeface="Helvetica Neue" panose="02000403000000020004" pitchFamily="50" charset="0"/>
                  <a:cs typeface="Segoe UI" panose="020B0502040204020203" pitchFamily="34" charset="0"/>
                </a:rPr>
                <a:t>1</a:t>
              </a:r>
            </a:p>
          </p:txBody>
        </p:sp>
      </p:grpSp>
      <p:sp>
        <p:nvSpPr>
          <p:cNvPr id="7" name="TextBox 98">
            <a:extLst>
              <a:ext uri="{FF2B5EF4-FFF2-40B4-BE49-F238E27FC236}">
                <a16:creationId xmlns:a16="http://schemas.microsoft.com/office/drawing/2014/main" id="{88DB487C-3216-7FA4-5B1F-3B02D2AF7D2F}"/>
              </a:ext>
            </a:extLst>
          </p:cNvPr>
          <p:cNvSpPr txBox="1"/>
          <p:nvPr/>
        </p:nvSpPr>
        <p:spPr>
          <a:xfrm>
            <a:off x="2088459" y="1516913"/>
            <a:ext cx="8903178" cy="400110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Extract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</a:t>
            </a:r>
            <a:r>
              <a:rPr lang="fr-FR" sz="2000" b="1" dirty="0" err="1">
                <a:solidFill>
                  <a:schemeClr val="accent2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reasoning</a:t>
            </a:r>
            <a:r>
              <a:rPr lang="fr-FR" sz="2000" b="1" dirty="0">
                <a:solidFill>
                  <a:schemeClr val="accent2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arguments 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(</a:t>
            </a:r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why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) &amp; </a:t>
            </a:r>
            <a:r>
              <a:rPr lang="fr-FR" sz="2000" b="1" dirty="0">
                <a:solidFill>
                  <a:schemeClr val="accent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conclusions 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(how)</a:t>
            </a:r>
            <a:r>
              <a:rPr lang="fr-FR" sz="2000" b="1" dirty="0">
                <a:solidFill>
                  <a:schemeClr val="accent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</a:t>
            </a:r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from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</a:t>
            </a:r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answers</a:t>
            </a:r>
            <a:r>
              <a:rPr lang="fr-FR" sz="2000" b="1" dirty="0">
                <a:solidFill>
                  <a:schemeClr val="accent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AEE697F-314C-B7FD-3002-61B11625389E}"/>
              </a:ext>
            </a:extLst>
          </p:cNvPr>
          <p:cNvSpPr/>
          <p:nvPr/>
        </p:nvSpPr>
        <p:spPr>
          <a:xfrm>
            <a:off x="2086022" y="2007144"/>
            <a:ext cx="8905615" cy="8239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tx1"/>
                </a:solidFill>
              </a:rPr>
              <a:t>Question</a:t>
            </a:r>
            <a:r>
              <a:rPr lang="en-US" sz="1600" b="1" noProof="0">
                <a:solidFill>
                  <a:schemeClr val="tx1"/>
                </a:solidFill>
              </a:rPr>
              <a:t>:</a:t>
            </a:r>
            <a:r>
              <a:rPr lang="en-US" sz="1600" noProof="0">
                <a:solidFill>
                  <a:schemeClr val="tx1"/>
                </a:solidFill>
              </a:rPr>
              <a:t> </a:t>
            </a:r>
            <a:r>
              <a:rPr lang="en-US" sz="1600" i="1" noProof="0">
                <a:solidFill>
                  <a:schemeClr val="tx1"/>
                </a:solidFill>
              </a:rPr>
              <a:t>Where do you typically purchase your personal care products and why?</a:t>
            </a:r>
          </a:p>
          <a:p>
            <a:endParaRPr lang="en-US" sz="1600" i="1" noProof="0">
              <a:solidFill>
                <a:schemeClr val="tx1"/>
              </a:solidFill>
            </a:endParaRPr>
          </a:p>
          <a:p>
            <a:r>
              <a:rPr lang="en-US" sz="1600" b="1" noProof="0">
                <a:solidFill>
                  <a:schemeClr val="tx1"/>
                </a:solidFill>
              </a:rPr>
              <a:t>Answer:</a:t>
            </a:r>
            <a:r>
              <a:rPr lang="en-US" sz="1600" noProof="0">
                <a:solidFill>
                  <a:schemeClr val="tx1"/>
                </a:solidFill>
              </a:rPr>
              <a:t> </a:t>
            </a:r>
            <a:r>
              <a:rPr lang="en-US" sz="1600" noProof="0">
                <a:solidFill>
                  <a:schemeClr val="accent2"/>
                </a:solidFill>
              </a:rPr>
              <a:t>To be efficient </a:t>
            </a:r>
            <a:r>
              <a:rPr lang="en-US" sz="1600" noProof="0">
                <a:solidFill>
                  <a:schemeClr val="tx1"/>
                </a:solidFill>
              </a:rPr>
              <a:t>and </a:t>
            </a:r>
            <a:r>
              <a:rPr lang="en-US" sz="1600" noProof="0">
                <a:solidFill>
                  <a:schemeClr val="accent2"/>
                </a:solidFill>
              </a:rPr>
              <a:t>for convenience</a:t>
            </a:r>
            <a:r>
              <a:rPr lang="en-US" sz="1600" noProof="0">
                <a:solidFill>
                  <a:schemeClr val="tx1"/>
                </a:solidFill>
              </a:rPr>
              <a:t>, I buy my personal care products at my </a:t>
            </a:r>
            <a:r>
              <a:rPr lang="en-US" sz="1600" noProof="0">
                <a:solidFill>
                  <a:schemeClr val="accent4"/>
                </a:solidFill>
              </a:rPr>
              <a:t>nearest supermarket</a:t>
            </a:r>
            <a:r>
              <a:rPr lang="en-US" sz="1600" noProof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9" name="Group 1">
            <a:extLst>
              <a:ext uri="{FF2B5EF4-FFF2-40B4-BE49-F238E27FC236}">
                <a16:creationId xmlns:a16="http://schemas.microsoft.com/office/drawing/2014/main" id="{4FB4BF29-81BE-97F9-F639-A06D4B633249}"/>
              </a:ext>
            </a:extLst>
          </p:cNvPr>
          <p:cNvGrpSpPr/>
          <p:nvPr/>
        </p:nvGrpSpPr>
        <p:grpSpPr>
          <a:xfrm>
            <a:off x="839788" y="2931676"/>
            <a:ext cx="944566" cy="944566"/>
            <a:chOff x="3173014" y="2956717"/>
            <a:chExt cx="944566" cy="94456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8B0F3E6-C06F-5DA7-03E0-9E9EBC0832D7}"/>
                </a:ext>
              </a:extLst>
            </p:cNvPr>
            <p:cNvSpPr/>
            <p:nvPr/>
          </p:nvSpPr>
          <p:spPr>
            <a:xfrm>
              <a:off x="3290491" y="3074194"/>
              <a:ext cx="709612" cy="7096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9F7D161-AA96-C524-5EB8-C5CD2AF64D93}"/>
                </a:ext>
              </a:extLst>
            </p:cNvPr>
            <p:cNvSpPr/>
            <p:nvPr/>
          </p:nvSpPr>
          <p:spPr>
            <a:xfrm>
              <a:off x="3173014" y="2956717"/>
              <a:ext cx="944566" cy="944566"/>
            </a:xfrm>
            <a:prstGeom prst="ellipse">
              <a:avLst/>
            </a:prstGeom>
            <a:solidFill>
              <a:schemeClr val="bg1">
                <a:lumMod val="85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>
                  <a:solidFill>
                    <a:schemeClr val="tx1"/>
                  </a:solidFill>
                  <a:latin typeface="Helvetica Neue" panose="02000403000000020004" pitchFamily="50" charset="0"/>
                  <a:cs typeface="Segoe UI" panose="020B0502040204020203" pitchFamily="34" charset="0"/>
                </a:rPr>
                <a:t>2</a:t>
              </a:r>
            </a:p>
          </p:txBody>
        </p:sp>
      </p:grpSp>
      <p:sp>
        <p:nvSpPr>
          <p:cNvPr id="12" name="TextBox 98">
            <a:extLst>
              <a:ext uri="{FF2B5EF4-FFF2-40B4-BE49-F238E27FC236}">
                <a16:creationId xmlns:a16="http://schemas.microsoft.com/office/drawing/2014/main" id="{8561EE44-29AA-DF91-272C-309E69734C8C}"/>
              </a:ext>
            </a:extLst>
          </p:cNvPr>
          <p:cNvSpPr txBox="1"/>
          <p:nvPr/>
        </p:nvSpPr>
        <p:spPr>
          <a:xfrm>
            <a:off x="2086022" y="3203904"/>
            <a:ext cx="9229933" cy="400110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Compare </a:t>
            </a:r>
            <a:r>
              <a:rPr lang="fr-FR" sz="2000" b="1" dirty="0" err="1">
                <a:solidFill>
                  <a:schemeClr val="accent2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reasoning</a:t>
            </a:r>
            <a:r>
              <a:rPr lang="fr-FR" sz="2000" b="1" dirty="0">
                <a:solidFill>
                  <a:schemeClr val="accent2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arguments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&amp; </a:t>
            </a:r>
            <a:r>
              <a:rPr lang="fr-FR" sz="2000" b="1" dirty="0">
                <a:solidFill>
                  <a:schemeClr val="accent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conclusions 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of </a:t>
            </a:r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simulated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and </a:t>
            </a:r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human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</a:t>
            </a:r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answers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31C7F39-427B-5AAF-74FD-791E77CD9E28}"/>
              </a:ext>
            </a:extLst>
          </p:cNvPr>
          <p:cNvSpPr/>
          <p:nvPr/>
        </p:nvSpPr>
        <p:spPr>
          <a:xfrm>
            <a:off x="2086022" y="3714369"/>
            <a:ext cx="2033915" cy="1089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accent2"/>
                </a:solidFill>
              </a:rPr>
              <a:t>Reasoning Arguments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efficiency</a:t>
            </a:r>
          </a:p>
          <a:p>
            <a:r>
              <a:rPr lang="en-US" sz="1600">
                <a:solidFill>
                  <a:schemeClr val="tx1"/>
                </a:solidFill>
              </a:rPr>
              <a:t>- convenience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…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72EA1F5-AD2E-449F-1C77-3CED8FA804E2}"/>
              </a:ext>
            </a:extLst>
          </p:cNvPr>
          <p:cNvSpPr/>
          <p:nvPr/>
        </p:nvSpPr>
        <p:spPr>
          <a:xfrm>
            <a:off x="4251436" y="3703026"/>
            <a:ext cx="2033915" cy="1089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accent2"/>
                </a:solidFill>
              </a:rPr>
              <a:t>Reasoning Arguments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discounts</a:t>
            </a:r>
          </a:p>
          <a:p>
            <a:r>
              <a:rPr lang="en-US" sz="1600">
                <a:solidFill>
                  <a:schemeClr val="tx1"/>
                </a:solidFill>
              </a:rPr>
              <a:t>- convenience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…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0858A266-5149-644A-F4D1-1C6C2B807952}"/>
              </a:ext>
            </a:extLst>
          </p:cNvPr>
          <p:cNvSpPr>
            <a:spLocks/>
          </p:cNvSpPr>
          <p:nvPr/>
        </p:nvSpPr>
        <p:spPr bwMode="auto">
          <a:xfrm>
            <a:off x="6416850" y="4043217"/>
            <a:ext cx="217306" cy="216000"/>
          </a:xfrm>
          <a:custGeom>
            <a:avLst/>
            <a:gdLst>
              <a:gd name="T0" fmla="*/ 4912 w 4912"/>
              <a:gd name="T1" fmla="*/ 285 h 4899"/>
              <a:gd name="T2" fmla="*/ 4627 w 4912"/>
              <a:gd name="T3" fmla="*/ 0 h 4899"/>
              <a:gd name="T4" fmla="*/ 2456 w 4912"/>
              <a:gd name="T5" fmla="*/ 2165 h 4899"/>
              <a:gd name="T6" fmla="*/ 285 w 4912"/>
              <a:gd name="T7" fmla="*/ 0 h 4899"/>
              <a:gd name="T8" fmla="*/ 0 w 4912"/>
              <a:gd name="T9" fmla="*/ 285 h 4899"/>
              <a:gd name="T10" fmla="*/ 2171 w 4912"/>
              <a:gd name="T11" fmla="*/ 2450 h 4899"/>
              <a:gd name="T12" fmla="*/ 0 w 4912"/>
              <a:gd name="T13" fmla="*/ 4614 h 4899"/>
              <a:gd name="T14" fmla="*/ 285 w 4912"/>
              <a:gd name="T15" fmla="*/ 4899 h 4899"/>
              <a:gd name="T16" fmla="*/ 2456 w 4912"/>
              <a:gd name="T17" fmla="*/ 2734 h 4899"/>
              <a:gd name="T18" fmla="*/ 4627 w 4912"/>
              <a:gd name="T19" fmla="*/ 4899 h 4899"/>
              <a:gd name="T20" fmla="*/ 4912 w 4912"/>
              <a:gd name="T21" fmla="*/ 4614 h 4899"/>
              <a:gd name="T22" fmla="*/ 2741 w 4912"/>
              <a:gd name="T23" fmla="*/ 2450 h 4899"/>
              <a:gd name="T24" fmla="*/ 4912 w 4912"/>
              <a:gd name="T25" fmla="*/ 285 h 4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12" h="4899">
                <a:moveTo>
                  <a:pt x="4912" y="285"/>
                </a:moveTo>
                <a:lnTo>
                  <a:pt x="4627" y="0"/>
                </a:lnTo>
                <a:lnTo>
                  <a:pt x="2456" y="2165"/>
                </a:lnTo>
                <a:lnTo>
                  <a:pt x="285" y="0"/>
                </a:lnTo>
                <a:lnTo>
                  <a:pt x="0" y="285"/>
                </a:lnTo>
                <a:lnTo>
                  <a:pt x="2171" y="2450"/>
                </a:lnTo>
                <a:lnTo>
                  <a:pt x="0" y="4614"/>
                </a:lnTo>
                <a:lnTo>
                  <a:pt x="285" y="4899"/>
                </a:lnTo>
                <a:lnTo>
                  <a:pt x="2456" y="2734"/>
                </a:lnTo>
                <a:lnTo>
                  <a:pt x="4627" y="4899"/>
                </a:lnTo>
                <a:lnTo>
                  <a:pt x="4912" y="4614"/>
                </a:lnTo>
                <a:lnTo>
                  <a:pt x="2741" y="2450"/>
                </a:lnTo>
                <a:lnTo>
                  <a:pt x="4912" y="2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16" name="Checkmark">
            <a:extLst>
              <a:ext uri="{FF2B5EF4-FFF2-40B4-BE49-F238E27FC236}">
                <a16:creationId xmlns:a16="http://schemas.microsoft.com/office/drawing/2014/main" id="{024AAA39-D599-CC08-754D-4F3837BD91EE}"/>
              </a:ext>
            </a:extLst>
          </p:cNvPr>
          <p:cNvSpPr>
            <a:spLocks noChangeAspect="1"/>
          </p:cNvSpPr>
          <p:nvPr/>
        </p:nvSpPr>
        <p:spPr bwMode="auto">
          <a:xfrm>
            <a:off x="6420748" y="4286947"/>
            <a:ext cx="239163" cy="180000"/>
          </a:xfrm>
          <a:custGeom>
            <a:avLst/>
            <a:gdLst>
              <a:gd name="T0" fmla="*/ 480 w 518"/>
              <a:gd name="T1" fmla="*/ 0 h 390"/>
              <a:gd name="T2" fmla="*/ 166 w 518"/>
              <a:gd name="T3" fmla="*/ 315 h 390"/>
              <a:gd name="T4" fmla="*/ 38 w 518"/>
              <a:gd name="T5" fmla="*/ 187 h 390"/>
              <a:gd name="T6" fmla="*/ 0 w 518"/>
              <a:gd name="T7" fmla="*/ 226 h 390"/>
              <a:gd name="T8" fmla="*/ 166 w 518"/>
              <a:gd name="T9" fmla="*/ 390 h 390"/>
              <a:gd name="T10" fmla="*/ 518 w 518"/>
              <a:gd name="T11" fmla="*/ 38 h 390"/>
              <a:gd name="T12" fmla="*/ 480 w 518"/>
              <a:gd name="T13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8" h="390">
                <a:moveTo>
                  <a:pt x="480" y="0"/>
                </a:moveTo>
                <a:lnTo>
                  <a:pt x="166" y="315"/>
                </a:lnTo>
                <a:lnTo>
                  <a:pt x="38" y="187"/>
                </a:lnTo>
                <a:lnTo>
                  <a:pt x="0" y="226"/>
                </a:lnTo>
                <a:lnTo>
                  <a:pt x="166" y="390"/>
                </a:lnTo>
                <a:lnTo>
                  <a:pt x="518" y="38"/>
                </a:lnTo>
                <a:lnTo>
                  <a:pt x="48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latin typeface="HelveticaNeue-UltraLight" panose="02000206000000020004" pitchFamily="50"/>
            </a:endParaRPr>
          </a:p>
        </p:txBody>
      </p:sp>
      <p:sp>
        <p:nvSpPr>
          <p:cNvPr id="17" name="TextBox 98">
            <a:extLst>
              <a:ext uri="{FF2B5EF4-FFF2-40B4-BE49-F238E27FC236}">
                <a16:creationId xmlns:a16="http://schemas.microsoft.com/office/drawing/2014/main" id="{6D4B8024-941F-6267-A0E7-F5CAAF0F7202}"/>
              </a:ext>
            </a:extLst>
          </p:cNvPr>
          <p:cNvSpPr txBox="1"/>
          <p:nvPr/>
        </p:nvSpPr>
        <p:spPr>
          <a:xfrm>
            <a:off x="6416850" y="4376947"/>
            <a:ext cx="405212" cy="400110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000">
                <a:latin typeface="Helvetica Neue Thin" charset="0"/>
                <a:ea typeface="Helvetica Neue Thin" charset="0"/>
                <a:cs typeface="Helvetica Neue Thin" charset="0"/>
              </a:rPr>
              <a:t>…</a:t>
            </a:r>
            <a:endParaRPr lang="fr-FR" sz="2000">
              <a:solidFill>
                <a:schemeClr val="accent4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89D077C-D0EF-84CB-D422-35D147521B59}"/>
              </a:ext>
            </a:extLst>
          </p:cNvPr>
          <p:cNvSpPr txBox="1"/>
          <p:nvPr/>
        </p:nvSpPr>
        <p:spPr>
          <a:xfrm>
            <a:off x="5705288" y="4304157"/>
            <a:ext cx="709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🤖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0FE3484-2850-8EA0-ABDB-730185427752}"/>
              </a:ext>
            </a:extLst>
          </p:cNvPr>
          <p:cNvSpPr txBox="1"/>
          <p:nvPr/>
        </p:nvSpPr>
        <p:spPr>
          <a:xfrm>
            <a:off x="3491399" y="4310618"/>
            <a:ext cx="709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👤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A07436F-99D6-C968-9E95-D77A2546D9C0}"/>
              </a:ext>
            </a:extLst>
          </p:cNvPr>
          <p:cNvSpPr/>
          <p:nvPr/>
        </p:nvSpPr>
        <p:spPr>
          <a:xfrm>
            <a:off x="7116626" y="3725712"/>
            <a:ext cx="2033915" cy="1089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accent4"/>
                </a:solidFill>
              </a:rPr>
              <a:t>Conclusions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online</a:t>
            </a:r>
          </a:p>
          <a:p>
            <a:r>
              <a:rPr lang="en-US" sz="1600">
                <a:solidFill>
                  <a:schemeClr val="tx1"/>
                </a:solidFill>
              </a:rPr>
              <a:t>- physical store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…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0193503-CEB2-0837-ED2C-E7E4840486E4}"/>
              </a:ext>
            </a:extLst>
          </p:cNvPr>
          <p:cNvSpPr/>
          <p:nvPr/>
        </p:nvSpPr>
        <p:spPr>
          <a:xfrm>
            <a:off x="9282040" y="3714369"/>
            <a:ext cx="2033915" cy="1089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accent4"/>
                </a:solidFill>
              </a:rPr>
              <a:t>Conclusions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online</a:t>
            </a:r>
          </a:p>
          <a:p>
            <a:r>
              <a:rPr lang="en-US" sz="1600">
                <a:solidFill>
                  <a:schemeClr val="tx1"/>
                </a:solidFill>
              </a:rPr>
              <a:t>- supermarket</a:t>
            </a:r>
          </a:p>
          <a:p>
            <a:r>
              <a:rPr lang="en-US" sz="1600" noProof="0">
                <a:solidFill>
                  <a:schemeClr val="tx1"/>
                </a:solidFill>
              </a:rPr>
              <a:t>- …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3FB68698-15EA-F613-7087-83DF61CD4C2C}"/>
              </a:ext>
            </a:extLst>
          </p:cNvPr>
          <p:cNvSpPr>
            <a:spLocks/>
          </p:cNvSpPr>
          <p:nvPr/>
        </p:nvSpPr>
        <p:spPr bwMode="auto">
          <a:xfrm>
            <a:off x="11447454" y="4054560"/>
            <a:ext cx="217306" cy="216000"/>
          </a:xfrm>
          <a:custGeom>
            <a:avLst/>
            <a:gdLst>
              <a:gd name="T0" fmla="*/ 4912 w 4912"/>
              <a:gd name="T1" fmla="*/ 285 h 4899"/>
              <a:gd name="T2" fmla="*/ 4627 w 4912"/>
              <a:gd name="T3" fmla="*/ 0 h 4899"/>
              <a:gd name="T4" fmla="*/ 2456 w 4912"/>
              <a:gd name="T5" fmla="*/ 2165 h 4899"/>
              <a:gd name="T6" fmla="*/ 285 w 4912"/>
              <a:gd name="T7" fmla="*/ 0 h 4899"/>
              <a:gd name="T8" fmla="*/ 0 w 4912"/>
              <a:gd name="T9" fmla="*/ 285 h 4899"/>
              <a:gd name="T10" fmla="*/ 2171 w 4912"/>
              <a:gd name="T11" fmla="*/ 2450 h 4899"/>
              <a:gd name="T12" fmla="*/ 0 w 4912"/>
              <a:gd name="T13" fmla="*/ 4614 h 4899"/>
              <a:gd name="T14" fmla="*/ 285 w 4912"/>
              <a:gd name="T15" fmla="*/ 4899 h 4899"/>
              <a:gd name="T16" fmla="*/ 2456 w 4912"/>
              <a:gd name="T17" fmla="*/ 2734 h 4899"/>
              <a:gd name="T18" fmla="*/ 4627 w 4912"/>
              <a:gd name="T19" fmla="*/ 4899 h 4899"/>
              <a:gd name="T20" fmla="*/ 4912 w 4912"/>
              <a:gd name="T21" fmla="*/ 4614 h 4899"/>
              <a:gd name="T22" fmla="*/ 2741 w 4912"/>
              <a:gd name="T23" fmla="*/ 2450 h 4899"/>
              <a:gd name="T24" fmla="*/ 4912 w 4912"/>
              <a:gd name="T25" fmla="*/ 285 h 4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12" h="4899">
                <a:moveTo>
                  <a:pt x="4912" y="285"/>
                </a:moveTo>
                <a:lnTo>
                  <a:pt x="4627" y="0"/>
                </a:lnTo>
                <a:lnTo>
                  <a:pt x="2456" y="2165"/>
                </a:lnTo>
                <a:lnTo>
                  <a:pt x="285" y="0"/>
                </a:lnTo>
                <a:lnTo>
                  <a:pt x="0" y="285"/>
                </a:lnTo>
                <a:lnTo>
                  <a:pt x="2171" y="2450"/>
                </a:lnTo>
                <a:lnTo>
                  <a:pt x="0" y="4614"/>
                </a:lnTo>
                <a:lnTo>
                  <a:pt x="285" y="4899"/>
                </a:lnTo>
                <a:lnTo>
                  <a:pt x="2456" y="2734"/>
                </a:lnTo>
                <a:lnTo>
                  <a:pt x="4627" y="4899"/>
                </a:lnTo>
                <a:lnTo>
                  <a:pt x="4912" y="4614"/>
                </a:lnTo>
                <a:lnTo>
                  <a:pt x="2741" y="2450"/>
                </a:lnTo>
                <a:lnTo>
                  <a:pt x="4912" y="2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HelveticaNeue-UltraLight" panose="02000206000000020004" pitchFamily="50"/>
            </a:endParaRPr>
          </a:p>
        </p:txBody>
      </p:sp>
      <p:sp>
        <p:nvSpPr>
          <p:cNvPr id="23" name="Checkmark">
            <a:extLst>
              <a:ext uri="{FF2B5EF4-FFF2-40B4-BE49-F238E27FC236}">
                <a16:creationId xmlns:a16="http://schemas.microsoft.com/office/drawing/2014/main" id="{7AA339B3-F4AB-78FD-7B93-2133D047E512}"/>
              </a:ext>
            </a:extLst>
          </p:cNvPr>
          <p:cNvSpPr>
            <a:spLocks noChangeAspect="1"/>
          </p:cNvSpPr>
          <p:nvPr/>
        </p:nvSpPr>
        <p:spPr bwMode="auto">
          <a:xfrm>
            <a:off x="11451352" y="4298290"/>
            <a:ext cx="239163" cy="180000"/>
          </a:xfrm>
          <a:custGeom>
            <a:avLst/>
            <a:gdLst>
              <a:gd name="T0" fmla="*/ 480 w 518"/>
              <a:gd name="T1" fmla="*/ 0 h 390"/>
              <a:gd name="T2" fmla="*/ 166 w 518"/>
              <a:gd name="T3" fmla="*/ 315 h 390"/>
              <a:gd name="T4" fmla="*/ 38 w 518"/>
              <a:gd name="T5" fmla="*/ 187 h 390"/>
              <a:gd name="T6" fmla="*/ 0 w 518"/>
              <a:gd name="T7" fmla="*/ 226 h 390"/>
              <a:gd name="T8" fmla="*/ 166 w 518"/>
              <a:gd name="T9" fmla="*/ 390 h 390"/>
              <a:gd name="T10" fmla="*/ 518 w 518"/>
              <a:gd name="T11" fmla="*/ 38 h 390"/>
              <a:gd name="T12" fmla="*/ 480 w 518"/>
              <a:gd name="T13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8" h="390">
                <a:moveTo>
                  <a:pt x="480" y="0"/>
                </a:moveTo>
                <a:lnTo>
                  <a:pt x="166" y="315"/>
                </a:lnTo>
                <a:lnTo>
                  <a:pt x="38" y="187"/>
                </a:lnTo>
                <a:lnTo>
                  <a:pt x="0" y="226"/>
                </a:lnTo>
                <a:lnTo>
                  <a:pt x="166" y="390"/>
                </a:lnTo>
                <a:lnTo>
                  <a:pt x="518" y="38"/>
                </a:lnTo>
                <a:lnTo>
                  <a:pt x="48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latin typeface="HelveticaNeue-UltraLight" panose="02000206000000020004" pitchFamily="50"/>
            </a:endParaRPr>
          </a:p>
        </p:txBody>
      </p:sp>
      <p:sp>
        <p:nvSpPr>
          <p:cNvPr id="24" name="TextBox 98">
            <a:extLst>
              <a:ext uri="{FF2B5EF4-FFF2-40B4-BE49-F238E27FC236}">
                <a16:creationId xmlns:a16="http://schemas.microsoft.com/office/drawing/2014/main" id="{1F2960B0-5FE0-0626-51DA-36072E4F381B}"/>
              </a:ext>
            </a:extLst>
          </p:cNvPr>
          <p:cNvSpPr txBox="1"/>
          <p:nvPr/>
        </p:nvSpPr>
        <p:spPr>
          <a:xfrm>
            <a:off x="11447454" y="4388290"/>
            <a:ext cx="405212" cy="400110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000">
                <a:latin typeface="Helvetica Neue Thin" charset="0"/>
                <a:ea typeface="Helvetica Neue Thin" charset="0"/>
                <a:cs typeface="Helvetica Neue Thin" charset="0"/>
              </a:rPr>
              <a:t>…</a:t>
            </a:r>
            <a:endParaRPr lang="fr-FR" sz="2000">
              <a:solidFill>
                <a:schemeClr val="accent4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4969D80-68C1-ED35-8DD8-9A174A31E318}"/>
              </a:ext>
            </a:extLst>
          </p:cNvPr>
          <p:cNvSpPr txBox="1"/>
          <p:nvPr/>
        </p:nvSpPr>
        <p:spPr>
          <a:xfrm>
            <a:off x="10737841" y="4320901"/>
            <a:ext cx="709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🤖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4F366D2-51A9-C147-5B3D-1F0E9D1A26D4}"/>
              </a:ext>
            </a:extLst>
          </p:cNvPr>
          <p:cNvSpPr txBox="1"/>
          <p:nvPr/>
        </p:nvSpPr>
        <p:spPr>
          <a:xfrm>
            <a:off x="8523952" y="4327362"/>
            <a:ext cx="709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👤</a:t>
            </a:r>
          </a:p>
        </p:txBody>
      </p:sp>
      <p:grpSp>
        <p:nvGrpSpPr>
          <p:cNvPr id="32" name="Group 1">
            <a:extLst>
              <a:ext uri="{FF2B5EF4-FFF2-40B4-BE49-F238E27FC236}">
                <a16:creationId xmlns:a16="http://schemas.microsoft.com/office/drawing/2014/main" id="{167C84B7-3C09-A253-15CD-80E9DD80E80E}"/>
              </a:ext>
            </a:extLst>
          </p:cNvPr>
          <p:cNvGrpSpPr/>
          <p:nvPr/>
        </p:nvGrpSpPr>
        <p:grpSpPr>
          <a:xfrm>
            <a:off x="839788" y="4926358"/>
            <a:ext cx="944566" cy="944566"/>
            <a:chOff x="3173014" y="2956717"/>
            <a:chExt cx="944566" cy="94456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8433F86-5803-1B10-A99C-5A1A1FEEFB2E}"/>
                </a:ext>
              </a:extLst>
            </p:cNvPr>
            <p:cNvSpPr/>
            <p:nvPr/>
          </p:nvSpPr>
          <p:spPr>
            <a:xfrm>
              <a:off x="3290491" y="3074194"/>
              <a:ext cx="709612" cy="7096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A596C82-D6A9-CC75-968D-FF3246494B99}"/>
                </a:ext>
              </a:extLst>
            </p:cNvPr>
            <p:cNvSpPr/>
            <p:nvPr/>
          </p:nvSpPr>
          <p:spPr>
            <a:xfrm>
              <a:off x="3173014" y="2956717"/>
              <a:ext cx="944566" cy="944566"/>
            </a:xfrm>
            <a:prstGeom prst="ellipse">
              <a:avLst/>
            </a:prstGeom>
            <a:solidFill>
              <a:schemeClr val="bg1">
                <a:lumMod val="85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>
                  <a:solidFill>
                    <a:schemeClr val="tx1"/>
                  </a:solidFill>
                  <a:latin typeface="Helvetica Neue" panose="02000403000000020004" pitchFamily="50" charset="0"/>
                  <a:cs typeface="Segoe UI" panose="020B0502040204020203" pitchFamily="34" charset="0"/>
                </a:rPr>
                <a:t>3</a:t>
              </a:r>
            </a:p>
          </p:txBody>
        </p:sp>
      </p:grpSp>
      <p:sp>
        <p:nvSpPr>
          <p:cNvPr id="35" name="TextBox 98">
            <a:extLst>
              <a:ext uri="{FF2B5EF4-FFF2-40B4-BE49-F238E27FC236}">
                <a16:creationId xmlns:a16="http://schemas.microsoft.com/office/drawing/2014/main" id="{20E53CC1-A09B-070D-9A67-53B3A8CD8C75}"/>
              </a:ext>
            </a:extLst>
          </p:cNvPr>
          <p:cNvSpPr txBox="1"/>
          <p:nvPr/>
        </p:nvSpPr>
        <p:spPr>
          <a:xfrm>
            <a:off x="2086022" y="5161847"/>
            <a:ext cx="7194603" cy="400110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000" b="1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Compute</a:t>
            </a:r>
            <a:r>
              <a:rPr lang="fr-FR" sz="20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Thin" charset="0"/>
              </a:rPr>
              <a:t> Evaluation Scores</a:t>
            </a: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8F01C836-E479-035F-2AA0-4C594B1AA2EF}"/>
              </a:ext>
            </a:extLst>
          </p:cNvPr>
          <p:cNvSpPr txBox="1"/>
          <p:nvPr/>
        </p:nvSpPr>
        <p:spPr>
          <a:xfrm>
            <a:off x="2063982" y="5590749"/>
            <a:ext cx="4758080" cy="1056379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Average Argument </a:t>
            </a:r>
            <a:r>
              <a:rPr lang="de-DE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R</a:t>
            </a:r>
            <a:r>
              <a:rPr lang="de-DE" b="1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ecall (0-1)</a:t>
            </a:r>
          </a:p>
          <a:p>
            <a:pPr>
              <a:lnSpc>
                <a:spcPct val="120000"/>
              </a:lnSpc>
            </a:pPr>
            <a:r>
              <a:rPr lang="de-DE" sz="18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  <a:sym typeface="Wingdings" pitchFamily="2" charset="2"/>
              </a:rPr>
              <a:t></a:t>
            </a:r>
            <a:r>
              <a:rPr lang="de-DE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 Thin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How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many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of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the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human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arguments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are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included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in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the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simulated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arguments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?</a:t>
            </a:r>
            <a:endParaRPr lang="fr-FR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 Thin" charset="0"/>
            </a:endParaRP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1FA1927C-FC17-50C3-ADCA-DCE7B6B06823}"/>
              </a:ext>
            </a:extLst>
          </p:cNvPr>
          <p:cNvSpPr txBox="1"/>
          <p:nvPr/>
        </p:nvSpPr>
        <p:spPr>
          <a:xfrm>
            <a:off x="6730470" y="5575343"/>
            <a:ext cx="4758080" cy="106503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Average </a:t>
            </a:r>
            <a:r>
              <a:rPr lang="de-DE" b="1" u="none" strike="noStrike" dirty="0" err="1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Conclusion</a:t>
            </a:r>
            <a:r>
              <a:rPr lang="de-DE" b="1" u="none" strike="noStrike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Alignment (0-1)</a:t>
            </a:r>
          </a:p>
          <a:p>
            <a:pPr>
              <a:lnSpc>
                <a:spcPct val="120000"/>
              </a:lnSpc>
            </a:pPr>
            <a:r>
              <a:rPr lang="de-DE" sz="18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  <a:sym typeface="Wingdings" pitchFamily="2" charset="2"/>
              </a:rPr>
              <a:t></a:t>
            </a:r>
            <a:r>
              <a:rPr lang="de-DE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 Thin" charset="0"/>
              </a:rPr>
              <a:t> 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Do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simulated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and human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answers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reach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the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same </a:t>
            </a:r>
            <a:r>
              <a:rPr lang="de-DE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conclusion</a:t>
            </a:r>
            <a:r>
              <a:rPr lang="de-DE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?</a:t>
            </a:r>
            <a:endParaRPr lang="fr-FR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 Thin" charset="0"/>
            </a:endParaRPr>
          </a:p>
        </p:txBody>
      </p:sp>
      <p:cxnSp>
        <p:nvCxnSpPr>
          <p:cNvPr id="39" name="Gerade Verbindung 38">
            <a:extLst>
              <a:ext uri="{FF2B5EF4-FFF2-40B4-BE49-F238E27FC236}">
                <a16:creationId xmlns:a16="http://schemas.microsoft.com/office/drawing/2014/main" id="{3689B932-1E2F-C5A1-FB60-47F4399BED3C}"/>
              </a:ext>
            </a:extLst>
          </p:cNvPr>
          <p:cNvCxnSpPr>
            <a:cxnSpLocks/>
          </p:cNvCxnSpPr>
          <p:nvPr/>
        </p:nvCxnSpPr>
        <p:spPr>
          <a:xfrm>
            <a:off x="6634156" y="5661019"/>
            <a:ext cx="0" cy="1058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43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/>
      <p:bldP spid="30" grpId="0"/>
      <p:bldP spid="31" grpId="0"/>
      <p:bldP spid="35" grpId="0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13F41D1-79AC-CAC2-396D-2A333F0A595D}"/>
              </a:ext>
            </a:extLst>
          </p:cNvPr>
          <p:cNvSpPr txBox="1">
            <a:spLocks/>
          </p:cNvSpPr>
          <p:nvPr/>
        </p:nvSpPr>
        <p:spPr>
          <a:xfrm>
            <a:off x="839788" y="332601"/>
            <a:ext cx="1092412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0" i="0" kern="120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cs typeface="Segoe UI Light" panose="020B0502040204020203" pitchFamily="34" charset="0"/>
              </a:rPr>
              <a:t>Results</a:t>
            </a:r>
            <a:endParaRPr lang="fr-FR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9B376793-207E-BF63-C029-A01D52EDD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58" y="1034331"/>
            <a:ext cx="5776240" cy="3846328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D6F3B1F-FFC6-B417-5CA8-4B5AB364D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511" y="1034331"/>
            <a:ext cx="5776241" cy="3846328"/>
          </a:xfrm>
          <a:prstGeom prst="rect">
            <a:avLst/>
          </a:prstGeom>
        </p:spPr>
      </p:pic>
      <p:sp>
        <p:nvSpPr>
          <p:cNvPr id="40" name="TextBox 98">
            <a:extLst>
              <a:ext uri="{FF2B5EF4-FFF2-40B4-BE49-F238E27FC236}">
                <a16:creationId xmlns:a16="http://schemas.microsoft.com/office/drawing/2014/main" id="{92FD7B82-D4B4-8DED-1EA4-9AD7B447C8A1}"/>
              </a:ext>
            </a:extLst>
          </p:cNvPr>
          <p:cNvSpPr txBox="1"/>
          <p:nvPr/>
        </p:nvSpPr>
        <p:spPr>
          <a:xfrm>
            <a:off x="226859" y="4992671"/>
            <a:ext cx="5776240" cy="1631216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Similar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behaviors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are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observed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for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general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shopping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and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brand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preferences</a:t>
            </a:r>
            <a:endParaRPr lang="de-DE" sz="2000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Simulations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are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not well</a:t>
            </a:r>
            <a:r>
              <a:rPr lang="de-DE" sz="20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-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suited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to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replicate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the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personal and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detailed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product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preferences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of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real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people</a:t>
            </a:r>
            <a:endParaRPr lang="fr-FR" sz="20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 Thin" charset="0"/>
            </a:endParaRPr>
          </a:p>
        </p:txBody>
      </p: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FF7350D8-62FA-6371-E2A6-964D18AFC33A}"/>
              </a:ext>
            </a:extLst>
          </p:cNvPr>
          <p:cNvSpPr/>
          <p:nvPr/>
        </p:nvSpPr>
        <p:spPr>
          <a:xfrm>
            <a:off x="1243173" y="1849348"/>
            <a:ext cx="482885" cy="1366463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Abgerundetes Rechteck 41">
            <a:extLst>
              <a:ext uri="{FF2B5EF4-FFF2-40B4-BE49-F238E27FC236}">
                <a16:creationId xmlns:a16="http://schemas.microsoft.com/office/drawing/2014/main" id="{83712D43-B883-6A9A-10D8-210D99D9415D}"/>
              </a:ext>
            </a:extLst>
          </p:cNvPr>
          <p:cNvSpPr/>
          <p:nvPr/>
        </p:nvSpPr>
        <p:spPr>
          <a:xfrm>
            <a:off x="4271294" y="2690192"/>
            <a:ext cx="482885" cy="545498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CA6D3AEA-08D3-E736-73DF-D99F44551719}"/>
              </a:ext>
            </a:extLst>
          </p:cNvPr>
          <p:cNvSpPr/>
          <p:nvPr/>
        </p:nvSpPr>
        <p:spPr>
          <a:xfrm>
            <a:off x="7216996" y="2533959"/>
            <a:ext cx="482885" cy="701731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3AED653F-218B-496B-7A63-54D54FF431CA}"/>
              </a:ext>
            </a:extLst>
          </p:cNvPr>
          <p:cNvSpPr/>
          <p:nvPr/>
        </p:nvSpPr>
        <p:spPr>
          <a:xfrm>
            <a:off x="10234773" y="2133600"/>
            <a:ext cx="482885" cy="1102090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5" name="Group 2116">
            <a:extLst>
              <a:ext uri="{FF2B5EF4-FFF2-40B4-BE49-F238E27FC236}">
                <a16:creationId xmlns:a16="http://schemas.microsoft.com/office/drawing/2014/main" id="{5AC8C8F9-A387-D5B5-362F-A141B067EA9A}"/>
              </a:ext>
            </a:extLst>
          </p:cNvPr>
          <p:cNvGrpSpPr/>
          <p:nvPr/>
        </p:nvGrpSpPr>
        <p:grpSpPr>
          <a:xfrm>
            <a:off x="6301849" y="5270651"/>
            <a:ext cx="256150" cy="412922"/>
            <a:chOff x="2559103" y="7912111"/>
            <a:chExt cx="474666" cy="765176"/>
          </a:xfrm>
          <a:solidFill>
            <a:schemeClr val="accent1"/>
          </a:solidFill>
        </p:grpSpPr>
        <p:sp>
          <p:nvSpPr>
            <p:cNvPr id="46" name="Freeform 1083">
              <a:extLst>
                <a:ext uri="{FF2B5EF4-FFF2-40B4-BE49-F238E27FC236}">
                  <a16:creationId xmlns:a16="http://schemas.microsoft.com/office/drawing/2014/main" id="{3832EBE2-4977-FF45-CCBA-0048AA6FE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504" y="7915286"/>
              <a:ext cx="322265" cy="762001"/>
            </a:xfrm>
            <a:custGeom>
              <a:avLst/>
              <a:gdLst>
                <a:gd name="T0" fmla="*/ 4 w 101"/>
                <a:gd name="T1" fmla="*/ 240 h 240"/>
                <a:gd name="T2" fmla="*/ 2 w 101"/>
                <a:gd name="T3" fmla="*/ 239 h 240"/>
                <a:gd name="T4" fmla="*/ 1 w 101"/>
                <a:gd name="T5" fmla="*/ 234 h 240"/>
                <a:gd name="T6" fmla="*/ 91 w 101"/>
                <a:gd name="T7" fmla="*/ 105 h 240"/>
                <a:gd name="T8" fmla="*/ 47 w 101"/>
                <a:gd name="T9" fmla="*/ 105 h 240"/>
                <a:gd name="T10" fmla="*/ 39 w 101"/>
                <a:gd name="T11" fmla="*/ 101 h 240"/>
                <a:gd name="T12" fmla="*/ 36 w 101"/>
                <a:gd name="T13" fmla="*/ 92 h 240"/>
                <a:gd name="T14" fmla="*/ 53 w 101"/>
                <a:gd name="T15" fmla="*/ 3 h 240"/>
                <a:gd name="T16" fmla="*/ 58 w 101"/>
                <a:gd name="T17" fmla="*/ 0 h 240"/>
                <a:gd name="T18" fmla="*/ 61 w 101"/>
                <a:gd name="T19" fmla="*/ 5 h 240"/>
                <a:gd name="T20" fmla="*/ 44 w 101"/>
                <a:gd name="T21" fmla="*/ 94 h 240"/>
                <a:gd name="T22" fmla="*/ 45 w 101"/>
                <a:gd name="T23" fmla="*/ 96 h 240"/>
                <a:gd name="T24" fmla="*/ 47 w 101"/>
                <a:gd name="T25" fmla="*/ 97 h 240"/>
                <a:gd name="T26" fmla="*/ 91 w 101"/>
                <a:gd name="T27" fmla="*/ 97 h 240"/>
                <a:gd name="T28" fmla="*/ 99 w 101"/>
                <a:gd name="T29" fmla="*/ 101 h 240"/>
                <a:gd name="T30" fmla="*/ 98 w 101"/>
                <a:gd name="T31" fmla="*/ 109 h 240"/>
                <a:gd name="T32" fmla="*/ 7 w 101"/>
                <a:gd name="T33" fmla="*/ 238 h 240"/>
                <a:gd name="T34" fmla="*/ 4 w 101"/>
                <a:gd name="T3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1" h="240">
                  <a:moveTo>
                    <a:pt x="4" y="240"/>
                  </a:moveTo>
                  <a:cubicBezTo>
                    <a:pt x="3" y="240"/>
                    <a:pt x="3" y="240"/>
                    <a:pt x="2" y="239"/>
                  </a:cubicBezTo>
                  <a:cubicBezTo>
                    <a:pt x="0" y="238"/>
                    <a:pt x="0" y="235"/>
                    <a:pt x="1" y="234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47" y="105"/>
                    <a:pt x="47" y="105"/>
                    <a:pt x="47" y="105"/>
                  </a:cubicBezTo>
                  <a:cubicBezTo>
                    <a:pt x="44" y="105"/>
                    <a:pt x="41" y="104"/>
                    <a:pt x="39" y="101"/>
                  </a:cubicBezTo>
                  <a:cubicBezTo>
                    <a:pt x="37" y="99"/>
                    <a:pt x="36" y="96"/>
                    <a:pt x="36" y="92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4" y="1"/>
                    <a:pt x="56" y="0"/>
                    <a:pt x="58" y="0"/>
                  </a:cubicBezTo>
                  <a:cubicBezTo>
                    <a:pt x="60" y="1"/>
                    <a:pt x="62" y="3"/>
                    <a:pt x="61" y="5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44" y="95"/>
                    <a:pt x="44" y="96"/>
                    <a:pt x="45" y="96"/>
                  </a:cubicBezTo>
                  <a:cubicBezTo>
                    <a:pt x="45" y="97"/>
                    <a:pt x="46" y="97"/>
                    <a:pt x="47" y="97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93" y="97"/>
                    <a:pt x="97" y="97"/>
                    <a:pt x="99" y="101"/>
                  </a:cubicBezTo>
                  <a:cubicBezTo>
                    <a:pt x="101" y="103"/>
                    <a:pt x="100" y="106"/>
                    <a:pt x="98" y="109"/>
                  </a:cubicBezTo>
                  <a:cubicBezTo>
                    <a:pt x="7" y="238"/>
                    <a:pt x="7" y="238"/>
                    <a:pt x="7" y="238"/>
                  </a:cubicBezTo>
                  <a:cubicBezTo>
                    <a:pt x="7" y="239"/>
                    <a:pt x="5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47" name="Freeform 1084">
              <a:extLst>
                <a:ext uri="{FF2B5EF4-FFF2-40B4-BE49-F238E27FC236}">
                  <a16:creationId xmlns:a16="http://schemas.microsoft.com/office/drawing/2014/main" id="{FABAD07A-886A-4C86-95B6-577FF6628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103" y="7912111"/>
              <a:ext cx="349253" cy="765176"/>
            </a:xfrm>
            <a:custGeom>
              <a:avLst/>
              <a:gdLst>
                <a:gd name="T0" fmla="*/ 52 w 110"/>
                <a:gd name="T1" fmla="*/ 241 h 241"/>
                <a:gd name="T2" fmla="*/ 52 w 110"/>
                <a:gd name="T3" fmla="*/ 241 h 241"/>
                <a:gd name="T4" fmla="*/ 48 w 110"/>
                <a:gd name="T5" fmla="*/ 237 h 241"/>
                <a:gd name="T6" fmla="*/ 60 w 110"/>
                <a:gd name="T7" fmla="*/ 146 h 241"/>
                <a:gd name="T8" fmla="*/ 59 w 110"/>
                <a:gd name="T9" fmla="*/ 144 h 241"/>
                <a:gd name="T10" fmla="*/ 56 w 110"/>
                <a:gd name="T11" fmla="*/ 143 h 241"/>
                <a:gd name="T12" fmla="*/ 9 w 110"/>
                <a:gd name="T13" fmla="*/ 143 h 241"/>
                <a:gd name="T14" fmla="*/ 1 w 110"/>
                <a:gd name="T15" fmla="*/ 139 h 241"/>
                <a:gd name="T16" fmla="*/ 3 w 110"/>
                <a:gd name="T17" fmla="*/ 130 h 241"/>
                <a:gd name="T18" fmla="*/ 102 w 110"/>
                <a:gd name="T19" fmla="*/ 2 h 241"/>
                <a:gd name="T20" fmla="*/ 108 w 110"/>
                <a:gd name="T21" fmla="*/ 2 h 241"/>
                <a:gd name="T22" fmla="*/ 108 w 110"/>
                <a:gd name="T23" fmla="*/ 7 h 241"/>
                <a:gd name="T24" fmla="*/ 9 w 110"/>
                <a:gd name="T25" fmla="*/ 135 h 241"/>
                <a:gd name="T26" fmla="*/ 9 w 110"/>
                <a:gd name="T27" fmla="*/ 135 h 241"/>
                <a:gd name="T28" fmla="*/ 9 w 110"/>
                <a:gd name="T29" fmla="*/ 135 h 241"/>
                <a:gd name="T30" fmla="*/ 56 w 110"/>
                <a:gd name="T31" fmla="*/ 135 h 241"/>
                <a:gd name="T32" fmla="*/ 65 w 110"/>
                <a:gd name="T33" fmla="*/ 139 h 241"/>
                <a:gd name="T34" fmla="*/ 68 w 110"/>
                <a:gd name="T35" fmla="*/ 147 h 241"/>
                <a:gd name="T36" fmla="*/ 56 w 110"/>
                <a:gd name="T37" fmla="*/ 238 h 241"/>
                <a:gd name="T38" fmla="*/ 52 w 110"/>
                <a:gd name="T39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" h="241">
                  <a:moveTo>
                    <a:pt x="52" y="241"/>
                  </a:moveTo>
                  <a:cubicBezTo>
                    <a:pt x="52" y="241"/>
                    <a:pt x="52" y="241"/>
                    <a:pt x="52" y="241"/>
                  </a:cubicBezTo>
                  <a:cubicBezTo>
                    <a:pt x="49" y="241"/>
                    <a:pt x="48" y="239"/>
                    <a:pt x="48" y="237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60" y="145"/>
                    <a:pt x="60" y="145"/>
                    <a:pt x="59" y="144"/>
                  </a:cubicBezTo>
                  <a:cubicBezTo>
                    <a:pt x="59" y="144"/>
                    <a:pt x="58" y="143"/>
                    <a:pt x="56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5" y="143"/>
                    <a:pt x="2" y="142"/>
                    <a:pt x="1" y="139"/>
                  </a:cubicBezTo>
                  <a:cubicBezTo>
                    <a:pt x="0" y="136"/>
                    <a:pt x="0" y="133"/>
                    <a:pt x="3" y="130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103" y="1"/>
                    <a:pt x="106" y="0"/>
                    <a:pt x="108" y="2"/>
                  </a:cubicBezTo>
                  <a:cubicBezTo>
                    <a:pt x="109" y="3"/>
                    <a:pt x="110" y="6"/>
                    <a:pt x="108" y="7"/>
                  </a:cubicBezTo>
                  <a:cubicBezTo>
                    <a:pt x="9" y="135"/>
                    <a:pt x="9" y="135"/>
                    <a:pt x="9" y="135"/>
                  </a:cubicBezTo>
                  <a:cubicBezTo>
                    <a:pt x="9" y="135"/>
                    <a:pt x="9" y="135"/>
                    <a:pt x="9" y="135"/>
                  </a:cubicBezTo>
                  <a:cubicBezTo>
                    <a:pt x="9" y="135"/>
                    <a:pt x="9" y="135"/>
                    <a:pt x="9" y="135"/>
                  </a:cubicBezTo>
                  <a:cubicBezTo>
                    <a:pt x="56" y="135"/>
                    <a:pt x="56" y="135"/>
                    <a:pt x="56" y="135"/>
                  </a:cubicBezTo>
                  <a:cubicBezTo>
                    <a:pt x="60" y="135"/>
                    <a:pt x="63" y="137"/>
                    <a:pt x="65" y="139"/>
                  </a:cubicBezTo>
                  <a:cubicBezTo>
                    <a:pt x="67" y="141"/>
                    <a:pt x="68" y="144"/>
                    <a:pt x="68" y="147"/>
                  </a:cubicBezTo>
                  <a:cubicBezTo>
                    <a:pt x="56" y="238"/>
                    <a:pt x="56" y="238"/>
                    <a:pt x="56" y="238"/>
                  </a:cubicBezTo>
                  <a:cubicBezTo>
                    <a:pt x="56" y="240"/>
                    <a:pt x="54" y="241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sp>
        <p:nvSpPr>
          <p:cNvPr id="48" name="TextBox 98">
            <a:extLst>
              <a:ext uri="{FF2B5EF4-FFF2-40B4-BE49-F238E27FC236}">
                <a16:creationId xmlns:a16="http://schemas.microsoft.com/office/drawing/2014/main" id="{E3D5C57A-3516-EA74-7807-A3A5AC2C5688}"/>
              </a:ext>
            </a:extLst>
          </p:cNvPr>
          <p:cNvSpPr txBox="1"/>
          <p:nvPr/>
        </p:nvSpPr>
        <p:spPr>
          <a:xfrm>
            <a:off x="6634504" y="5195312"/>
            <a:ext cx="5442168" cy="1015663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Humans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and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simulations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might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give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the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same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answer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conclusion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for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different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reasons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,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meaning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their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thinking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isn’t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always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0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aligned</a:t>
            </a:r>
            <a:r>
              <a:rPr lang="de-DE" sz="20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.</a:t>
            </a:r>
            <a:endParaRPr lang="fr-FR" sz="20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 Th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70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13F41D1-79AC-CAC2-396D-2A333F0A595D}"/>
              </a:ext>
            </a:extLst>
          </p:cNvPr>
          <p:cNvSpPr txBox="1">
            <a:spLocks/>
          </p:cNvSpPr>
          <p:nvPr/>
        </p:nvSpPr>
        <p:spPr>
          <a:xfrm>
            <a:off x="839788" y="332601"/>
            <a:ext cx="1092412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0" i="0" kern="120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cs typeface="Segoe UI Light" panose="020B0502040204020203" pitchFamily="34" charset="0"/>
              </a:rPr>
              <a:t>Conclusion</a:t>
            </a:r>
            <a:endParaRPr lang="fr-FR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8C671DD5-992A-FA00-DDDB-89AAF2CF27C1}"/>
              </a:ext>
            </a:extLst>
          </p:cNvPr>
          <p:cNvSpPr txBox="1"/>
          <p:nvPr/>
        </p:nvSpPr>
        <p:spPr>
          <a:xfrm>
            <a:off x="1739448" y="2838009"/>
            <a:ext cx="6700096" cy="46166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Existing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evaluation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approaches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are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unsuitable</a:t>
            </a:r>
            <a:endParaRPr lang="fr-FR" sz="2400" dirty="0"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C88C3866-EA89-5DB5-4360-1456C3BE641C}"/>
              </a:ext>
            </a:extLst>
          </p:cNvPr>
          <p:cNvSpPr txBox="1"/>
          <p:nvPr/>
        </p:nvSpPr>
        <p:spPr>
          <a:xfrm>
            <a:off x="1734985" y="1552723"/>
            <a:ext cx="9412847" cy="830997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400" dirty="0" err="1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 Thin" charset="0"/>
              </a:rPr>
              <a:t>We</a:t>
            </a:r>
            <a:r>
              <a:rPr lang="fr-FR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 Thin" charset="0"/>
              </a:rPr>
              <a:t> must </a:t>
            </a:r>
            <a:r>
              <a:rPr lang="fr-FR" sz="2400" dirty="0" err="1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 Thin" charset="0"/>
              </a:rPr>
              <a:t>evaluate</a:t>
            </a:r>
            <a:r>
              <a:rPr lang="fr-FR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 Thin" charset="0"/>
              </a:rPr>
              <a:t> </a:t>
            </a:r>
            <a:r>
              <a:rPr lang="fr-FR" sz="2400" u="none" strike="noStrike" dirty="0">
                <a:solidFill>
                  <a:schemeClr val="accent1"/>
                </a:solidFill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how</a:t>
            </a:r>
            <a:r>
              <a:rPr lang="de-DE" sz="24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human </a:t>
            </a:r>
            <a:r>
              <a:rPr lang="de-DE" sz="24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simulations</a:t>
            </a:r>
            <a:r>
              <a:rPr lang="de-DE" sz="24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4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behave</a:t>
            </a:r>
            <a:r>
              <a:rPr lang="de-DE" sz="24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—and </a:t>
            </a:r>
            <a:r>
              <a:rPr lang="fr-FR" sz="2400" u="none" strike="noStrike" dirty="0" err="1">
                <a:solidFill>
                  <a:schemeClr val="accent1"/>
                </a:solidFill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why</a:t>
            </a:r>
            <a:r>
              <a:rPr lang="de-DE" sz="24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—in </a:t>
            </a:r>
            <a:r>
              <a:rPr lang="de-DE" sz="24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comparison</a:t>
            </a:r>
            <a:r>
              <a:rPr lang="de-DE" sz="24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de-DE" sz="24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to</a:t>
            </a:r>
            <a:r>
              <a:rPr lang="de-DE" sz="2400" u="none" strike="noStrike" dirty="0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real </a:t>
            </a:r>
            <a:r>
              <a:rPr lang="de-DE" sz="2400" u="none" strike="noStrike" dirty="0" err="1"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humans</a:t>
            </a:r>
            <a:endParaRPr lang="fr-FR" sz="24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 Thin" charset="0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91AD3E04-9923-3C95-45E7-C7FE51483005}"/>
              </a:ext>
            </a:extLst>
          </p:cNvPr>
          <p:cNvSpPr txBox="1"/>
          <p:nvPr/>
        </p:nvSpPr>
        <p:spPr>
          <a:xfrm>
            <a:off x="1734985" y="3753963"/>
            <a:ext cx="9833713" cy="46166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We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evaluate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answer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conclusions (</a:t>
            </a:r>
            <a:r>
              <a:rPr lang="fr-FR" sz="2400" u="none" strike="noStrike" dirty="0">
                <a:solidFill>
                  <a:schemeClr val="accent1"/>
                </a:solidFill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how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) and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reasoning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arguments (</a:t>
            </a:r>
            <a:r>
              <a:rPr lang="fr-FR" sz="2400" u="none" strike="noStrike" dirty="0" err="1">
                <a:solidFill>
                  <a:schemeClr val="accent1"/>
                </a:solidFill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why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) 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F6CB49F7-8BBD-0914-21E2-51D74E226E88}"/>
              </a:ext>
            </a:extLst>
          </p:cNvPr>
          <p:cNvSpPr txBox="1"/>
          <p:nvPr/>
        </p:nvSpPr>
        <p:spPr>
          <a:xfrm>
            <a:off x="1734985" y="4644544"/>
            <a:ext cx="9833713" cy="830997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Investigating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u="none" strike="noStrike" dirty="0" err="1">
                <a:solidFill>
                  <a:schemeClr val="accent1"/>
                </a:solidFill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both</a:t>
            </a:r>
            <a:r>
              <a:rPr lang="fr-FR" sz="2400" u="none" strike="noStrike" dirty="0">
                <a:solidFill>
                  <a:schemeClr val="accent1"/>
                </a:solidFill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provides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evidence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of how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accurately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simulations can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mimic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real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human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fr-FR" sz="2400" dirty="0" err="1">
                <a:latin typeface="Helvetica Neue Thin" charset="0"/>
                <a:ea typeface="Helvetica Neue Thin" charset="0"/>
                <a:cs typeface="Helvetica Neue Thin" charset="0"/>
              </a:rPr>
              <a:t>answers</a:t>
            </a:r>
            <a:r>
              <a:rPr lang="fr-FR" sz="2400" dirty="0"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</a:p>
        </p:txBody>
      </p:sp>
      <p:grpSp>
        <p:nvGrpSpPr>
          <p:cNvPr id="7" name="Group 2096">
            <a:extLst>
              <a:ext uri="{FF2B5EF4-FFF2-40B4-BE49-F238E27FC236}">
                <a16:creationId xmlns:a16="http://schemas.microsoft.com/office/drawing/2014/main" id="{E278E656-BD35-343B-B4A4-CC64D8E65F29}"/>
              </a:ext>
            </a:extLst>
          </p:cNvPr>
          <p:cNvGrpSpPr/>
          <p:nvPr/>
        </p:nvGrpSpPr>
        <p:grpSpPr>
          <a:xfrm>
            <a:off x="839788" y="1776050"/>
            <a:ext cx="556848" cy="412065"/>
            <a:chOff x="3692587" y="2316169"/>
            <a:chExt cx="1031882" cy="763588"/>
          </a:xfrm>
          <a:solidFill>
            <a:schemeClr val="accent1"/>
          </a:solidFill>
        </p:grpSpPr>
        <p:sp>
          <p:nvSpPr>
            <p:cNvPr id="8" name="Freeform 988">
              <a:extLst>
                <a:ext uri="{FF2B5EF4-FFF2-40B4-BE49-F238E27FC236}">
                  <a16:creationId xmlns:a16="http://schemas.microsoft.com/office/drawing/2014/main" id="{EFDF09A2-ED51-17AF-1930-8DDEAC50B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876" y="2822582"/>
              <a:ext cx="763593" cy="257175"/>
            </a:xfrm>
            <a:custGeom>
              <a:avLst/>
              <a:gdLst>
                <a:gd name="T0" fmla="*/ 228 w 240"/>
                <a:gd name="T1" fmla="*/ 81 h 81"/>
                <a:gd name="T2" fmla="*/ 12 w 240"/>
                <a:gd name="T3" fmla="*/ 81 h 81"/>
                <a:gd name="T4" fmla="*/ 0 w 240"/>
                <a:gd name="T5" fmla="*/ 69 h 81"/>
                <a:gd name="T6" fmla="*/ 0 w 240"/>
                <a:gd name="T7" fmla="*/ 53 h 81"/>
                <a:gd name="T8" fmla="*/ 2 w 240"/>
                <a:gd name="T9" fmla="*/ 49 h 81"/>
                <a:gd name="T10" fmla="*/ 90 w 240"/>
                <a:gd name="T11" fmla="*/ 1 h 81"/>
                <a:gd name="T12" fmla="*/ 96 w 240"/>
                <a:gd name="T13" fmla="*/ 3 h 81"/>
                <a:gd name="T14" fmla="*/ 94 w 240"/>
                <a:gd name="T15" fmla="*/ 9 h 81"/>
                <a:gd name="T16" fmla="*/ 8 w 240"/>
                <a:gd name="T17" fmla="*/ 55 h 81"/>
                <a:gd name="T18" fmla="*/ 8 w 240"/>
                <a:gd name="T19" fmla="*/ 69 h 81"/>
                <a:gd name="T20" fmla="*/ 12 w 240"/>
                <a:gd name="T21" fmla="*/ 73 h 81"/>
                <a:gd name="T22" fmla="*/ 228 w 240"/>
                <a:gd name="T23" fmla="*/ 73 h 81"/>
                <a:gd name="T24" fmla="*/ 232 w 240"/>
                <a:gd name="T25" fmla="*/ 69 h 81"/>
                <a:gd name="T26" fmla="*/ 232 w 240"/>
                <a:gd name="T27" fmla="*/ 55 h 81"/>
                <a:gd name="T28" fmla="*/ 146 w 240"/>
                <a:gd name="T29" fmla="*/ 8 h 81"/>
                <a:gd name="T30" fmla="*/ 145 w 240"/>
                <a:gd name="T31" fmla="*/ 3 h 81"/>
                <a:gd name="T32" fmla="*/ 150 w 240"/>
                <a:gd name="T33" fmla="*/ 1 h 81"/>
                <a:gd name="T34" fmla="*/ 238 w 240"/>
                <a:gd name="T35" fmla="*/ 49 h 81"/>
                <a:gd name="T36" fmla="*/ 240 w 240"/>
                <a:gd name="T37" fmla="*/ 53 h 81"/>
                <a:gd name="T38" fmla="*/ 240 w 240"/>
                <a:gd name="T39" fmla="*/ 69 h 81"/>
                <a:gd name="T40" fmla="*/ 228 w 240"/>
                <a:gd name="T41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0" h="81">
                  <a:moveTo>
                    <a:pt x="228" y="81"/>
                  </a:move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5" y="1"/>
                    <a:pt x="96" y="3"/>
                  </a:cubicBezTo>
                  <a:cubicBezTo>
                    <a:pt x="97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228" y="73"/>
                    <a:pt x="228" y="73"/>
                    <a:pt x="228" y="73"/>
                  </a:cubicBezTo>
                  <a:cubicBezTo>
                    <a:pt x="230" y="73"/>
                    <a:pt x="232" y="71"/>
                    <a:pt x="232" y="69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4" y="7"/>
                    <a:pt x="144" y="5"/>
                    <a:pt x="145" y="3"/>
                  </a:cubicBezTo>
                  <a:cubicBezTo>
                    <a:pt x="146" y="1"/>
                    <a:pt x="148" y="0"/>
                    <a:pt x="150" y="1"/>
                  </a:cubicBezTo>
                  <a:cubicBezTo>
                    <a:pt x="238" y="49"/>
                    <a:pt x="238" y="49"/>
                    <a:pt x="238" y="49"/>
                  </a:cubicBezTo>
                  <a:cubicBezTo>
                    <a:pt x="239" y="50"/>
                    <a:pt x="240" y="52"/>
                    <a:pt x="240" y="53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6"/>
                    <a:pt x="235" y="81"/>
                    <a:pt x="228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>
                <a:latin typeface="HelveticaNeue-UltraLight" panose="02000206000000020004" pitchFamily="50"/>
              </a:endParaRPr>
            </a:p>
          </p:txBody>
        </p:sp>
        <p:sp>
          <p:nvSpPr>
            <p:cNvPr id="9" name="Freeform 989">
              <a:extLst>
                <a:ext uri="{FF2B5EF4-FFF2-40B4-BE49-F238E27FC236}">
                  <a16:creationId xmlns:a16="http://schemas.microsoft.com/office/drawing/2014/main" id="{011DC91F-D94E-1F32-7CE5-8B6F5237C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78" y="2316169"/>
              <a:ext cx="407991" cy="538163"/>
            </a:xfrm>
            <a:custGeom>
              <a:avLst/>
              <a:gdLst>
                <a:gd name="T0" fmla="*/ 92 w 128"/>
                <a:gd name="T1" fmla="*/ 168 h 169"/>
                <a:gd name="T2" fmla="*/ 89 w 128"/>
                <a:gd name="T3" fmla="*/ 166 h 169"/>
                <a:gd name="T4" fmla="*/ 90 w 128"/>
                <a:gd name="T5" fmla="*/ 161 h 169"/>
                <a:gd name="T6" fmla="*/ 120 w 128"/>
                <a:gd name="T7" fmla="*/ 95 h 169"/>
                <a:gd name="T8" fmla="*/ 120 w 128"/>
                <a:gd name="T9" fmla="*/ 50 h 169"/>
                <a:gd name="T10" fmla="*/ 64 w 128"/>
                <a:gd name="T11" fmla="*/ 8 h 169"/>
                <a:gd name="T12" fmla="*/ 64 w 128"/>
                <a:gd name="T13" fmla="*/ 8 h 169"/>
                <a:gd name="T14" fmla="*/ 8 w 128"/>
                <a:gd name="T15" fmla="*/ 50 h 169"/>
                <a:gd name="T16" fmla="*/ 8 w 128"/>
                <a:gd name="T17" fmla="*/ 95 h 169"/>
                <a:gd name="T18" fmla="*/ 38 w 128"/>
                <a:gd name="T19" fmla="*/ 161 h 169"/>
                <a:gd name="T20" fmla="*/ 39 w 128"/>
                <a:gd name="T21" fmla="*/ 166 h 169"/>
                <a:gd name="T22" fmla="*/ 34 w 128"/>
                <a:gd name="T23" fmla="*/ 167 h 169"/>
                <a:gd name="T24" fmla="*/ 0 w 128"/>
                <a:gd name="T25" fmla="*/ 95 h 169"/>
                <a:gd name="T26" fmla="*/ 0 w 128"/>
                <a:gd name="T27" fmla="*/ 50 h 169"/>
                <a:gd name="T28" fmla="*/ 0 w 128"/>
                <a:gd name="T29" fmla="*/ 49 h 169"/>
                <a:gd name="T30" fmla="*/ 64 w 128"/>
                <a:gd name="T31" fmla="*/ 0 h 169"/>
                <a:gd name="T32" fmla="*/ 64 w 128"/>
                <a:gd name="T33" fmla="*/ 0 h 169"/>
                <a:gd name="T34" fmla="*/ 128 w 128"/>
                <a:gd name="T35" fmla="*/ 49 h 169"/>
                <a:gd name="T36" fmla="*/ 128 w 128"/>
                <a:gd name="T37" fmla="*/ 50 h 169"/>
                <a:gd name="T38" fmla="*/ 128 w 128"/>
                <a:gd name="T39" fmla="*/ 95 h 169"/>
                <a:gd name="T40" fmla="*/ 94 w 128"/>
                <a:gd name="T41" fmla="*/ 167 h 169"/>
                <a:gd name="T42" fmla="*/ 92 w 128"/>
                <a:gd name="T4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" h="169">
                  <a:moveTo>
                    <a:pt x="92" y="168"/>
                  </a:moveTo>
                  <a:cubicBezTo>
                    <a:pt x="91" y="168"/>
                    <a:pt x="90" y="167"/>
                    <a:pt x="89" y="166"/>
                  </a:cubicBezTo>
                  <a:cubicBezTo>
                    <a:pt x="88" y="164"/>
                    <a:pt x="88" y="162"/>
                    <a:pt x="90" y="161"/>
                  </a:cubicBezTo>
                  <a:cubicBezTo>
                    <a:pt x="120" y="143"/>
                    <a:pt x="120" y="96"/>
                    <a:pt x="120" y="95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16" y="25"/>
                    <a:pt x="87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9" y="142"/>
                    <a:pt x="38" y="161"/>
                  </a:cubicBezTo>
                  <a:cubicBezTo>
                    <a:pt x="40" y="162"/>
                    <a:pt x="41" y="164"/>
                    <a:pt x="39" y="166"/>
                  </a:cubicBezTo>
                  <a:cubicBezTo>
                    <a:pt x="38" y="168"/>
                    <a:pt x="36" y="169"/>
                    <a:pt x="34" y="167"/>
                  </a:cubicBezTo>
                  <a:cubicBezTo>
                    <a:pt x="1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1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0"/>
                    <a:pt x="124" y="25"/>
                    <a:pt x="128" y="49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7"/>
                    <a:pt x="128" y="147"/>
                    <a:pt x="94" y="167"/>
                  </a:cubicBezTo>
                  <a:cubicBezTo>
                    <a:pt x="94" y="168"/>
                    <a:pt x="93" y="168"/>
                    <a:pt x="92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0" name="Freeform 990">
              <a:extLst>
                <a:ext uri="{FF2B5EF4-FFF2-40B4-BE49-F238E27FC236}">
                  <a16:creationId xmlns:a16="http://schemas.microsoft.com/office/drawing/2014/main" id="{6829F7B3-E0F6-484F-D55B-A4451AD8D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587" y="2822582"/>
              <a:ext cx="306390" cy="257175"/>
            </a:xfrm>
            <a:custGeom>
              <a:avLst/>
              <a:gdLst>
                <a:gd name="T0" fmla="*/ 64 w 96"/>
                <a:gd name="T1" fmla="*/ 81 h 81"/>
                <a:gd name="T2" fmla="*/ 64 w 96"/>
                <a:gd name="T3" fmla="*/ 81 h 81"/>
                <a:gd name="T4" fmla="*/ 12 w 96"/>
                <a:gd name="T5" fmla="*/ 81 h 81"/>
                <a:gd name="T6" fmla="*/ 0 w 96"/>
                <a:gd name="T7" fmla="*/ 69 h 81"/>
                <a:gd name="T8" fmla="*/ 0 w 96"/>
                <a:gd name="T9" fmla="*/ 53 h 81"/>
                <a:gd name="T10" fmla="*/ 2 w 96"/>
                <a:gd name="T11" fmla="*/ 49 h 81"/>
                <a:gd name="T12" fmla="*/ 90 w 96"/>
                <a:gd name="T13" fmla="*/ 1 h 81"/>
                <a:gd name="T14" fmla="*/ 95 w 96"/>
                <a:gd name="T15" fmla="*/ 3 h 81"/>
                <a:gd name="T16" fmla="*/ 94 w 96"/>
                <a:gd name="T17" fmla="*/ 9 h 81"/>
                <a:gd name="T18" fmla="*/ 8 w 96"/>
                <a:gd name="T19" fmla="*/ 55 h 81"/>
                <a:gd name="T20" fmla="*/ 8 w 96"/>
                <a:gd name="T21" fmla="*/ 69 h 81"/>
                <a:gd name="T22" fmla="*/ 12 w 96"/>
                <a:gd name="T23" fmla="*/ 73 h 81"/>
                <a:gd name="T24" fmla="*/ 64 w 96"/>
                <a:gd name="T25" fmla="*/ 73 h 81"/>
                <a:gd name="T26" fmla="*/ 68 w 96"/>
                <a:gd name="T27" fmla="*/ 77 h 81"/>
                <a:gd name="T28" fmla="*/ 64 w 96"/>
                <a:gd name="T2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81">
                  <a:moveTo>
                    <a:pt x="64" y="81"/>
                  </a:moveTo>
                  <a:cubicBezTo>
                    <a:pt x="64" y="81"/>
                    <a:pt x="64" y="81"/>
                    <a:pt x="64" y="81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4" y="1"/>
                    <a:pt x="95" y="3"/>
                  </a:cubicBezTo>
                  <a:cubicBezTo>
                    <a:pt x="96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66" y="73"/>
                    <a:pt x="68" y="75"/>
                    <a:pt x="68" y="77"/>
                  </a:cubicBezTo>
                  <a:cubicBezTo>
                    <a:pt x="68" y="79"/>
                    <a:pt x="66" y="81"/>
                    <a:pt x="64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1" name="Freeform 991">
              <a:extLst>
                <a:ext uri="{FF2B5EF4-FFF2-40B4-BE49-F238E27FC236}">
                  <a16:creationId xmlns:a16="http://schemas.microsoft.com/office/drawing/2014/main" id="{9F51BDC1-2EA9-351E-FD57-AF40148FB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388" y="2316169"/>
              <a:ext cx="284165" cy="534988"/>
            </a:xfrm>
            <a:custGeom>
              <a:avLst/>
              <a:gdLst>
                <a:gd name="T0" fmla="*/ 36 w 89"/>
                <a:gd name="T1" fmla="*/ 168 h 168"/>
                <a:gd name="T2" fmla="*/ 34 w 89"/>
                <a:gd name="T3" fmla="*/ 167 h 168"/>
                <a:gd name="T4" fmla="*/ 0 w 89"/>
                <a:gd name="T5" fmla="*/ 95 h 168"/>
                <a:gd name="T6" fmla="*/ 0 w 89"/>
                <a:gd name="T7" fmla="*/ 50 h 168"/>
                <a:gd name="T8" fmla="*/ 0 w 89"/>
                <a:gd name="T9" fmla="*/ 49 h 168"/>
                <a:gd name="T10" fmla="*/ 64 w 89"/>
                <a:gd name="T11" fmla="*/ 0 h 168"/>
                <a:gd name="T12" fmla="*/ 64 w 89"/>
                <a:gd name="T13" fmla="*/ 0 h 168"/>
                <a:gd name="T14" fmla="*/ 85 w 89"/>
                <a:gd name="T15" fmla="*/ 4 h 168"/>
                <a:gd name="T16" fmla="*/ 88 w 89"/>
                <a:gd name="T17" fmla="*/ 9 h 168"/>
                <a:gd name="T18" fmla="*/ 83 w 89"/>
                <a:gd name="T19" fmla="*/ 11 h 168"/>
                <a:gd name="T20" fmla="*/ 64 w 89"/>
                <a:gd name="T21" fmla="*/ 8 h 168"/>
                <a:gd name="T22" fmla="*/ 64 w 89"/>
                <a:gd name="T23" fmla="*/ 8 h 168"/>
                <a:gd name="T24" fmla="*/ 8 w 89"/>
                <a:gd name="T25" fmla="*/ 50 h 168"/>
                <a:gd name="T26" fmla="*/ 8 w 89"/>
                <a:gd name="T27" fmla="*/ 95 h 168"/>
                <a:gd name="T28" fmla="*/ 38 w 89"/>
                <a:gd name="T29" fmla="*/ 161 h 168"/>
                <a:gd name="T30" fmla="*/ 39 w 89"/>
                <a:gd name="T31" fmla="*/ 166 h 168"/>
                <a:gd name="T32" fmla="*/ 36 w 89"/>
                <a:gd name="T3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68">
                  <a:moveTo>
                    <a:pt x="36" y="168"/>
                  </a:moveTo>
                  <a:cubicBezTo>
                    <a:pt x="35" y="168"/>
                    <a:pt x="34" y="168"/>
                    <a:pt x="34" y="167"/>
                  </a:cubicBezTo>
                  <a:cubicBezTo>
                    <a:pt x="0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0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1" y="0"/>
                    <a:pt x="78" y="1"/>
                    <a:pt x="85" y="4"/>
                  </a:cubicBezTo>
                  <a:cubicBezTo>
                    <a:pt x="88" y="5"/>
                    <a:pt x="89" y="7"/>
                    <a:pt x="88" y="9"/>
                  </a:cubicBezTo>
                  <a:cubicBezTo>
                    <a:pt x="87" y="11"/>
                    <a:pt x="85" y="12"/>
                    <a:pt x="83" y="11"/>
                  </a:cubicBezTo>
                  <a:cubicBezTo>
                    <a:pt x="77" y="9"/>
                    <a:pt x="70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8" y="142"/>
                    <a:pt x="38" y="161"/>
                  </a:cubicBezTo>
                  <a:cubicBezTo>
                    <a:pt x="40" y="162"/>
                    <a:pt x="40" y="164"/>
                    <a:pt x="39" y="166"/>
                  </a:cubicBezTo>
                  <a:cubicBezTo>
                    <a:pt x="38" y="167"/>
                    <a:pt x="37" y="168"/>
                    <a:pt x="36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grpSp>
        <p:nvGrpSpPr>
          <p:cNvPr id="12" name="Group 2311">
            <a:extLst>
              <a:ext uri="{FF2B5EF4-FFF2-40B4-BE49-F238E27FC236}">
                <a16:creationId xmlns:a16="http://schemas.microsoft.com/office/drawing/2014/main" id="{CC2B20CD-BAB4-2D01-3690-945E09731501}"/>
              </a:ext>
            </a:extLst>
          </p:cNvPr>
          <p:cNvGrpSpPr/>
          <p:nvPr/>
        </p:nvGrpSpPr>
        <p:grpSpPr>
          <a:xfrm>
            <a:off x="935737" y="2873720"/>
            <a:ext cx="412922" cy="412065"/>
            <a:chOff x="3579812" y="-368300"/>
            <a:chExt cx="765176" cy="763588"/>
          </a:xfrm>
          <a:solidFill>
            <a:schemeClr val="accent1"/>
          </a:solidFill>
        </p:grpSpPr>
        <p:sp>
          <p:nvSpPr>
            <p:cNvPr id="13" name="Freeform 813">
              <a:extLst>
                <a:ext uri="{FF2B5EF4-FFF2-40B4-BE49-F238E27FC236}">
                  <a16:creationId xmlns:a16="http://schemas.microsoft.com/office/drawing/2014/main" id="{E644D0DB-5879-5D3B-67D9-2EA49E31E2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9812" y="-368300"/>
              <a:ext cx="765176" cy="763588"/>
            </a:xfrm>
            <a:custGeom>
              <a:avLst/>
              <a:gdLst>
                <a:gd name="T0" fmla="*/ 120 w 240"/>
                <a:gd name="T1" fmla="*/ 240 h 240"/>
                <a:gd name="T2" fmla="*/ 0 w 240"/>
                <a:gd name="T3" fmla="*/ 120 h 240"/>
                <a:gd name="T4" fmla="*/ 120 w 240"/>
                <a:gd name="T5" fmla="*/ 0 h 240"/>
                <a:gd name="T6" fmla="*/ 240 w 240"/>
                <a:gd name="T7" fmla="*/ 120 h 240"/>
                <a:gd name="T8" fmla="*/ 120 w 240"/>
                <a:gd name="T9" fmla="*/ 240 h 240"/>
                <a:gd name="T10" fmla="*/ 120 w 240"/>
                <a:gd name="T11" fmla="*/ 8 h 240"/>
                <a:gd name="T12" fmla="*/ 8 w 240"/>
                <a:gd name="T13" fmla="*/ 120 h 240"/>
                <a:gd name="T14" fmla="*/ 120 w 240"/>
                <a:gd name="T15" fmla="*/ 232 h 240"/>
                <a:gd name="T16" fmla="*/ 232 w 240"/>
                <a:gd name="T17" fmla="*/ 120 h 240"/>
                <a:gd name="T18" fmla="*/ 120 w 240"/>
                <a:gd name="T19" fmla="*/ 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240">
                  <a:moveTo>
                    <a:pt x="120" y="240"/>
                  </a:moveTo>
                  <a:cubicBezTo>
                    <a:pt x="54" y="240"/>
                    <a:pt x="0" y="186"/>
                    <a:pt x="0" y="120"/>
                  </a:cubicBezTo>
                  <a:cubicBezTo>
                    <a:pt x="0" y="54"/>
                    <a:pt x="54" y="0"/>
                    <a:pt x="120" y="0"/>
                  </a:cubicBezTo>
                  <a:cubicBezTo>
                    <a:pt x="186" y="0"/>
                    <a:pt x="240" y="54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lose/>
                  <a:moveTo>
                    <a:pt x="120" y="8"/>
                  </a:moveTo>
                  <a:cubicBezTo>
                    <a:pt x="58" y="8"/>
                    <a:pt x="8" y="58"/>
                    <a:pt x="8" y="120"/>
                  </a:cubicBezTo>
                  <a:cubicBezTo>
                    <a:pt x="8" y="182"/>
                    <a:pt x="58" y="232"/>
                    <a:pt x="120" y="232"/>
                  </a:cubicBezTo>
                  <a:cubicBezTo>
                    <a:pt x="182" y="232"/>
                    <a:pt x="232" y="182"/>
                    <a:pt x="232" y="120"/>
                  </a:cubicBezTo>
                  <a:cubicBezTo>
                    <a:pt x="232" y="58"/>
                    <a:pt x="182" y="8"/>
                    <a:pt x="1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4" name="Freeform 814">
              <a:extLst>
                <a:ext uri="{FF2B5EF4-FFF2-40B4-BE49-F238E27FC236}">
                  <a16:creationId xmlns:a16="http://schemas.microsoft.com/office/drawing/2014/main" id="{8283391B-9109-5C71-82A2-A1D7888F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-127000"/>
              <a:ext cx="279400" cy="280988"/>
            </a:xfrm>
            <a:custGeom>
              <a:avLst/>
              <a:gdLst>
                <a:gd name="T0" fmla="*/ 84 w 88"/>
                <a:gd name="T1" fmla="*/ 88 h 88"/>
                <a:gd name="T2" fmla="*/ 81 w 88"/>
                <a:gd name="T3" fmla="*/ 87 h 88"/>
                <a:gd name="T4" fmla="*/ 1 w 88"/>
                <a:gd name="T5" fmla="*/ 7 h 88"/>
                <a:gd name="T6" fmla="*/ 1 w 88"/>
                <a:gd name="T7" fmla="*/ 1 h 88"/>
                <a:gd name="T8" fmla="*/ 7 w 88"/>
                <a:gd name="T9" fmla="*/ 1 h 88"/>
                <a:gd name="T10" fmla="*/ 87 w 88"/>
                <a:gd name="T11" fmla="*/ 81 h 88"/>
                <a:gd name="T12" fmla="*/ 87 w 88"/>
                <a:gd name="T13" fmla="*/ 87 h 88"/>
                <a:gd name="T14" fmla="*/ 84 w 88"/>
                <a:gd name="T1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88">
                  <a:moveTo>
                    <a:pt x="84" y="88"/>
                  </a:moveTo>
                  <a:cubicBezTo>
                    <a:pt x="83" y="88"/>
                    <a:pt x="82" y="88"/>
                    <a:pt x="81" y="8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3"/>
                    <a:pt x="1" y="1"/>
                  </a:cubicBezTo>
                  <a:cubicBezTo>
                    <a:pt x="3" y="0"/>
                    <a:pt x="5" y="0"/>
                    <a:pt x="7" y="1"/>
                  </a:cubicBezTo>
                  <a:cubicBezTo>
                    <a:pt x="87" y="81"/>
                    <a:pt x="87" y="81"/>
                    <a:pt x="87" y="81"/>
                  </a:cubicBezTo>
                  <a:cubicBezTo>
                    <a:pt x="88" y="83"/>
                    <a:pt x="88" y="85"/>
                    <a:pt x="87" y="87"/>
                  </a:cubicBezTo>
                  <a:cubicBezTo>
                    <a:pt x="86" y="88"/>
                    <a:pt x="85" y="88"/>
                    <a:pt x="8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5" name="Freeform 815">
              <a:extLst>
                <a:ext uri="{FF2B5EF4-FFF2-40B4-BE49-F238E27FC236}">
                  <a16:creationId xmlns:a16="http://schemas.microsoft.com/office/drawing/2014/main" id="{B3567370-816D-4AAD-EDDA-34DED5624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-127000"/>
              <a:ext cx="279400" cy="280988"/>
            </a:xfrm>
            <a:custGeom>
              <a:avLst/>
              <a:gdLst>
                <a:gd name="T0" fmla="*/ 4 w 88"/>
                <a:gd name="T1" fmla="*/ 88 h 88"/>
                <a:gd name="T2" fmla="*/ 1 w 88"/>
                <a:gd name="T3" fmla="*/ 87 h 88"/>
                <a:gd name="T4" fmla="*/ 1 w 88"/>
                <a:gd name="T5" fmla="*/ 81 h 88"/>
                <a:gd name="T6" fmla="*/ 81 w 88"/>
                <a:gd name="T7" fmla="*/ 1 h 88"/>
                <a:gd name="T8" fmla="*/ 87 w 88"/>
                <a:gd name="T9" fmla="*/ 1 h 88"/>
                <a:gd name="T10" fmla="*/ 87 w 88"/>
                <a:gd name="T11" fmla="*/ 7 h 88"/>
                <a:gd name="T12" fmla="*/ 7 w 88"/>
                <a:gd name="T13" fmla="*/ 87 h 88"/>
                <a:gd name="T14" fmla="*/ 4 w 88"/>
                <a:gd name="T1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88">
                  <a:moveTo>
                    <a:pt x="4" y="88"/>
                  </a:moveTo>
                  <a:cubicBezTo>
                    <a:pt x="3" y="88"/>
                    <a:pt x="2" y="88"/>
                    <a:pt x="1" y="87"/>
                  </a:cubicBezTo>
                  <a:cubicBezTo>
                    <a:pt x="0" y="85"/>
                    <a:pt x="0" y="83"/>
                    <a:pt x="1" y="81"/>
                  </a:cubicBezTo>
                  <a:cubicBezTo>
                    <a:pt x="81" y="1"/>
                    <a:pt x="81" y="1"/>
                    <a:pt x="81" y="1"/>
                  </a:cubicBezTo>
                  <a:cubicBezTo>
                    <a:pt x="83" y="0"/>
                    <a:pt x="85" y="0"/>
                    <a:pt x="87" y="1"/>
                  </a:cubicBezTo>
                  <a:cubicBezTo>
                    <a:pt x="88" y="3"/>
                    <a:pt x="88" y="5"/>
                    <a:pt x="87" y="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6" y="88"/>
                    <a:pt x="5" y="88"/>
                    <a:pt x="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grpSp>
        <p:nvGrpSpPr>
          <p:cNvPr id="16" name="Group 853">
            <a:extLst>
              <a:ext uri="{FF2B5EF4-FFF2-40B4-BE49-F238E27FC236}">
                <a16:creationId xmlns:a16="http://schemas.microsoft.com/office/drawing/2014/main" id="{2211D96D-A637-97E0-0321-DB0C268684CD}"/>
              </a:ext>
            </a:extLst>
          </p:cNvPr>
          <p:cNvGrpSpPr/>
          <p:nvPr/>
        </p:nvGrpSpPr>
        <p:grpSpPr>
          <a:xfrm>
            <a:off x="935737" y="3780233"/>
            <a:ext cx="399215" cy="411209"/>
            <a:chOff x="2640094" y="-225416"/>
            <a:chExt cx="739778" cy="762002"/>
          </a:xfrm>
          <a:solidFill>
            <a:schemeClr val="accent1"/>
          </a:solidFill>
        </p:grpSpPr>
        <p:sp>
          <p:nvSpPr>
            <p:cNvPr id="17" name="Freeform 1349">
              <a:extLst>
                <a:ext uri="{FF2B5EF4-FFF2-40B4-BE49-F238E27FC236}">
                  <a16:creationId xmlns:a16="http://schemas.microsoft.com/office/drawing/2014/main" id="{BA08C2A8-7019-73A7-EA74-A5F73C0755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0484" y="-225416"/>
              <a:ext cx="179388" cy="762001"/>
            </a:xfrm>
            <a:custGeom>
              <a:avLst/>
              <a:gdLst>
                <a:gd name="T0" fmla="*/ 52 w 56"/>
                <a:gd name="T1" fmla="*/ 240 h 240"/>
                <a:gd name="T2" fmla="*/ 4 w 56"/>
                <a:gd name="T3" fmla="*/ 240 h 240"/>
                <a:gd name="T4" fmla="*/ 0 w 56"/>
                <a:gd name="T5" fmla="*/ 236 h 240"/>
                <a:gd name="T6" fmla="*/ 0 w 56"/>
                <a:gd name="T7" fmla="*/ 4 h 240"/>
                <a:gd name="T8" fmla="*/ 4 w 56"/>
                <a:gd name="T9" fmla="*/ 0 h 240"/>
                <a:gd name="T10" fmla="*/ 52 w 56"/>
                <a:gd name="T11" fmla="*/ 0 h 240"/>
                <a:gd name="T12" fmla="*/ 56 w 56"/>
                <a:gd name="T13" fmla="*/ 4 h 240"/>
                <a:gd name="T14" fmla="*/ 56 w 56"/>
                <a:gd name="T15" fmla="*/ 236 h 240"/>
                <a:gd name="T16" fmla="*/ 52 w 56"/>
                <a:gd name="T17" fmla="*/ 240 h 240"/>
                <a:gd name="T18" fmla="*/ 8 w 56"/>
                <a:gd name="T19" fmla="*/ 232 h 240"/>
                <a:gd name="T20" fmla="*/ 48 w 56"/>
                <a:gd name="T21" fmla="*/ 232 h 240"/>
                <a:gd name="T22" fmla="*/ 48 w 56"/>
                <a:gd name="T23" fmla="*/ 8 h 240"/>
                <a:gd name="T24" fmla="*/ 8 w 56"/>
                <a:gd name="T25" fmla="*/ 8 h 240"/>
                <a:gd name="T26" fmla="*/ 8 w 56"/>
                <a:gd name="T27" fmla="*/ 232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0">
                  <a:moveTo>
                    <a:pt x="52" y="240"/>
                  </a:moveTo>
                  <a:cubicBezTo>
                    <a:pt x="4" y="240"/>
                    <a:pt x="4" y="240"/>
                    <a:pt x="4" y="240"/>
                  </a:cubicBez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236"/>
                    <a:pt x="56" y="236"/>
                    <a:pt x="56" y="236"/>
                  </a:cubicBezTo>
                  <a:cubicBezTo>
                    <a:pt x="56" y="238"/>
                    <a:pt x="54" y="240"/>
                    <a:pt x="52" y="240"/>
                  </a:cubicBezTo>
                  <a:close/>
                  <a:moveTo>
                    <a:pt x="8" y="232"/>
                  </a:moveTo>
                  <a:cubicBezTo>
                    <a:pt x="48" y="232"/>
                    <a:pt x="48" y="232"/>
                    <a:pt x="48" y="232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8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8" name="Freeform 1350">
              <a:extLst>
                <a:ext uri="{FF2B5EF4-FFF2-40B4-BE49-F238E27FC236}">
                  <a16:creationId xmlns:a16="http://schemas.microsoft.com/office/drawing/2014/main" id="{2C27BA38-23FB-570E-5C18-6D085AD4FA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1083" y="155585"/>
              <a:ext cx="177801" cy="381001"/>
            </a:xfrm>
            <a:custGeom>
              <a:avLst/>
              <a:gdLst>
                <a:gd name="T0" fmla="*/ 52 w 56"/>
                <a:gd name="T1" fmla="*/ 120 h 120"/>
                <a:gd name="T2" fmla="*/ 4 w 56"/>
                <a:gd name="T3" fmla="*/ 120 h 120"/>
                <a:gd name="T4" fmla="*/ 0 w 56"/>
                <a:gd name="T5" fmla="*/ 116 h 120"/>
                <a:gd name="T6" fmla="*/ 0 w 56"/>
                <a:gd name="T7" fmla="*/ 4 h 120"/>
                <a:gd name="T8" fmla="*/ 4 w 56"/>
                <a:gd name="T9" fmla="*/ 0 h 120"/>
                <a:gd name="T10" fmla="*/ 52 w 56"/>
                <a:gd name="T11" fmla="*/ 0 h 120"/>
                <a:gd name="T12" fmla="*/ 56 w 56"/>
                <a:gd name="T13" fmla="*/ 4 h 120"/>
                <a:gd name="T14" fmla="*/ 56 w 56"/>
                <a:gd name="T15" fmla="*/ 116 h 120"/>
                <a:gd name="T16" fmla="*/ 52 w 56"/>
                <a:gd name="T17" fmla="*/ 120 h 120"/>
                <a:gd name="T18" fmla="*/ 8 w 56"/>
                <a:gd name="T19" fmla="*/ 112 h 120"/>
                <a:gd name="T20" fmla="*/ 48 w 56"/>
                <a:gd name="T21" fmla="*/ 112 h 120"/>
                <a:gd name="T22" fmla="*/ 48 w 56"/>
                <a:gd name="T23" fmla="*/ 8 h 120"/>
                <a:gd name="T24" fmla="*/ 8 w 56"/>
                <a:gd name="T25" fmla="*/ 8 h 120"/>
                <a:gd name="T26" fmla="*/ 8 w 56"/>
                <a:gd name="T27" fmla="*/ 11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20">
                  <a:moveTo>
                    <a:pt x="52" y="120"/>
                  </a:moveTo>
                  <a:cubicBezTo>
                    <a:pt x="4" y="120"/>
                    <a:pt x="4" y="120"/>
                    <a:pt x="4" y="120"/>
                  </a:cubicBezTo>
                  <a:cubicBezTo>
                    <a:pt x="2" y="120"/>
                    <a:pt x="0" y="118"/>
                    <a:pt x="0" y="11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6" y="118"/>
                    <a:pt x="54" y="120"/>
                    <a:pt x="52" y="120"/>
                  </a:cubicBezTo>
                  <a:close/>
                  <a:moveTo>
                    <a:pt x="8" y="112"/>
                  </a:moveTo>
                  <a:cubicBezTo>
                    <a:pt x="48" y="112"/>
                    <a:pt x="48" y="112"/>
                    <a:pt x="48" y="112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8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19" name="Freeform 1351">
              <a:extLst>
                <a:ext uri="{FF2B5EF4-FFF2-40B4-BE49-F238E27FC236}">
                  <a16:creationId xmlns:a16="http://schemas.microsoft.com/office/drawing/2014/main" id="{379E25CB-D45B-FF2D-0FAD-C358DB7340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0094" y="28585"/>
              <a:ext cx="179388" cy="508001"/>
            </a:xfrm>
            <a:custGeom>
              <a:avLst/>
              <a:gdLst>
                <a:gd name="T0" fmla="*/ 52 w 56"/>
                <a:gd name="T1" fmla="*/ 160 h 160"/>
                <a:gd name="T2" fmla="*/ 4 w 56"/>
                <a:gd name="T3" fmla="*/ 160 h 160"/>
                <a:gd name="T4" fmla="*/ 0 w 56"/>
                <a:gd name="T5" fmla="*/ 156 h 160"/>
                <a:gd name="T6" fmla="*/ 0 w 56"/>
                <a:gd name="T7" fmla="*/ 4 h 160"/>
                <a:gd name="T8" fmla="*/ 4 w 56"/>
                <a:gd name="T9" fmla="*/ 0 h 160"/>
                <a:gd name="T10" fmla="*/ 52 w 56"/>
                <a:gd name="T11" fmla="*/ 0 h 160"/>
                <a:gd name="T12" fmla="*/ 56 w 56"/>
                <a:gd name="T13" fmla="*/ 4 h 160"/>
                <a:gd name="T14" fmla="*/ 56 w 56"/>
                <a:gd name="T15" fmla="*/ 156 h 160"/>
                <a:gd name="T16" fmla="*/ 52 w 56"/>
                <a:gd name="T17" fmla="*/ 160 h 160"/>
                <a:gd name="T18" fmla="*/ 8 w 56"/>
                <a:gd name="T19" fmla="*/ 152 h 160"/>
                <a:gd name="T20" fmla="*/ 48 w 56"/>
                <a:gd name="T21" fmla="*/ 152 h 160"/>
                <a:gd name="T22" fmla="*/ 48 w 56"/>
                <a:gd name="T23" fmla="*/ 8 h 160"/>
                <a:gd name="T24" fmla="*/ 8 w 56"/>
                <a:gd name="T25" fmla="*/ 8 h 160"/>
                <a:gd name="T26" fmla="*/ 8 w 56"/>
                <a:gd name="T27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60">
                  <a:moveTo>
                    <a:pt x="52" y="160"/>
                  </a:moveTo>
                  <a:cubicBezTo>
                    <a:pt x="4" y="160"/>
                    <a:pt x="4" y="160"/>
                    <a:pt x="4" y="160"/>
                  </a:cubicBezTo>
                  <a:cubicBezTo>
                    <a:pt x="2" y="160"/>
                    <a:pt x="0" y="158"/>
                    <a:pt x="0" y="15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156"/>
                    <a:pt x="56" y="156"/>
                    <a:pt x="56" y="156"/>
                  </a:cubicBezTo>
                  <a:cubicBezTo>
                    <a:pt x="56" y="158"/>
                    <a:pt x="54" y="160"/>
                    <a:pt x="52" y="160"/>
                  </a:cubicBezTo>
                  <a:close/>
                  <a:moveTo>
                    <a:pt x="8" y="152"/>
                  </a:moveTo>
                  <a:cubicBezTo>
                    <a:pt x="48" y="152"/>
                    <a:pt x="48" y="152"/>
                    <a:pt x="48" y="152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  <p:grpSp>
        <p:nvGrpSpPr>
          <p:cNvPr id="20" name="Group 849">
            <a:extLst>
              <a:ext uri="{FF2B5EF4-FFF2-40B4-BE49-F238E27FC236}">
                <a16:creationId xmlns:a16="http://schemas.microsoft.com/office/drawing/2014/main" id="{D5FA02F9-085F-5AB7-A4B9-95CCCA988F90}"/>
              </a:ext>
            </a:extLst>
          </p:cNvPr>
          <p:cNvGrpSpPr/>
          <p:nvPr/>
        </p:nvGrpSpPr>
        <p:grpSpPr>
          <a:xfrm>
            <a:off x="984139" y="4822959"/>
            <a:ext cx="261289" cy="398358"/>
            <a:chOff x="2768682" y="-1625593"/>
            <a:chExt cx="484189" cy="738188"/>
          </a:xfrm>
          <a:solidFill>
            <a:schemeClr val="accent1"/>
          </a:solidFill>
        </p:grpSpPr>
        <p:sp>
          <p:nvSpPr>
            <p:cNvPr id="21" name="Freeform 1330">
              <a:extLst>
                <a:ext uri="{FF2B5EF4-FFF2-40B4-BE49-F238E27FC236}">
                  <a16:creationId xmlns:a16="http://schemas.microsoft.com/office/drawing/2014/main" id="{8B5D6B58-2369-7520-711F-A425CE370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632" y="-1187442"/>
              <a:ext cx="47625" cy="84138"/>
            </a:xfrm>
            <a:custGeom>
              <a:avLst/>
              <a:gdLst>
                <a:gd name="T0" fmla="*/ 10 w 15"/>
                <a:gd name="T1" fmla="*/ 26 h 26"/>
                <a:gd name="T2" fmla="*/ 10 w 15"/>
                <a:gd name="T3" fmla="*/ 26 h 26"/>
                <a:gd name="T4" fmla="*/ 6 w 15"/>
                <a:gd name="T5" fmla="*/ 22 h 26"/>
                <a:gd name="T6" fmla="*/ 6 w 15"/>
                <a:gd name="T7" fmla="*/ 22 h 26"/>
                <a:gd name="T8" fmla="*/ 2 w 15"/>
                <a:gd name="T9" fmla="*/ 8 h 26"/>
                <a:gd name="T10" fmla="*/ 2 w 15"/>
                <a:gd name="T11" fmla="*/ 2 h 26"/>
                <a:gd name="T12" fmla="*/ 8 w 15"/>
                <a:gd name="T13" fmla="*/ 2 h 26"/>
                <a:gd name="T14" fmla="*/ 14 w 15"/>
                <a:gd name="T15" fmla="*/ 23 h 26"/>
                <a:gd name="T16" fmla="*/ 10 w 15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26"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7" y="26"/>
                    <a:pt x="6" y="24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19"/>
                    <a:pt x="6" y="11"/>
                    <a:pt x="2" y="8"/>
                  </a:cubicBezTo>
                  <a:cubicBezTo>
                    <a:pt x="0" y="6"/>
                    <a:pt x="0" y="4"/>
                    <a:pt x="2" y="2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5" y="9"/>
                    <a:pt x="14" y="22"/>
                    <a:pt x="14" y="23"/>
                  </a:cubicBezTo>
                  <a:cubicBezTo>
                    <a:pt x="14" y="25"/>
                    <a:pt x="12" y="26"/>
                    <a:pt x="10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2" name="Freeform 1331">
              <a:extLst>
                <a:ext uri="{FF2B5EF4-FFF2-40B4-BE49-F238E27FC236}">
                  <a16:creationId xmlns:a16="http://schemas.microsoft.com/office/drawing/2014/main" id="{55D1BE3E-53E8-A40A-CDE4-7E1D02F74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708" y="-1187442"/>
              <a:ext cx="47625" cy="84138"/>
            </a:xfrm>
            <a:custGeom>
              <a:avLst/>
              <a:gdLst>
                <a:gd name="T0" fmla="*/ 5 w 15"/>
                <a:gd name="T1" fmla="*/ 26 h 26"/>
                <a:gd name="T2" fmla="*/ 1 w 15"/>
                <a:gd name="T3" fmla="*/ 23 h 26"/>
                <a:gd name="T4" fmla="*/ 8 w 15"/>
                <a:gd name="T5" fmla="*/ 2 h 26"/>
                <a:gd name="T6" fmla="*/ 13 w 15"/>
                <a:gd name="T7" fmla="*/ 2 h 26"/>
                <a:gd name="T8" fmla="*/ 13 w 15"/>
                <a:gd name="T9" fmla="*/ 8 h 26"/>
                <a:gd name="T10" fmla="*/ 9 w 15"/>
                <a:gd name="T11" fmla="*/ 22 h 26"/>
                <a:gd name="T12" fmla="*/ 5 w 15"/>
                <a:gd name="T13" fmla="*/ 26 h 26"/>
                <a:gd name="T14" fmla="*/ 5 w 15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6">
                  <a:moveTo>
                    <a:pt x="5" y="26"/>
                  </a:moveTo>
                  <a:cubicBezTo>
                    <a:pt x="3" y="26"/>
                    <a:pt x="1" y="25"/>
                    <a:pt x="1" y="23"/>
                  </a:cubicBezTo>
                  <a:cubicBezTo>
                    <a:pt x="1" y="21"/>
                    <a:pt x="0" y="9"/>
                    <a:pt x="8" y="2"/>
                  </a:cubicBezTo>
                  <a:cubicBezTo>
                    <a:pt x="9" y="0"/>
                    <a:pt x="12" y="1"/>
                    <a:pt x="13" y="2"/>
                  </a:cubicBezTo>
                  <a:cubicBezTo>
                    <a:pt x="15" y="4"/>
                    <a:pt x="15" y="6"/>
                    <a:pt x="13" y="8"/>
                  </a:cubicBezTo>
                  <a:cubicBezTo>
                    <a:pt x="9" y="11"/>
                    <a:pt x="9" y="19"/>
                    <a:pt x="9" y="22"/>
                  </a:cubicBezTo>
                  <a:cubicBezTo>
                    <a:pt x="9" y="24"/>
                    <a:pt x="8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3" name="Freeform 1332">
              <a:extLst>
                <a:ext uri="{FF2B5EF4-FFF2-40B4-BE49-F238E27FC236}">
                  <a16:creationId xmlns:a16="http://schemas.microsoft.com/office/drawing/2014/main" id="{776DA592-9D16-D0C4-DF87-519A16C94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682" y="-1625593"/>
              <a:ext cx="254001" cy="468313"/>
            </a:xfrm>
            <a:custGeom>
              <a:avLst/>
              <a:gdLst>
                <a:gd name="T0" fmla="*/ 39 w 80"/>
                <a:gd name="T1" fmla="*/ 147 h 147"/>
                <a:gd name="T2" fmla="*/ 36 w 80"/>
                <a:gd name="T3" fmla="*/ 146 h 147"/>
                <a:gd name="T4" fmla="*/ 0 w 80"/>
                <a:gd name="T5" fmla="*/ 79 h 147"/>
                <a:gd name="T6" fmla="*/ 76 w 80"/>
                <a:gd name="T7" fmla="*/ 0 h 147"/>
                <a:gd name="T8" fmla="*/ 80 w 80"/>
                <a:gd name="T9" fmla="*/ 4 h 147"/>
                <a:gd name="T10" fmla="*/ 76 w 80"/>
                <a:gd name="T11" fmla="*/ 8 h 147"/>
                <a:gd name="T12" fmla="*/ 8 w 80"/>
                <a:gd name="T13" fmla="*/ 79 h 147"/>
                <a:gd name="T14" fmla="*/ 41 w 80"/>
                <a:gd name="T15" fmla="*/ 140 h 147"/>
                <a:gd name="T16" fmla="*/ 42 w 80"/>
                <a:gd name="T17" fmla="*/ 145 h 147"/>
                <a:gd name="T18" fmla="*/ 39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39" y="147"/>
                  </a:moveTo>
                  <a:cubicBezTo>
                    <a:pt x="38" y="147"/>
                    <a:pt x="37" y="147"/>
                    <a:pt x="36" y="146"/>
                  </a:cubicBezTo>
                  <a:cubicBezTo>
                    <a:pt x="13" y="128"/>
                    <a:pt x="0" y="105"/>
                    <a:pt x="0" y="79"/>
                  </a:cubicBezTo>
                  <a:cubicBezTo>
                    <a:pt x="0" y="35"/>
                    <a:pt x="34" y="0"/>
                    <a:pt x="76" y="0"/>
                  </a:cubicBezTo>
                  <a:cubicBezTo>
                    <a:pt x="78" y="0"/>
                    <a:pt x="80" y="2"/>
                    <a:pt x="80" y="4"/>
                  </a:cubicBezTo>
                  <a:cubicBezTo>
                    <a:pt x="80" y="6"/>
                    <a:pt x="78" y="8"/>
                    <a:pt x="76" y="8"/>
                  </a:cubicBezTo>
                  <a:cubicBezTo>
                    <a:pt x="39" y="8"/>
                    <a:pt x="8" y="40"/>
                    <a:pt x="8" y="79"/>
                  </a:cubicBezTo>
                  <a:cubicBezTo>
                    <a:pt x="8" y="109"/>
                    <a:pt x="26" y="128"/>
                    <a:pt x="41" y="140"/>
                  </a:cubicBezTo>
                  <a:cubicBezTo>
                    <a:pt x="43" y="141"/>
                    <a:pt x="43" y="143"/>
                    <a:pt x="42" y="145"/>
                  </a:cubicBezTo>
                  <a:cubicBezTo>
                    <a:pt x="41" y="146"/>
                    <a:pt x="40" y="147"/>
                    <a:pt x="39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4" name="Freeform 1333">
              <a:extLst>
                <a:ext uri="{FF2B5EF4-FFF2-40B4-BE49-F238E27FC236}">
                  <a16:creationId xmlns:a16="http://schemas.microsoft.com/office/drawing/2014/main" id="{866B37D7-82D4-F972-42D5-7034E032A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625593"/>
              <a:ext cx="255588" cy="468313"/>
            </a:xfrm>
            <a:custGeom>
              <a:avLst/>
              <a:gdLst>
                <a:gd name="T0" fmla="*/ 41 w 80"/>
                <a:gd name="T1" fmla="*/ 147 h 147"/>
                <a:gd name="T2" fmla="*/ 38 w 80"/>
                <a:gd name="T3" fmla="*/ 145 h 147"/>
                <a:gd name="T4" fmla="*/ 39 w 80"/>
                <a:gd name="T5" fmla="*/ 140 h 147"/>
                <a:gd name="T6" fmla="*/ 72 w 80"/>
                <a:gd name="T7" fmla="*/ 79 h 147"/>
                <a:gd name="T8" fmla="*/ 4 w 80"/>
                <a:gd name="T9" fmla="*/ 8 h 147"/>
                <a:gd name="T10" fmla="*/ 0 w 80"/>
                <a:gd name="T11" fmla="*/ 4 h 147"/>
                <a:gd name="T12" fmla="*/ 4 w 80"/>
                <a:gd name="T13" fmla="*/ 0 h 147"/>
                <a:gd name="T14" fmla="*/ 80 w 80"/>
                <a:gd name="T15" fmla="*/ 79 h 147"/>
                <a:gd name="T16" fmla="*/ 44 w 80"/>
                <a:gd name="T17" fmla="*/ 146 h 147"/>
                <a:gd name="T18" fmla="*/ 41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41" y="147"/>
                  </a:moveTo>
                  <a:cubicBezTo>
                    <a:pt x="40" y="147"/>
                    <a:pt x="39" y="146"/>
                    <a:pt x="38" y="145"/>
                  </a:cubicBezTo>
                  <a:cubicBezTo>
                    <a:pt x="37" y="143"/>
                    <a:pt x="37" y="141"/>
                    <a:pt x="39" y="140"/>
                  </a:cubicBezTo>
                  <a:cubicBezTo>
                    <a:pt x="54" y="128"/>
                    <a:pt x="72" y="109"/>
                    <a:pt x="72" y="79"/>
                  </a:cubicBezTo>
                  <a:cubicBezTo>
                    <a:pt x="72" y="40"/>
                    <a:pt x="41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6" y="0"/>
                    <a:pt x="80" y="35"/>
                    <a:pt x="80" y="79"/>
                  </a:cubicBezTo>
                  <a:cubicBezTo>
                    <a:pt x="80" y="105"/>
                    <a:pt x="67" y="128"/>
                    <a:pt x="44" y="146"/>
                  </a:cubicBezTo>
                  <a:cubicBezTo>
                    <a:pt x="43" y="147"/>
                    <a:pt x="42" y="147"/>
                    <a:pt x="41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5" name="Freeform 1334">
              <a:extLst>
                <a:ext uri="{FF2B5EF4-FFF2-40B4-BE49-F238E27FC236}">
                  <a16:creationId xmlns:a16="http://schemas.microsoft.com/office/drawing/2014/main" id="{DD1CF1C9-E69E-09DC-DD88-4D24A36F8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83" y="-1128705"/>
              <a:ext cx="127000" cy="241300"/>
            </a:xfrm>
            <a:custGeom>
              <a:avLst/>
              <a:gdLst>
                <a:gd name="T0" fmla="*/ 36 w 40"/>
                <a:gd name="T1" fmla="*/ 76 h 76"/>
                <a:gd name="T2" fmla="*/ 0 w 40"/>
                <a:gd name="T3" fmla="*/ 49 h 76"/>
                <a:gd name="T4" fmla="*/ 0 w 40"/>
                <a:gd name="T5" fmla="*/ 48 h 76"/>
                <a:gd name="T6" fmla="*/ 0 w 40"/>
                <a:gd name="T7" fmla="*/ 4 h 76"/>
                <a:gd name="T8" fmla="*/ 4 w 40"/>
                <a:gd name="T9" fmla="*/ 0 h 76"/>
                <a:gd name="T10" fmla="*/ 8 w 40"/>
                <a:gd name="T11" fmla="*/ 4 h 76"/>
                <a:gd name="T12" fmla="*/ 8 w 40"/>
                <a:gd name="T13" fmla="*/ 48 h 76"/>
                <a:gd name="T14" fmla="*/ 36 w 40"/>
                <a:gd name="T15" fmla="*/ 68 h 76"/>
                <a:gd name="T16" fmla="*/ 40 w 40"/>
                <a:gd name="T17" fmla="*/ 72 h 76"/>
                <a:gd name="T18" fmla="*/ 36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36" y="76"/>
                  </a:moveTo>
                  <a:cubicBezTo>
                    <a:pt x="5" y="76"/>
                    <a:pt x="0" y="49"/>
                    <a:pt x="0" y="49"/>
                  </a:cubicBezTo>
                  <a:cubicBezTo>
                    <a:pt x="0" y="49"/>
                    <a:pt x="0" y="49"/>
                    <a:pt x="0" y="4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13" y="68"/>
                    <a:pt x="36" y="68"/>
                  </a:cubicBezTo>
                  <a:cubicBezTo>
                    <a:pt x="38" y="68"/>
                    <a:pt x="40" y="70"/>
                    <a:pt x="40" y="72"/>
                  </a:cubicBezTo>
                  <a:cubicBezTo>
                    <a:pt x="40" y="74"/>
                    <a:pt x="38" y="76"/>
                    <a:pt x="3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6" name="Freeform 1335">
              <a:extLst>
                <a:ext uri="{FF2B5EF4-FFF2-40B4-BE49-F238E27FC236}">
                  <a16:creationId xmlns:a16="http://schemas.microsoft.com/office/drawing/2014/main" id="{35D89A39-0B78-F103-3536-B41F515D7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128705"/>
              <a:ext cx="127000" cy="241300"/>
            </a:xfrm>
            <a:custGeom>
              <a:avLst/>
              <a:gdLst>
                <a:gd name="T0" fmla="*/ 4 w 40"/>
                <a:gd name="T1" fmla="*/ 76 h 76"/>
                <a:gd name="T2" fmla="*/ 0 w 40"/>
                <a:gd name="T3" fmla="*/ 72 h 76"/>
                <a:gd name="T4" fmla="*/ 4 w 40"/>
                <a:gd name="T5" fmla="*/ 68 h 76"/>
                <a:gd name="T6" fmla="*/ 32 w 40"/>
                <a:gd name="T7" fmla="*/ 48 h 76"/>
                <a:gd name="T8" fmla="*/ 32 w 40"/>
                <a:gd name="T9" fmla="*/ 4 h 76"/>
                <a:gd name="T10" fmla="*/ 36 w 40"/>
                <a:gd name="T11" fmla="*/ 0 h 76"/>
                <a:gd name="T12" fmla="*/ 40 w 40"/>
                <a:gd name="T13" fmla="*/ 4 h 76"/>
                <a:gd name="T14" fmla="*/ 40 w 40"/>
                <a:gd name="T15" fmla="*/ 48 h 76"/>
                <a:gd name="T16" fmla="*/ 40 w 40"/>
                <a:gd name="T17" fmla="*/ 49 h 76"/>
                <a:gd name="T18" fmla="*/ 4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4" y="76"/>
                  </a:moveTo>
                  <a:cubicBezTo>
                    <a:pt x="2" y="76"/>
                    <a:pt x="0" y="74"/>
                    <a:pt x="0" y="72"/>
                  </a:cubicBezTo>
                  <a:cubicBezTo>
                    <a:pt x="0" y="70"/>
                    <a:pt x="2" y="68"/>
                    <a:pt x="4" y="68"/>
                  </a:cubicBezTo>
                  <a:cubicBezTo>
                    <a:pt x="27" y="68"/>
                    <a:pt x="32" y="51"/>
                    <a:pt x="32" y="48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4" y="0"/>
                    <a:pt x="36" y="0"/>
                  </a:cubicBezTo>
                  <a:cubicBezTo>
                    <a:pt x="38" y="0"/>
                    <a:pt x="40" y="2"/>
                    <a:pt x="40" y="4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35" y="76"/>
                    <a:pt x="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  <p:sp>
          <p:nvSpPr>
            <p:cNvPr id="27" name="Freeform 1336">
              <a:extLst>
                <a:ext uri="{FF2B5EF4-FFF2-40B4-BE49-F238E27FC236}">
                  <a16:creationId xmlns:a16="http://schemas.microsoft.com/office/drawing/2014/main" id="{F6E3AB15-9F54-3B4A-376D-F00EC5BF3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507" y="-1093780"/>
              <a:ext cx="234951" cy="57150"/>
            </a:xfrm>
            <a:custGeom>
              <a:avLst/>
              <a:gdLst>
                <a:gd name="T0" fmla="*/ 38 w 74"/>
                <a:gd name="T1" fmla="*/ 17 h 18"/>
                <a:gd name="T2" fmla="*/ 3 w 74"/>
                <a:gd name="T3" fmla="*/ 8 h 18"/>
                <a:gd name="T4" fmla="*/ 2 w 74"/>
                <a:gd name="T5" fmla="*/ 3 h 18"/>
                <a:gd name="T6" fmla="*/ 7 w 74"/>
                <a:gd name="T7" fmla="*/ 1 h 18"/>
                <a:gd name="T8" fmla="*/ 67 w 74"/>
                <a:gd name="T9" fmla="*/ 1 h 18"/>
                <a:gd name="T10" fmla="*/ 72 w 74"/>
                <a:gd name="T11" fmla="*/ 3 h 18"/>
                <a:gd name="T12" fmla="*/ 71 w 74"/>
                <a:gd name="T13" fmla="*/ 8 h 18"/>
                <a:gd name="T14" fmla="*/ 38 w 74"/>
                <a:gd name="T15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8">
                  <a:moveTo>
                    <a:pt x="38" y="17"/>
                  </a:moveTo>
                  <a:cubicBezTo>
                    <a:pt x="19" y="17"/>
                    <a:pt x="4" y="9"/>
                    <a:pt x="3" y="8"/>
                  </a:cubicBezTo>
                  <a:cubicBezTo>
                    <a:pt x="1" y="7"/>
                    <a:pt x="0" y="5"/>
                    <a:pt x="2" y="3"/>
                  </a:cubicBezTo>
                  <a:cubicBezTo>
                    <a:pt x="3" y="1"/>
                    <a:pt x="5" y="0"/>
                    <a:pt x="7" y="1"/>
                  </a:cubicBezTo>
                  <a:cubicBezTo>
                    <a:pt x="7" y="2"/>
                    <a:pt x="38" y="18"/>
                    <a:pt x="67" y="1"/>
                  </a:cubicBezTo>
                  <a:cubicBezTo>
                    <a:pt x="69" y="0"/>
                    <a:pt x="71" y="1"/>
                    <a:pt x="72" y="3"/>
                  </a:cubicBezTo>
                  <a:cubicBezTo>
                    <a:pt x="74" y="5"/>
                    <a:pt x="73" y="7"/>
                    <a:pt x="71" y="8"/>
                  </a:cubicBezTo>
                  <a:cubicBezTo>
                    <a:pt x="60" y="15"/>
                    <a:pt x="48" y="17"/>
                    <a:pt x="3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HelveticaNeue-UltraLight" panose="02000206000000020004" pitchFamily="5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940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F2CA349C-8E3C-9DDA-994C-888F38646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311868"/>
              </p:ext>
            </p:extLst>
          </p:nvPr>
        </p:nvGraphicFramePr>
        <p:xfrm>
          <a:off x="2437258" y="1695711"/>
          <a:ext cx="731748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287">
                  <a:extLst>
                    <a:ext uri="{9D8B030D-6E8A-4147-A177-3AD203B41FA5}">
                      <a16:colId xmlns:a16="http://schemas.microsoft.com/office/drawing/2014/main" val="2023828033"/>
                    </a:ext>
                  </a:extLst>
                </a:gridCol>
                <a:gridCol w="3372367">
                  <a:extLst>
                    <a:ext uri="{9D8B030D-6E8A-4147-A177-3AD203B41FA5}">
                      <a16:colId xmlns:a16="http://schemas.microsoft.com/office/drawing/2014/main" val="211760627"/>
                    </a:ext>
                  </a:extLst>
                </a:gridCol>
                <a:gridCol w="2691829">
                  <a:extLst>
                    <a:ext uri="{9D8B030D-6E8A-4147-A177-3AD203B41FA5}">
                      <a16:colId xmlns:a16="http://schemas.microsoft.com/office/drawing/2014/main" val="3313732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Participant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Average </a:t>
                      </a:r>
                      <a:r>
                        <a:rPr lang="de-DE" dirty="0" err="1"/>
                        <a:t>Conclusion</a:t>
                      </a:r>
                      <a:r>
                        <a:rPr lang="de-DE" dirty="0"/>
                        <a:t>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Average Argument 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25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c_human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15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g_human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4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s_human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264181"/>
                  </a:ext>
                </a:extLst>
              </a:tr>
            </a:tbl>
          </a:graphicData>
        </a:graphic>
      </p:graphicFrame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39C1142-C1ED-72BD-EC29-E0A827E72436}"/>
              </a:ext>
            </a:extLst>
          </p:cNvPr>
          <p:cNvSpPr txBox="1">
            <a:spLocks/>
          </p:cNvSpPr>
          <p:nvPr/>
        </p:nvSpPr>
        <p:spPr>
          <a:xfrm>
            <a:off x="839788" y="332601"/>
            <a:ext cx="10924122" cy="70173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0" i="0" kern="1200" baseline="0">
                <a:solidFill>
                  <a:schemeClr val="tx1"/>
                </a:solidFill>
                <a:latin typeface="Helvetica Neue Thin" charset="0"/>
                <a:ea typeface="Helvetica Neue Thin" charset="0"/>
                <a:cs typeface="Helvetica Neue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cs typeface="Segoe UI Light" panose="020B0502040204020203" pitchFamily="34" charset="0"/>
              </a:rPr>
              <a:t>Supplemental</a:t>
            </a:r>
            <a:endParaRPr lang="fr-FR" dirty="0">
              <a:cs typeface="Segoe UI Light" panose="020B0502040204020203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0D679DC-3375-9F72-A3E6-E95D8BCAA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242531"/>
              </p:ext>
            </p:extLst>
          </p:nvPr>
        </p:nvGraphicFramePr>
        <p:xfrm>
          <a:off x="1882453" y="3862893"/>
          <a:ext cx="842709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684">
                  <a:extLst>
                    <a:ext uri="{9D8B030D-6E8A-4147-A177-3AD203B41FA5}">
                      <a16:colId xmlns:a16="http://schemas.microsoft.com/office/drawing/2014/main" val="3029759495"/>
                    </a:ext>
                  </a:extLst>
                </a:gridCol>
                <a:gridCol w="3334146">
                  <a:extLst>
                    <a:ext uri="{9D8B030D-6E8A-4147-A177-3AD203B41FA5}">
                      <a16:colId xmlns:a16="http://schemas.microsoft.com/office/drawing/2014/main" val="2036702341"/>
                    </a:ext>
                  </a:extLst>
                </a:gridCol>
                <a:gridCol w="2619262">
                  <a:extLst>
                    <a:ext uri="{9D8B030D-6E8A-4147-A177-3AD203B41FA5}">
                      <a16:colId xmlns:a16="http://schemas.microsoft.com/office/drawing/2014/main" val="830616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Question </a:t>
                      </a:r>
                      <a:r>
                        <a:rPr lang="de-DE" dirty="0" err="1"/>
                        <a:t>Category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Average </a:t>
                      </a:r>
                      <a:r>
                        <a:rPr lang="de-DE" dirty="0" err="1"/>
                        <a:t>Conclusion</a:t>
                      </a:r>
                      <a:r>
                        <a:rPr lang="de-DE" dirty="0"/>
                        <a:t>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Average Argument 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1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Brand </a:t>
                      </a:r>
                      <a:r>
                        <a:rPr lang="de-DE" dirty="0" err="1"/>
                        <a:t>Loyalty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7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Product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Preferences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11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Shopping </a:t>
                      </a:r>
                      <a:r>
                        <a:rPr lang="de-DE" dirty="0" err="1"/>
                        <a:t>Behaviour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05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Influences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105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93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8">
      <a:dk1>
        <a:srgbClr val="565656"/>
      </a:dk1>
      <a:lt1>
        <a:sysClr val="window" lastClr="FFFFFF"/>
      </a:lt1>
      <a:dk2>
        <a:srgbClr val="44546A"/>
      </a:dk2>
      <a:lt2>
        <a:srgbClr val="E7E6E6"/>
      </a:lt2>
      <a:accent1>
        <a:srgbClr val="1ABC9C"/>
      </a:accent1>
      <a:accent2>
        <a:srgbClr val="3498DB"/>
      </a:accent2>
      <a:accent3>
        <a:srgbClr val="E95849"/>
      </a:accent3>
      <a:accent4>
        <a:srgbClr val="E67E22"/>
      </a:accent4>
      <a:accent5>
        <a:srgbClr val="34495E"/>
      </a:accent5>
      <a:accent6>
        <a:srgbClr val="9B59B6"/>
      </a:accent6>
      <a:hlink>
        <a:srgbClr val="00B0F0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rtlCol="0" anchor="t">
        <a:spAutoFit/>
      </a:bodyPr>
      <a:lstStyle>
        <a:defPPr>
          <a:lnSpc>
            <a:spcPct val="90000"/>
          </a:lnSpc>
          <a:defRPr sz="2000" smtClean="0">
            <a:latin typeface="Helvetica Neue Thin" charset="0"/>
            <a:ea typeface="Helvetica Neue Thin" charset="0"/>
            <a:cs typeface="Helvetica Neue Thin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FA520563873D4EB8CBD5344A351BEB" ma:contentTypeVersion="0" ma:contentTypeDescription="Crée un document." ma:contentTypeScope="" ma:versionID="005ce72954985de94fc750614f2007c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6883d0f3030e52908f9a4448a35c02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457E87-E546-449E-A4D1-371201992E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BF5EC3-CBCF-41C7-846F-A9B4B81CCEA8}">
  <ds:schemaRefs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F14EDAB-351E-4851-B148-260C81C296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Macintosh PowerPoint</Application>
  <PresentationFormat>Breitbild</PresentationFormat>
  <Paragraphs>91</Paragraphs>
  <Slides>7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6" baseType="lpstr">
      <vt:lpstr>Arial</vt:lpstr>
      <vt:lpstr>Calibri</vt:lpstr>
      <vt:lpstr>Helvetica Neue</vt:lpstr>
      <vt:lpstr>Helvetica Neue Light</vt:lpstr>
      <vt:lpstr>Helvetica Neue Light</vt:lpstr>
      <vt:lpstr>Helvetica Neue Thin</vt:lpstr>
      <vt:lpstr>Helvetica Neue UltraLight</vt:lpstr>
      <vt:lpstr>HelveticaNeue-UltraLight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Peetch by Slidor</dc:title>
  <dc:creator>Slidor</dc:creator>
  <cp:keywords>Slidor;Template;Peetch;PowerPoint</cp:keywords>
  <cp:lastModifiedBy>Tim Schopf</cp:lastModifiedBy>
  <cp:revision>196</cp:revision>
  <dcterms:created xsi:type="dcterms:W3CDTF">2015-10-12T10:51:44Z</dcterms:created>
  <dcterms:modified xsi:type="dcterms:W3CDTF">2026-02-05T09:13:08Z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0x01010005FA520563873D4EB8CBD5344A351BEB</vt:lpwstr>
  </property>
</Properties>
</file>